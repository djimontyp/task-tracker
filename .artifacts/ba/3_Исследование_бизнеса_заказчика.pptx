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31"/>
  </p:notesMasterIdLst>
  <p:sldIdLst>
    <p:sldId id="256" r:id="rId2"/>
    <p:sldId id="322" r:id="rId3"/>
    <p:sldId id="295" r:id="rId4"/>
    <p:sldId id="258" r:id="rId5"/>
    <p:sldId id="260" r:id="rId6"/>
    <p:sldId id="259" r:id="rId7"/>
    <p:sldId id="334" r:id="rId8"/>
    <p:sldId id="337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35" r:id="rId19"/>
    <p:sldId id="269" r:id="rId20"/>
    <p:sldId id="311" r:id="rId21"/>
    <p:sldId id="321" r:id="rId22"/>
    <p:sldId id="323" r:id="rId23"/>
    <p:sldId id="332" r:id="rId24"/>
    <p:sldId id="333" r:id="rId25"/>
    <p:sldId id="326" r:id="rId26"/>
    <p:sldId id="307" r:id="rId27"/>
    <p:sldId id="336" r:id="rId28"/>
    <p:sldId id="331" r:id="rId29"/>
    <p:sldId id="33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47"/>
    <p:restoredTop sz="94694"/>
  </p:normalViewPr>
  <p:slideViewPr>
    <p:cSldViewPr snapToGrid="0">
      <p:cViewPr varScale="1">
        <p:scale>
          <a:sx n="83" d="100"/>
          <a:sy n="83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7C5AB-19CD-4D78-9B33-51C230B8FF2E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8A7D7-4687-4193-A08B-6424B47C5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2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8A7D7-4687-4193-A08B-6424B47C58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8A7D7-4687-4193-A08B-6424B47C58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9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rgbClr val="0F79C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97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762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F79C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61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223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689464"/>
            <a:ext cx="4937760" cy="449362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689464"/>
            <a:ext cx="4937760" cy="449362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6861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5481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634584"/>
            <a:ext cx="4937760" cy="59068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none" baseline="0">
                <a:solidFill>
                  <a:srgbClr val="0F79C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312363"/>
            <a:ext cx="4937760" cy="388814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634584"/>
            <a:ext cx="4937760" cy="59068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none" baseline="0">
                <a:solidFill>
                  <a:srgbClr val="0F79C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312362"/>
            <a:ext cx="4937760" cy="388814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0414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12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9472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530532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94560"/>
            <a:ext cx="3200400" cy="411064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4487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0124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9565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423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65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698171"/>
            <a:ext cx="10058400" cy="445878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59785"/>
            <a:ext cx="7411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55497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30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eniusmarketing.me/lab/swot-analiz-5-glavnyx-pravil-kotoryx-stoit-priderzhivatsya/" TargetMode="External"/><Relationship Id="rId2" Type="http://schemas.openxmlformats.org/officeDocument/2006/relationships/hyperlink" Target="http://marketnotes.ru/about_marketing/canva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.base22.com/btg/template-vision-and-scope-document-20480031.html" TargetMode="External"/><Relationship Id="rId4" Type="http://schemas.openxmlformats.org/officeDocument/2006/relationships/hyperlink" Target="https://systems.education/context-diagr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4" y="2213361"/>
            <a:ext cx="9675928" cy="220481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Исследование бизнеса заказчика и </a:t>
            </a:r>
            <a:br>
              <a:rPr lang="ru-RU" dirty="0"/>
            </a:br>
            <a:r>
              <a:rPr lang="ru-RU" dirty="0"/>
              <a:t>анализ конкурентов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7478375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Начальный анализ деятельности заказчика, бизнес-процессов и конкурентов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бизнеса заказчика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Исследование бизнеса заказчика и его связь с проектом</a:t>
            </a:r>
          </a:p>
          <a:p>
            <a:pPr lvl="1"/>
            <a:r>
              <a:rPr lang="uk-UA" dirty="0"/>
              <a:t>Канва </a:t>
            </a:r>
            <a:r>
              <a:rPr lang="uk-UA" dirty="0" err="1"/>
              <a:t>бизнес-модели</a:t>
            </a:r>
            <a:endParaRPr lang="uk-UA" dirty="0"/>
          </a:p>
          <a:p>
            <a:pPr lvl="1"/>
            <a:r>
              <a:rPr lang="ru-RU" dirty="0"/>
              <a:t>Контекстная диаграмма</a:t>
            </a:r>
          </a:p>
          <a:p>
            <a:pPr lvl="1"/>
            <a:r>
              <a:rPr lang="ru-RU" dirty="0"/>
              <a:t>Карта экосистемы</a:t>
            </a:r>
          </a:p>
          <a:p>
            <a:r>
              <a:rPr lang="ru-RU" dirty="0"/>
              <a:t>Анализ конкурентов</a:t>
            </a:r>
          </a:p>
          <a:p>
            <a:pPr lvl="1"/>
            <a:r>
              <a:rPr lang="en-US" dirty="0"/>
              <a:t>SWOT</a:t>
            </a:r>
            <a:endParaRPr lang="ru-RU" dirty="0"/>
          </a:p>
          <a:p>
            <a:pPr lvl="1"/>
            <a:r>
              <a:rPr lang="ru-RU" dirty="0"/>
              <a:t>Анализ возможностей </a:t>
            </a:r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572C8-158B-4F62-8A03-7CABEA1F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Исследование бизнеса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08640-24C1-415C-9665-12E1221D4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794884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Что нужно знать о бизнесе заказчика до начала работы с требованиями к проектируемой системе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5431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нужно знать о бизнесе заказчика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ru-RU" dirty="0"/>
              <a:t>Целевая аудитория</a:t>
            </a:r>
          </a:p>
          <a:p>
            <a:pPr>
              <a:buFontTx/>
              <a:buChar char="-"/>
            </a:pPr>
            <a:r>
              <a:rPr lang="ru-RU" dirty="0"/>
              <a:t>Конкуренты</a:t>
            </a:r>
          </a:p>
          <a:p>
            <a:pPr>
              <a:buFontTx/>
              <a:buChar char="-"/>
            </a:pPr>
            <a:r>
              <a:rPr lang="ru-RU" dirty="0"/>
              <a:t>Специфика рынка</a:t>
            </a:r>
          </a:p>
          <a:p>
            <a:pPr>
              <a:buFontTx/>
              <a:buChar char="-"/>
            </a:pPr>
            <a:r>
              <a:rPr lang="ru-RU" dirty="0"/>
              <a:t>Законодательство / специфика стран, в которых будет выпущен продукт</a:t>
            </a:r>
          </a:p>
          <a:p>
            <a:pPr>
              <a:buFontTx/>
              <a:buChar char="-"/>
            </a:pPr>
            <a:r>
              <a:rPr lang="ru-RU" dirty="0"/>
              <a:t>Целевые девайсы</a:t>
            </a:r>
          </a:p>
          <a:p>
            <a:pPr>
              <a:buFontTx/>
              <a:buChar char="-"/>
            </a:pPr>
            <a:r>
              <a:rPr lang="ru-RU" dirty="0"/>
              <a:t>Процессы бизнеса заказчика</a:t>
            </a:r>
          </a:p>
          <a:p>
            <a:pPr>
              <a:buFontTx/>
              <a:buChar char="-"/>
            </a:pPr>
            <a:endParaRPr lang="uk-UA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78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</a:t>
            </a:r>
            <a:r>
              <a:rPr lang="en-US" dirty="0"/>
              <a:t>&amp; </a:t>
            </a:r>
            <a:r>
              <a:rPr lang="ru-RU" dirty="0"/>
              <a:t>Границы проекта / </a:t>
            </a:r>
            <a:r>
              <a:rPr lang="en-US" dirty="0"/>
              <a:t>Product Vision &amp; Scope</a:t>
            </a:r>
            <a:endParaRPr lang="uk-UA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Концепция продукта (</a:t>
            </a:r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vision</a:t>
            </a:r>
            <a:r>
              <a:rPr lang="ru-RU" dirty="0"/>
              <a:t>)</a:t>
            </a:r>
            <a:endParaRPr lang="uk-UA" dirty="0"/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сжато описывает конечный продукт, который достигнет заданных бизнес-целей; </a:t>
            </a:r>
          </a:p>
          <a:p>
            <a:r>
              <a:rPr lang="ru-RU" sz="1800" dirty="0"/>
              <a:t>описывает, что продукт представляет собой сейчас и каким он станет впоследствии;</a:t>
            </a:r>
          </a:p>
          <a:p>
            <a:r>
              <a:rPr lang="ru-RU" sz="1800" dirty="0"/>
              <a:t>обеспечивает контекст для принятия решений на протяжении жизненного цикла продукта и выстраивает работу всех заинтересованных лиц в одном направлении.</a:t>
            </a:r>
            <a:endParaRPr lang="uk-UA" sz="1800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Границы проекта (</a:t>
            </a:r>
            <a:r>
              <a:rPr lang="ru-RU" dirty="0" err="1"/>
              <a:t>project</a:t>
            </a:r>
            <a:r>
              <a:rPr lang="ru-RU" dirty="0"/>
              <a:t> </a:t>
            </a:r>
            <a:r>
              <a:rPr lang="ru-RU" dirty="0" err="1"/>
              <a:t>scope</a:t>
            </a:r>
            <a:r>
              <a:rPr lang="ru-RU" dirty="0"/>
              <a:t>) </a:t>
            </a:r>
            <a:endParaRPr lang="uk-UA" dirty="0"/>
          </a:p>
        </p:txBody>
      </p:sp>
      <p:sp>
        <p:nvSpPr>
          <p:cNvPr id="11" name="Объект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показывают, на какую часть конечной концепции продукта будет направлен текущий проект или итерация; </a:t>
            </a:r>
            <a:endParaRPr lang="en-US" sz="1800" dirty="0"/>
          </a:p>
          <a:p>
            <a:r>
              <a:rPr lang="ru-RU" sz="1800" dirty="0"/>
              <a:t>определяют черта между тем, что входит в проект и тем, что остается вовне.</a:t>
            </a:r>
            <a:endParaRPr lang="uk-UA" sz="1800" dirty="0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5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308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Концепция</a:t>
            </a:r>
            <a:r>
              <a:rPr lang="ru-RU" sz="2400" dirty="0"/>
              <a:t> </a:t>
            </a:r>
            <a:r>
              <a:rPr lang="ru-RU" sz="2400" b="1" dirty="0"/>
              <a:t>продукта</a:t>
            </a:r>
            <a:r>
              <a:rPr lang="ru-RU" sz="2400" dirty="0"/>
              <a:t> гарантирует, что мы все знаем, куда идем. </a:t>
            </a:r>
            <a:r>
              <a:rPr lang="ru-RU" sz="2400" b="1" dirty="0"/>
              <a:t>Границы проекта</a:t>
            </a:r>
            <a:r>
              <a:rPr lang="ru-RU" sz="2400" dirty="0"/>
              <a:t> гарантируют, что мы говорим об одной и той же вещи в текущем проекте или итерации.</a:t>
            </a:r>
            <a:endParaRPr lang="uk-UA" sz="2400" dirty="0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085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Канва </a:t>
            </a:r>
            <a:r>
              <a:rPr lang="uk-UA" dirty="0" err="1"/>
              <a:t>бизнес-модели</a:t>
            </a:r>
            <a:r>
              <a:rPr lang="uk-UA" dirty="0"/>
              <a:t> / </a:t>
            </a:r>
            <a:r>
              <a:rPr lang="ru-RU" dirty="0" err="1"/>
              <a:t>Business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dirty="0" err="1"/>
              <a:t>Canvas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/>
              <a:t> — представляет собой способ визуализации бизнес-модели, состоящая из 9 блоков:</a:t>
            </a:r>
          </a:p>
          <a:p>
            <a:pPr lvl="1" fontAlgn="base"/>
            <a:r>
              <a:rPr lang="ru-RU" dirty="0"/>
              <a:t>Ключевые партнеры;</a:t>
            </a:r>
          </a:p>
          <a:p>
            <a:pPr lvl="1" fontAlgn="base"/>
            <a:r>
              <a:rPr lang="ru-RU" dirty="0"/>
              <a:t>Ключевые виды деятельности;</a:t>
            </a:r>
          </a:p>
          <a:p>
            <a:pPr lvl="1" fontAlgn="base"/>
            <a:r>
              <a:rPr lang="ru-RU" dirty="0"/>
              <a:t>Ценностные предложения;</a:t>
            </a:r>
          </a:p>
          <a:p>
            <a:pPr lvl="1" fontAlgn="base"/>
            <a:r>
              <a:rPr lang="ru-RU" dirty="0"/>
              <a:t>Взаимоотношения с клиентами;</a:t>
            </a:r>
          </a:p>
          <a:p>
            <a:pPr lvl="1" fontAlgn="base"/>
            <a:r>
              <a:rPr lang="ru-RU" dirty="0"/>
              <a:t>Потребительские сегменты;</a:t>
            </a:r>
          </a:p>
          <a:p>
            <a:pPr lvl="1" fontAlgn="base"/>
            <a:r>
              <a:rPr lang="ru-RU" dirty="0"/>
              <a:t>Ключевые ресурсы;</a:t>
            </a:r>
          </a:p>
          <a:p>
            <a:pPr lvl="1" fontAlgn="base"/>
            <a:r>
              <a:rPr lang="ru-RU" dirty="0"/>
              <a:t>Каналы сбыта;</a:t>
            </a:r>
          </a:p>
          <a:p>
            <a:pPr lvl="1" fontAlgn="base"/>
            <a:r>
              <a:rPr lang="ru-RU" dirty="0"/>
              <a:t>Структура издержек;</a:t>
            </a:r>
          </a:p>
          <a:p>
            <a:pPr lvl="1" fontAlgn="base"/>
            <a:r>
              <a:rPr lang="ru-RU" dirty="0"/>
              <a:t>Потоки поступления доходов.</a:t>
            </a:r>
          </a:p>
          <a:p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057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8</a:t>
            </a:fld>
            <a:endParaRPr lang="uk-UA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453" y="578069"/>
            <a:ext cx="7895005" cy="53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9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Пользовательские сегменты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9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513955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Выделить ключевые сегменты клиентов, которые компания обслуживает.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Для кого мы создаем предложение ценности?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клиенты для нас более важны?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D9117-FE53-004E-B323-A7A535F2CC87}"/>
              </a:ext>
            </a:extLst>
          </p:cNvPr>
          <p:cNvSpPr/>
          <p:nvPr/>
        </p:nvSpPr>
        <p:spPr>
          <a:xfrm>
            <a:off x="8164483" y="1902380"/>
            <a:ext cx="6096000" cy="21390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" b="1" dirty="0"/>
              <a:t>Примеры: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Массовый рынок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Нишевой рынок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Сегментированый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Разнообразный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Многоцелевой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0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Достоинства предложения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10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6243145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Определить торговые предложения, которые компания предоставляет каждому сегменту потребителей.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Какой набор товаров и услуг мы предлагаем каждому потребительскому сегменту?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Какую ценность для потребителей они имеют?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потребности покупателей удовлетворяют?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проблемы мы помогаем решить нашим клиентам?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Какую работу мы помогаем клиенту выполнить с помощью наших товаров и/или услуг?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8164483" y="1902380"/>
            <a:ext cx="3048000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Характеристики: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Новизна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Производительность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Подстройка под клиента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«Работает»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Дизайн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Статусность / бренд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Цена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Уменьшение затрат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Уменьшение рисков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Доступность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Удобство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75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Каналы поставки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11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624314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Определить, какие каналы предприятие использует для взаимодействия и донесения своих ценностных предложений каждому потребительскому сегменту.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Через какие каналы мы взаимодействуем с клиентскими сегментами, доносим и доставляем им наши ценностные предложения?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 связаны наши каналы между собой?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из них наиболее эффективны?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наиболее выгодны?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8164483" y="1902380"/>
            <a:ext cx="3048000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Этапы поставок: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Осознание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Оценка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Закупка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Доставка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Послепродажный этап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9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Отношения с заказчиком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12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624314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Описать типы отношений, которые устанавливает организация с отдельными потребительскими сегментами для: Приобретения клиентов, Удержания клиентов, Увеличения продаж. Взаимоотношения могут быть от персональных до автоматизированных.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Отношений какого типа ждет каждый потребительский сегмент?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отношения установлены?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 они интегрированы в общую схему Бизнес модели?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8164483" y="1902380"/>
            <a:ext cx="3048000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Примеры: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Персональная поддержка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Удаленная поддержка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Самообслуживание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Сообщества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Совместная разработка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38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Источники доходов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13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507649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Описать какие потоки доходов будет генерировать каждый потребительский сегмент. Каждый поток может иметь свой механизм ценообразования.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потоки доходов генерирует каждый сегмент потребителей?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Какую часть общей прибыли приносит каждый поток поступления доходов?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6989379" y="1902380"/>
            <a:ext cx="42231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Типы: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Продажа активов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Плата за использование или подписку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Аренда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Лицензирование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Реклама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uk" dirty="0"/>
          </a:p>
          <a:p>
            <a:r>
              <a:rPr lang="uk" b="1" dirty="0"/>
              <a:t>Фиксированый расчет цен: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Цена по прейскуранту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Зависимость от сегмента или версии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uk" dirty="0"/>
          </a:p>
          <a:p>
            <a:r>
              <a:rPr lang="uk" b="1" dirty="0"/>
              <a:t>Динамический расчет цен: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Негоциация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Управление доходами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</a:t>
            </a:r>
            <a:r>
              <a:rPr lang="ru-RU" dirty="0"/>
              <a:t>рынок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0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Ключевые ресурсы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14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728978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Описать наиболее важные активы, необходимые предприятию для того, чтобы создавать и доносить до потребителя торговое предложение, - все, что является ключевыми факторами успеха компании и позволяет ей удерживать конкурентную позицию на рынке.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ресурсы организации нужны для выделенных ценностных предложений?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ресурсы нужны для выделенных каналов сбыта?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ресурсы нужны для выделенных взаимоотношений с клиентами?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ресурсы нужны для получения выделенных </a:t>
            </a:r>
            <a:br>
              <a:rPr lang="uk" dirty="0"/>
            </a:br>
            <a:r>
              <a:rPr lang="uk" dirty="0"/>
              <a:t>потоков доходов?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8864472" y="1902380"/>
            <a:ext cx="234801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Типы ресурсов: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Физические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Интеллектуальные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Человеческие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Финансовые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370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Ключевые активности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15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624314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Описать действия предприятия, необходимые для создания и донесения до потребителя ценностных предложений.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Каких виды деятельности требуются для выделенных ценностных предложений?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Каких виды деятельности требуются для выделенных каналов сбыта?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Каких виды деятельности требуются для выделенных взаимоотношений с клиентами?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Каких виды деятельности требуются для получения выделенных потоков доходов?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8164483" y="1902380"/>
            <a:ext cx="3048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Категории: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Производство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Решение проблем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Планирование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Установление связей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457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Ключевые партнеры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16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624314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Выделить и описать ключевых партнеров, благодаря которым предприятие создает и доносит ценностное предложение сегментам потребителей.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Кто является нашими ключевыми партнерами?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ресурсы мы получаем от партнеров?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Какой ключевой деятельностью занимаются наши партнеры?</a:t>
            </a:r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7714593" y="1902380"/>
            <a:ext cx="3497890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Мотивация для сотрудничества: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Оптимизация и экономия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Уменьшение рисков и неопределенностей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Получение конкретных ресурсов и активностей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48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0F06-D03D-D949-8A2F-2C5CAF33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" b="1" dirty="0"/>
              <a:t>Структура затрат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D0727-514C-6A42-96F3-A49D4D23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0660-02B2-5C4A-9F5E-D56D92C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17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B4DD-7F2F-A440-A585-6C90561AED20}"/>
              </a:ext>
            </a:extLst>
          </p:cNvPr>
          <p:cNvSpPr txBox="1"/>
          <p:nvPr/>
        </p:nvSpPr>
        <p:spPr>
          <a:xfrm>
            <a:off x="1219200" y="1902380"/>
            <a:ext cx="521313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" b="1" dirty="0"/>
              <a:t>Цель:</a:t>
            </a:r>
          </a:p>
          <a:p>
            <a:r>
              <a:rPr lang="uk" dirty="0"/>
              <a:t>Описать структуру наиболее существенных расходов функционирования организации для предоставления ценностного предложения потребительским сегментам.</a:t>
            </a:r>
          </a:p>
          <a:p>
            <a:endParaRPr lang="uk" dirty="0"/>
          </a:p>
          <a:p>
            <a:r>
              <a:rPr lang="uk" b="1" dirty="0"/>
              <a:t>Главные вопросы: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наиболее важные расходы предполагает наша Бизнес модель?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из ключевых ресурсов наиболее дороги?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uk" dirty="0"/>
              <a:t>Какие ключевые виды деятельности требуют наибольших затрат?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uk" dirty="0"/>
          </a:p>
          <a:p>
            <a:endParaRPr lang="uk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DED958-8C31-7C4F-93C8-74B0900E8D2C}"/>
              </a:ext>
            </a:extLst>
          </p:cNvPr>
          <p:cNvSpPr/>
          <p:nvPr/>
        </p:nvSpPr>
        <p:spPr>
          <a:xfrm>
            <a:off x="6989379" y="1902380"/>
            <a:ext cx="42231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" b="1" dirty="0"/>
              <a:t>Ваш бизнес больше: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Зависит от затрат (скудная структура затрат, низкая оценка значимости продукта, максимальная автоматизация)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Зависит от продукта (нацеленность на создание качественной продукции, продукт на первом месте)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uk" dirty="0"/>
          </a:p>
          <a:p>
            <a:r>
              <a:rPr lang="uk" b="1" dirty="0"/>
              <a:t>Примеры характеристик: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Фиксированые затраты (зарплаты, аренда, различные платежи)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Непостоянные затраты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" dirty="0"/>
              <a:t>Экономия на различных уровнях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72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04" y="143003"/>
            <a:ext cx="10171766" cy="6004415"/>
          </a:xfrm>
          <a:prstGeom prst="rect">
            <a:avLst/>
          </a:prstGeom>
        </p:spPr>
      </p:pic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18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07439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017" y="567068"/>
            <a:ext cx="3401492" cy="106776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/>
            <a:r>
              <a:rPr lang="ru-RU" dirty="0"/>
              <a:t>Контекстная диаграмма (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</a:t>
            </a:r>
            <a:endParaRPr lang="en-US" sz="36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728" y="731838"/>
            <a:ext cx="5326618" cy="525780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87018" y="2032000"/>
            <a:ext cx="3401492" cy="4485495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z="1800" dirty="0"/>
              <a:t>графически иллюстрирует границу и связи разрабатываемой системы со всем остальным миром.</a:t>
            </a:r>
          </a:p>
          <a:p>
            <a:pPr lvl="0"/>
            <a:r>
              <a:rPr lang="ru-RU" sz="1800" dirty="0"/>
              <a:t>Описывает абстрактную систему высокого уровня. </a:t>
            </a:r>
          </a:p>
          <a:p>
            <a:pPr lvl="0"/>
            <a:r>
              <a:rPr lang="ru-RU" sz="1800" dirty="0"/>
              <a:t>Определяет внешние для системы объекты, которые взаимодействуют с ней, но не отображает ничего из внутренней структуры или поведения системы.</a:t>
            </a:r>
            <a:endParaRPr lang="uk-UA" sz="180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29698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140" y="567067"/>
            <a:ext cx="3021495" cy="1818323"/>
          </a:xfrm>
        </p:spPr>
        <p:txBody>
          <a:bodyPr>
            <a:normAutofit fontScale="90000"/>
          </a:bodyPr>
          <a:lstStyle/>
          <a:p>
            <a:r>
              <a:rPr lang="ru-RU" dirty="0"/>
              <a:t>Карта экосистемы (</a:t>
            </a:r>
            <a:r>
              <a:rPr lang="ru-RU" dirty="0" err="1"/>
              <a:t>ecosystem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) </a:t>
            </a:r>
            <a:endParaRPr lang="uk-UA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876" y="1474624"/>
            <a:ext cx="6020322" cy="3772227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67140" y="2623929"/>
            <a:ext cx="3021496" cy="3693743"/>
          </a:xfrm>
        </p:spPr>
        <p:txBody>
          <a:bodyPr>
            <a:noAutofit/>
          </a:bodyPr>
          <a:lstStyle/>
          <a:p>
            <a:r>
              <a:rPr lang="ru-RU" sz="1800" dirty="0"/>
              <a:t>показывает набор классов системы или определенной предметной области, их интерфейсы и взаимосвязи, природу взаимодействия. </a:t>
            </a:r>
            <a:endParaRPr lang="uk-UA" sz="180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1656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Анализ конкурентов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5713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26" y="842109"/>
            <a:ext cx="5098222" cy="5037257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42125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mpet-analiz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488" y="1739349"/>
            <a:ext cx="9912691" cy="302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1341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Анализ возможностей / </a:t>
            </a:r>
            <a:r>
              <a:rPr lang="en-US" dirty="0"/>
              <a:t>Capability analysis</a:t>
            </a:r>
          </a:p>
        </p:txBody>
      </p:sp>
      <p:pic>
        <p:nvPicPr>
          <p:cNvPr id="3074" name="Picture 2" descr="capabilities-analysis-templat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0764" y="0"/>
            <a:ext cx="6363854" cy="65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72308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Способы получения информации о конкурентах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Опросы потребителей из </a:t>
            </a:r>
            <a:r>
              <a:rPr lang="ru-RU"/>
              <a:t>целевой аудитории</a:t>
            </a:r>
            <a:endParaRPr lang="ru-RU" dirty="0"/>
          </a:p>
          <a:p>
            <a:r>
              <a:rPr lang="ru-RU" dirty="0"/>
              <a:t>Контекстное наблюдение</a:t>
            </a:r>
          </a:p>
          <a:p>
            <a:r>
              <a:rPr lang="ru-RU" dirty="0"/>
              <a:t>Самостоятельный обзор продукта</a:t>
            </a:r>
          </a:p>
          <a:p>
            <a:r>
              <a:rPr lang="ru-RU" dirty="0"/>
              <a:t>Опросы экспертов рынка</a:t>
            </a:r>
          </a:p>
          <a:p>
            <a:r>
              <a:rPr lang="ru-RU" dirty="0"/>
              <a:t>Опросы менеджеров по продажам</a:t>
            </a:r>
          </a:p>
          <a:p>
            <a:r>
              <a:rPr lang="ru-RU" dirty="0"/>
              <a:t>Изучение отраслевых обзоров</a:t>
            </a:r>
          </a:p>
          <a:p>
            <a:r>
              <a:rPr lang="ru-RU" dirty="0"/>
              <a:t>Тематические выставки, конференции и семинары</a:t>
            </a:r>
            <a:endParaRPr lang="uk-UA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818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Практика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6965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будем составлять?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Составление </a:t>
            </a:r>
            <a:r>
              <a:rPr lang="ru-RU" dirty="0" err="1"/>
              <a:t>Business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dirty="0" err="1"/>
              <a:t>Canvas</a:t>
            </a:r>
            <a:r>
              <a:rPr lang="ru-RU" dirty="0"/>
              <a:t> </a:t>
            </a:r>
          </a:p>
          <a:p>
            <a:r>
              <a:rPr lang="ru-RU" dirty="0"/>
              <a:t>Составление контекстной диаграммы</a:t>
            </a:r>
          </a:p>
          <a:p>
            <a:r>
              <a:rPr lang="ru-RU" dirty="0"/>
              <a:t>Составление карты экосистемы</a:t>
            </a:r>
          </a:p>
          <a:p>
            <a:r>
              <a:rPr lang="ru-RU" b="1" dirty="0"/>
              <a:t>Составление </a:t>
            </a:r>
            <a:r>
              <a:rPr lang="en-US" b="1" dirty="0"/>
              <a:t>SWOT </a:t>
            </a:r>
            <a:r>
              <a:rPr lang="ru-RU" b="1" dirty="0"/>
              <a:t>матрицы</a:t>
            </a:r>
          </a:p>
          <a:p>
            <a:r>
              <a:rPr lang="ru-RU" dirty="0"/>
              <a:t>Анализ функций</a:t>
            </a:r>
          </a:p>
          <a:p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1124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712157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Дополнительная литература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28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9322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Model Canvas </a:t>
            </a:r>
            <a:r>
              <a:rPr lang="en-US" dirty="0">
                <a:hlinkClick r:id="rId2"/>
              </a:rPr>
              <a:t>http://marketnotes.ru/about_marketing/canvas/</a:t>
            </a:r>
          </a:p>
          <a:p>
            <a:r>
              <a:rPr lang="en-US" dirty="0"/>
              <a:t>SWOT </a:t>
            </a:r>
            <a:r>
              <a:rPr lang="en-US" dirty="0">
                <a:hlinkClick r:id="rId3"/>
              </a:rPr>
              <a:t>https://geniusmarketing.me/lab/swot-analiz-5-glavnyx-pravil-kotoryx-stoit-priderzhivatsya/</a:t>
            </a:r>
            <a:endParaRPr lang="en-US" dirty="0"/>
          </a:p>
          <a:p>
            <a:r>
              <a:rPr lang="ru-RU" dirty="0"/>
              <a:t>Контекстная диаграмма </a:t>
            </a:r>
            <a:r>
              <a:rPr lang="en-US" dirty="0">
                <a:hlinkClick r:id="rId4"/>
              </a:rPr>
              <a:t>https://systems.education/context-diagram</a:t>
            </a:r>
            <a:endParaRPr lang="ru-RU" dirty="0"/>
          </a:p>
          <a:p>
            <a:r>
              <a:rPr lang="ru-RU" dirty="0" err="1"/>
              <a:t>Вигерс</a:t>
            </a:r>
            <a:r>
              <a:rPr lang="ru-RU" dirty="0"/>
              <a:t> Карл, Битти Джой. - Разработка требований к программному обеспечению. 3-е изд., дополненное. - </a:t>
            </a:r>
            <a:r>
              <a:rPr lang="uk-UA" dirty="0"/>
              <a:t>Глава 5 </a:t>
            </a:r>
            <a:r>
              <a:rPr lang="uk-UA" dirty="0" err="1"/>
              <a:t>Определение</a:t>
            </a:r>
            <a:r>
              <a:rPr lang="uk-UA" dirty="0"/>
              <a:t> </a:t>
            </a:r>
            <a:r>
              <a:rPr lang="uk-UA" dirty="0" err="1"/>
              <a:t>бизнес-требований</a:t>
            </a:r>
            <a:r>
              <a:rPr lang="uk-UA" dirty="0"/>
              <a:t> </a:t>
            </a:r>
            <a:r>
              <a:rPr lang="uk-UA" sz="1600" i="1" dirty="0"/>
              <a:t>(</a:t>
            </a:r>
            <a:r>
              <a:rPr lang="uk-UA" sz="1600" i="1" dirty="0" err="1"/>
              <a:t>содержит</a:t>
            </a:r>
            <a:r>
              <a:rPr lang="uk-UA" sz="1600" i="1" dirty="0"/>
              <a:t> </a:t>
            </a:r>
            <a:r>
              <a:rPr lang="uk-UA" sz="1600" i="1" dirty="0" err="1"/>
              <a:t>описание</a:t>
            </a:r>
            <a:r>
              <a:rPr lang="uk-UA" sz="1600" i="1" dirty="0"/>
              <a:t> </a:t>
            </a:r>
            <a:r>
              <a:rPr lang="uk-UA" sz="1600" i="1" dirty="0" err="1"/>
              <a:t>Контекстной</a:t>
            </a:r>
            <a:r>
              <a:rPr lang="uk-UA" sz="1600" i="1" dirty="0"/>
              <a:t> </a:t>
            </a:r>
            <a:r>
              <a:rPr lang="uk-UA" sz="1600" i="1" dirty="0" err="1"/>
              <a:t>диаграммы</a:t>
            </a:r>
            <a:r>
              <a:rPr lang="uk-UA" sz="1600" i="1" dirty="0"/>
              <a:t> и </a:t>
            </a:r>
            <a:r>
              <a:rPr lang="uk-UA" sz="1600" i="1" dirty="0" err="1"/>
              <a:t>Карты</a:t>
            </a:r>
            <a:r>
              <a:rPr lang="uk-UA" sz="1600" i="1" dirty="0"/>
              <a:t> </a:t>
            </a:r>
            <a:r>
              <a:rPr lang="uk-UA" sz="1600" i="1" dirty="0" err="1"/>
              <a:t>экосистемы</a:t>
            </a:r>
            <a:r>
              <a:rPr lang="uk-UA" sz="1600" i="1" dirty="0"/>
              <a:t>, а так же </a:t>
            </a:r>
            <a:r>
              <a:rPr lang="uk-UA" sz="1600" i="1" dirty="0" err="1"/>
              <a:t>другую</a:t>
            </a:r>
            <a:r>
              <a:rPr lang="uk-UA" sz="1600" i="1" dirty="0"/>
              <a:t> </a:t>
            </a:r>
            <a:r>
              <a:rPr lang="uk-UA" sz="1600" i="1" dirty="0" err="1"/>
              <a:t>полезную</a:t>
            </a:r>
            <a:r>
              <a:rPr lang="uk-UA" sz="1600" i="1" dirty="0"/>
              <a:t> </a:t>
            </a:r>
            <a:r>
              <a:rPr lang="uk-UA" sz="1600" i="1" dirty="0" err="1"/>
              <a:t>информацию</a:t>
            </a:r>
            <a:r>
              <a:rPr lang="uk-UA" sz="1600" i="1" dirty="0"/>
              <a:t>)</a:t>
            </a:r>
            <a:r>
              <a:rPr lang="en-US" dirty="0"/>
              <a:t> Template – </a:t>
            </a:r>
          </a:p>
          <a:p>
            <a:r>
              <a:rPr lang="en-US"/>
              <a:t>Vision </a:t>
            </a:r>
            <a:r>
              <a:rPr lang="en-US" dirty="0"/>
              <a:t>and </a:t>
            </a:r>
            <a:r>
              <a:rPr lang="en-US"/>
              <a:t>Scope Document </a:t>
            </a:r>
            <a:r>
              <a:rPr lang="en-US">
                <a:hlinkClick r:id="rId5"/>
              </a:rPr>
              <a:t>https://wiki.base22.com/btg/template-vision-and-scope-document-20480031.html</a:t>
            </a:r>
            <a:endParaRPr lang="en-US" dirty="0"/>
          </a:p>
          <a:p>
            <a:endParaRPr lang="en-US" sz="1600" i="1" dirty="0"/>
          </a:p>
          <a:p>
            <a:endParaRPr lang="en-US" sz="1600" i="1" dirty="0"/>
          </a:p>
          <a:p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 Analysis - Hillel course</a:t>
            </a:r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9023733"/>
      </p:ext>
    </p:extLst>
  </p:cSld>
  <p:clrMapOvr>
    <a:masterClrMapping/>
  </p:clrMapOvr>
</p:sld>
</file>

<file path=ppt/theme/theme1.xml><?xml version="1.0" encoding="utf-8"?>
<a:theme xmlns:a="http://schemas.openxmlformats.org/drawingml/2006/main" name="Hillel course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llel course" id="{7177E2AA-7288-4130-92B7-4E5FEB1B91E1}" vid="{5DE0280A-C0CA-485E-A8E2-58E7072594C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3422</TotalTime>
  <Words>1187</Words>
  <Application>Microsoft Office PowerPoint</Application>
  <PresentationFormat>Широкоэкранный</PresentationFormat>
  <Paragraphs>273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Hillel course</vt:lpstr>
      <vt:lpstr>Исследование бизнеса заказчика и  анализ конкурентов</vt:lpstr>
      <vt:lpstr>Исследование бизнеса заказчика</vt:lpstr>
      <vt:lpstr>Исследование бизнеса</vt:lpstr>
      <vt:lpstr>Что нужно знать о бизнесе заказчика</vt:lpstr>
      <vt:lpstr>Концепция &amp; Границы проекта / Product Vision &amp; Scope</vt:lpstr>
      <vt:lpstr>Презентация PowerPoint</vt:lpstr>
      <vt:lpstr>Канва бизнес-модели / Business Model Canvas </vt:lpstr>
      <vt:lpstr>Презентация PowerPoint</vt:lpstr>
      <vt:lpstr>Пользовательские сегменты</vt:lpstr>
      <vt:lpstr>Достоинства предложения</vt:lpstr>
      <vt:lpstr>Каналы поставки</vt:lpstr>
      <vt:lpstr>Отношения с заказчиком</vt:lpstr>
      <vt:lpstr>Источники доходов</vt:lpstr>
      <vt:lpstr>Ключевые ресурсы</vt:lpstr>
      <vt:lpstr>Ключевые активности</vt:lpstr>
      <vt:lpstr>Ключевые партнеры</vt:lpstr>
      <vt:lpstr>Структура затрат</vt:lpstr>
      <vt:lpstr>Презентация PowerPoint</vt:lpstr>
      <vt:lpstr>Контекстная диаграмма (context diagram)</vt:lpstr>
      <vt:lpstr>Карта экосистемы (ecosystem map) </vt:lpstr>
      <vt:lpstr>Анализ конкурентов</vt:lpstr>
      <vt:lpstr>SWOT</vt:lpstr>
      <vt:lpstr>Презентация PowerPoint</vt:lpstr>
      <vt:lpstr>Анализ возможностей / Capability analysis</vt:lpstr>
      <vt:lpstr>Способы получения информации о конкурентах</vt:lpstr>
      <vt:lpstr>Практика</vt:lpstr>
      <vt:lpstr>Что будем составлять?</vt:lpstr>
      <vt:lpstr>Дополнительная 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Alesia</cp:lastModifiedBy>
  <cp:revision>72</cp:revision>
  <dcterms:created xsi:type="dcterms:W3CDTF">2019-07-08T17:35:39Z</dcterms:created>
  <dcterms:modified xsi:type="dcterms:W3CDTF">2020-09-02T13:51:34Z</dcterms:modified>
</cp:coreProperties>
</file>