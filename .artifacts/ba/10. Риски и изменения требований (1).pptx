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0" r:id="rId1"/>
  </p:sldMasterIdLst>
  <p:notesMasterIdLst>
    <p:notesMasterId r:id="rId31"/>
  </p:notesMasterIdLst>
  <p:sldIdLst>
    <p:sldId id="256" r:id="rId2"/>
    <p:sldId id="322" r:id="rId3"/>
    <p:sldId id="368" r:id="rId4"/>
    <p:sldId id="416" r:id="rId5"/>
    <p:sldId id="424" r:id="rId6"/>
    <p:sldId id="426" r:id="rId7"/>
    <p:sldId id="432" r:id="rId8"/>
    <p:sldId id="423" r:id="rId9"/>
    <p:sldId id="448" r:id="rId10"/>
    <p:sldId id="449" r:id="rId11"/>
    <p:sldId id="428" r:id="rId12"/>
    <p:sldId id="445" r:id="rId13"/>
    <p:sldId id="446" r:id="rId14"/>
    <p:sldId id="447" r:id="rId15"/>
    <p:sldId id="450" r:id="rId16"/>
    <p:sldId id="431" r:id="rId17"/>
    <p:sldId id="433" r:id="rId18"/>
    <p:sldId id="436" r:id="rId19"/>
    <p:sldId id="437" r:id="rId20"/>
    <p:sldId id="434" r:id="rId21"/>
    <p:sldId id="438" r:id="rId22"/>
    <p:sldId id="439" r:id="rId23"/>
    <p:sldId id="440" r:id="rId24"/>
    <p:sldId id="442" r:id="rId25"/>
    <p:sldId id="443" r:id="rId26"/>
    <p:sldId id="441" r:id="rId27"/>
    <p:sldId id="444" r:id="rId28"/>
    <p:sldId id="420" r:id="rId29"/>
    <p:sldId id="419" r:id="rId3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F79C1"/>
    <a:srgbClr val="128DE0"/>
    <a:srgbClr val="86C157"/>
    <a:srgbClr val="4BCAAD"/>
    <a:srgbClr val="92D05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E9639D4-E3E2-4D34-9284-5A2195B3D0D7}" styleName="Светлый стиль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5020" autoAdjust="0"/>
    <p:restoredTop sz="94660"/>
  </p:normalViewPr>
  <p:slideViewPr>
    <p:cSldViewPr snapToGrid="0">
      <p:cViewPr varScale="1">
        <p:scale>
          <a:sx n="95" d="100"/>
          <a:sy n="95" d="100"/>
        </p:scale>
        <p:origin x="200" y="21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uk-UA"/>
          </a:p>
        </p:txBody>
      </p:sp>
      <p:sp>
        <p:nvSpPr>
          <p:cNvPr id="3" name="Дата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282579C-437B-4B88-BDE6-483EC68E97D4}" type="datetimeFigureOut">
              <a:rPr lang="uk-UA" smtClean="0"/>
              <a:t>09.10.20</a:t>
            </a:fld>
            <a:endParaRPr lang="uk-UA"/>
          </a:p>
        </p:txBody>
      </p:sp>
      <p:sp>
        <p:nvSpPr>
          <p:cNvPr id="4" name="Образ слайда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uk-UA"/>
          </a:p>
        </p:txBody>
      </p:sp>
      <p:sp>
        <p:nvSpPr>
          <p:cNvPr id="5" name="Заметки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uk-UA"/>
          </a:p>
        </p:txBody>
      </p:sp>
      <p:sp>
        <p:nvSpPr>
          <p:cNvPr id="6" name="Нижний колонтитул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uk-UA"/>
          </a:p>
        </p:txBody>
      </p:sp>
      <p:sp>
        <p:nvSpPr>
          <p:cNvPr id="7" name="Номер слайда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87690FE-35A5-4CCB-93D6-B8E58183C5AC}" type="slidenum">
              <a:rPr lang="uk-UA" smtClean="0"/>
              <a:t>‹#›</a:t>
            </a:fld>
            <a:endParaRPr lang="uk-UA"/>
          </a:p>
        </p:txBody>
      </p:sp>
    </p:spTree>
    <p:extLst>
      <p:ext uri="{BB962C8B-B14F-4D97-AF65-F5344CB8AC3E}">
        <p14:creationId xmlns:p14="http://schemas.microsoft.com/office/powerpoint/2010/main" val="31397660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Титульный слайд">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 y="6334316"/>
            <a:ext cx="12192000"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ru-RU"/>
              <a:t>Образец заголовка</a:t>
            </a:r>
            <a:endParaRPr lang="en-US" dirty="0"/>
          </a:p>
        </p:txBody>
      </p:sp>
      <p:sp>
        <p:nvSpPr>
          <p:cNvPr id="3" name="Subtitle 2"/>
          <p:cNvSpPr>
            <a:spLocks noGrp="1"/>
          </p:cNvSpPr>
          <p:nvPr>
            <p:ph type="subTitle" idx="1"/>
          </p:nvPr>
        </p:nvSpPr>
        <p:spPr>
          <a:xfrm>
            <a:off x="1100051" y="4455621"/>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ru-RU"/>
              <a:t>Образец подзаголовка</a:t>
            </a:r>
            <a:endParaRPr lang="en-US" dirty="0"/>
          </a:p>
        </p:txBody>
      </p:sp>
      <p:sp>
        <p:nvSpPr>
          <p:cNvPr id="4" name="Date Placeholder 3"/>
          <p:cNvSpPr>
            <a:spLocks noGrp="1"/>
          </p:cNvSpPr>
          <p:nvPr>
            <p:ph type="dt" sz="half" idx="10"/>
          </p:nvPr>
        </p:nvSpPr>
        <p:spPr/>
        <p:txBody>
          <a:bodyPr/>
          <a:lstStyle/>
          <a:p>
            <a:fld id="{29B4355C-3BC3-430F-A9AE-65E4E08468FB}" type="datetimeFigureOut">
              <a:rPr lang="uk-UA" smtClean="0"/>
              <a:t>09.10.20</a:t>
            </a:fld>
            <a:endParaRPr lang="uk-UA"/>
          </a:p>
        </p:txBody>
      </p:sp>
      <p:sp>
        <p:nvSpPr>
          <p:cNvPr id="5" name="Footer Placeholder 4"/>
          <p:cNvSpPr>
            <a:spLocks noGrp="1"/>
          </p:cNvSpPr>
          <p:nvPr>
            <p:ph type="ftr" sz="quarter" idx="11"/>
          </p:nvPr>
        </p:nvSpPr>
        <p:spPr/>
        <p:txBody>
          <a:bodyPr/>
          <a:lstStyle/>
          <a:p>
            <a:r>
              <a:rPr lang="ru-RU"/>
              <a:t>1. Введение</a:t>
            </a:r>
            <a:endParaRPr lang="uk-UA" dirty="0"/>
          </a:p>
        </p:txBody>
      </p:sp>
      <p:sp>
        <p:nvSpPr>
          <p:cNvPr id="6" name="Slide Number Placeholder 5"/>
          <p:cNvSpPr>
            <a:spLocks noGrp="1"/>
          </p:cNvSpPr>
          <p:nvPr>
            <p:ph type="sldNum" sz="quarter" idx="12"/>
          </p:nvPr>
        </p:nvSpPr>
        <p:spPr/>
        <p:txBody>
          <a:bodyPr/>
          <a:lstStyle/>
          <a:p>
            <a:fld id="{C504FE25-A201-4AD1-9B20-AD00DF8E21D9}" type="slidenum">
              <a:rPr lang="uk-UA" smtClean="0"/>
              <a:t>‹#›</a:t>
            </a:fld>
            <a:endParaRPr lang="uk-UA" dirty="0"/>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948199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a:t>Образец заголовка</a:t>
            </a:r>
            <a:endParaRPr lang="en-US" dirty="0"/>
          </a:p>
        </p:txBody>
      </p:sp>
      <p:sp>
        <p:nvSpPr>
          <p:cNvPr id="3" name="Content Placeholder 2"/>
          <p:cNvSpPr>
            <a:spLocks noGrp="1"/>
          </p:cNvSpPr>
          <p:nvPr>
            <p:ph idx="1"/>
          </p:nvPr>
        </p:nvSpPr>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10"/>
          </p:nvPr>
        </p:nvSpPr>
        <p:spPr/>
        <p:txBody>
          <a:bodyPr/>
          <a:lstStyle/>
          <a:p>
            <a:fld id="{29B4355C-3BC3-430F-A9AE-65E4E08468FB}" type="datetimeFigureOut">
              <a:rPr lang="uk-UA" smtClean="0"/>
              <a:t>09.10.20</a:t>
            </a:fld>
            <a:endParaRPr lang="uk-UA"/>
          </a:p>
        </p:txBody>
      </p:sp>
      <p:sp>
        <p:nvSpPr>
          <p:cNvPr id="5" name="Footer Placeholder 4"/>
          <p:cNvSpPr>
            <a:spLocks noGrp="1"/>
          </p:cNvSpPr>
          <p:nvPr>
            <p:ph type="ftr" sz="quarter" idx="11"/>
          </p:nvPr>
        </p:nvSpPr>
        <p:spPr/>
        <p:txBody>
          <a:bodyPr/>
          <a:lstStyle/>
          <a:p>
            <a:r>
              <a:rPr lang="ru-RU"/>
              <a:t>1. Введение</a:t>
            </a:r>
            <a:endParaRPr lang="uk-UA" dirty="0"/>
          </a:p>
        </p:txBody>
      </p:sp>
      <p:sp>
        <p:nvSpPr>
          <p:cNvPr id="6" name="Slide Number Placeholder 5"/>
          <p:cNvSpPr>
            <a:spLocks noGrp="1"/>
          </p:cNvSpPr>
          <p:nvPr>
            <p:ph type="sldNum" sz="quarter" idx="12"/>
          </p:nvPr>
        </p:nvSpPr>
        <p:spPr/>
        <p:txBody>
          <a:bodyPr/>
          <a:lstStyle/>
          <a:p>
            <a:fld id="{C504FE25-A201-4AD1-9B20-AD00DF8E21D9}" type="slidenum">
              <a:rPr lang="uk-UA" smtClean="0"/>
              <a:t>‹#›</a:t>
            </a:fld>
            <a:endParaRPr lang="uk-UA" dirty="0"/>
          </a:p>
        </p:txBody>
      </p:sp>
    </p:spTree>
    <p:extLst>
      <p:ext uri="{BB962C8B-B14F-4D97-AF65-F5344CB8AC3E}">
        <p14:creationId xmlns:p14="http://schemas.microsoft.com/office/powerpoint/2010/main" val="42076203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Заголовок раздела">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ru-RU"/>
              <a:t>Образец заголовка</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a:t>Образец текста</a:t>
            </a:r>
          </a:p>
        </p:txBody>
      </p:sp>
      <p:sp>
        <p:nvSpPr>
          <p:cNvPr id="4" name="Date Placeholder 3"/>
          <p:cNvSpPr>
            <a:spLocks noGrp="1"/>
          </p:cNvSpPr>
          <p:nvPr>
            <p:ph type="dt" sz="half" idx="10"/>
          </p:nvPr>
        </p:nvSpPr>
        <p:spPr/>
        <p:txBody>
          <a:bodyPr/>
          <a:lstStyle/>
          <a:p>
            <a:fld id="{29B4355C-3BC3-430F-A9AE-65E4E08468FB}" type="datetimeFigureOut">
              <a:rPr lang="uk-UA" smtClean="0"/>
              <a:t>09.10.20</a:t>
            </a:fld>
            <a:endParaRPr lang="uk-UA"/>
          </a:p>
        </p:txBody>
      </p:sp>
      <p:sp>
        <p:nvSpPr>
          <p:cNvPr id="5" name="Footer Placeholder 4"/>
          <p:cNvSpPr>
            <a:spLocks noGrp="1"/>
          </p:cNvSpPr>
          <p:nvPr>
            <p:ph type="ftr" sz="quarter" idx="11"/>
          </p:nvPr>
        </p:nvSpPr>
        <p:spPr/>
        <p:txBody>
          <a:bodyPr/>
          <a:lstStyle/>
          <a:p>
            <a:r>
              <a:rPr lang="ru-RU"/>
              <a:t>1. Введение</a:t>
            </a:r>
            <a:endParaRPr lang="uk-UA" dirty="0"/>
          </a:p>
        </p:txBody>
      </p:sp>
      <p:sp>
        <p:nvSpPr>
          <p:cNvPr id="6" name="Slide Number Placeholder 5"/>
          <p:cNvSpPr>
            <a:spLocks noGrp="1"/>
          </p:cNvSpPr>
          <p:nvPr>
            <p:ph type="sldNum" sz="quarter" idx="12"/>
          </p:nvPr>
        </p:nvSpPr>
        <p:spPr/>
        <p:txBody>
          <a:bodyPr/>
          <a:lstStyle/>
          <a:p>
            <a:fld id="{C504FE25-A201-4AD1-9B20-AD00DF8E21D9}" type="slidenum">
              <a:rPr lang="uk-UA" smtClean="0"/>
              <a:t>‹#›</a:t>
            </a:fld>
            <a:endParaRPr lang="uk-UA" dirty="0"/>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905926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ru-RU"/>
              <a:t>Образец заголовка</a:t>
            </a:r>
            <a:endParaRPr lang="en-US" dirty="0"/>
          </a:p>
        </p:txBody>
      </p:sp>
      <p:sp>
        <p:nvSpPr>
          <p:cNvPr id="3" name="Content Placeholder 2"/>
          <p:cNvSpPr>
            <a:spLocks noGrp="1"/>
          </p:cNvSpPr>
          <p:nvPr>
            <p:ph sz="half" idx="1"/>
          </p:nvPr>
        </p:nvSpPr>
        <p:spPr>
          <a:xfrm>
            <a:off x="1097280" y="1845734"/>
            <a:ext cx="4937760" cy="4023359"/>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5" name="Date Placeholder 4"/>
          <p:cNvSpPr>
            <a:spLocks noGrp="1"/>
          </p:cNvSpPr>
          <p:nvPr>
            <p:ph type="dt" sz="half" idx="10"/>
          </p:nvPr>
        </p:nvSpPr>
        <p:spPr/>
        <p:txBody>
          <a:bodyPr/>
          <a:lstStyle/>
          <a:p>
            <a:fld id="{29B4355C-3BC3-430F-A9AE-65E4E08468FB}" type="datetimeFigureOut">
              <a:rPr lang="uk-UA" smtClean="0"/>
              <a:t>09.10.20</a:t>
            </a:fld>
            <a:endParaRPr lang="uk-UA"/>
          </a:p>
        </p:txBody>
      </p:sp>
      <p:sp>
        <p:nvSpPr>
          <p:cNvPr id="6" name="Footer Placeholder 5"/>
          <p:cNvSpPr>
            <a:spLocks noGrp="1"/>
          </p:cNvSpPr>
          <p:nvPr>
            <p:ph type="ftr" sz="quarter" idx="11"/>
          </p:nvPr>
        </p:nvSpPr>
        <p:spPr/>
        <p:txBody>
          <a:bodyPr/>
          <a:lstStyle/>
          <a:p>
            <a:r>
              <a:rPr lang="ru-RU"/>
              <a:t>1. Введение</a:t>
            </a:r>
            <a:endParaRPr lang="uk-UA" dirty="0"/>
          </a:p>
        </p:txBody>
      </p:sp>
      <p:sp>
        <p:nvSpPr>
          <p:cNvPr id="7" name="Slide Number Placeholder 6"/>
          <p:cNvSpPr>
            <a:spLocks noGrp="1"/>
          </p:cNvSpPr>
          <p:nvPr>
            <p:ph type="sldNum" sz="quarter" idx="12"/>
          </p:nvPr>
        </p:nvSpPr>
        <p:spPr/>
        <p:txBody>
          <a:bodyPr/>
          <a:lstStyle/>
          <a:p>
            <a:fld id="{C504FE25-A201-4AD1-9B20-AD00DF8E21D9}" type="slidenum">
              <a:rPr lang="uk-UA" smtClean="0"/>
              <a:t>‹#›</a:t>
            </a:fld>
            <a:endParaRPr lang="uk-UA" dirty="0"/>
          </a:p>
        </p:txBody>
      </p:sp>
    </p:spTree>
    <p:extLst>
      <p:ext uri="{BB962C8B-B14F-4D97-AF65-F5344CB8AC3E}">
        <p14:creationId xmlns:p14="http://schemas.microsoft.com/office/powerpoint/2010/main" val="9331833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ru-RU"/>
              <a:t>Образец заголовка</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4" name="Content Placeholder 3"/>
          <p:cNvSpPr>
            <a:spLocks noGrp="1"/>
          </p:cNvSpPr>
          <p:nvPr>
            <p:ph sz="half" idx="2"/>
          </p:nvPr>
        </p:nvSpPr>
        <p:spPr>
          <a:xfrm>
            <a:off x="1097280" y="2582335"/>
            <a:ext cx="4937760" cy="3286760"/>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6" name="Content Placeholder 5"/>
          <p:cNvSpPr>
            <a:spLocks noGrp="1"/>
          </p:cNvSpPr>
          <p:nvPr>
            <p:ph sz="quarter" idx="4"/>
          </p:nvPr>
        </p:nvSpPr>
        <p:spPr>
          <a:xfrm>
            <a:off x="6217920" y="2582334"/>
            <a:ext cx="4937760" cy="3286760"/>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7" name="Date Placeholder 6"/>
          <p:cNvSpPr>
            <a:spLocks noGrp="1"/>
          </p:cNvSpPr>
          <p:nvPr>
            <p:ph type="dt" sz="half" idx="10"/>
          </p:nvPr>
        </p:nvSpPr>
        <p:spPr/>
        <p:txBody>
          <a:bodyPr/>
          <a:lstStyle/>
          <a:p>
            <a:fld id="{29B4355C-3BC3-430F-A9AE-65E4E08468FB}" type="datetimeFigureOut">
              <a:rPr lang="uk-UA" smtClean="0"/>
              <a:t>09.10.20</a:t>
            </a:fld>
            <a:endParaRPr lang="uk-UA"/>
          </a:p>
        </p:txBody>
      </p:sp>
      <p:sp>
        <p:nvSpPr>
          <p:cNvPr id="8" name="Footer Placeholder 7"/>
          <p:cNvSpPr>
            <a:spLocks noGrp="1"/>
          </p:cNvSpPr>
          <p:nvPr>
            <p:ph type="ftr" sz="quarter" idx="11"/>
          </p:nvPr>
        </p:nvSpPr>
        <p:spPr/>
        <p:txBody>
          <a:bodyPr/>
          <a:lstStyle/>
          <a:p>
            <a:r>
              <a:rPr lang="ru-RU"/>
              <a:t>1. Введение</a:t>
            </a:r>
            <a:endParaRPr lang="uk-UA" dirty="0"/>
          </a:p>
        </p:txBody>
      </p:sp>
      <p:sp>
        <p:nvSpPr>
          <p:cNvPr id="9" name="Slide Number Placeholder 8"/>
          <p:cNvSpPr>
            <a:spLocks noGrp="1"/>
          </p:cNvSpPr>
          <p:nvPr>
            <p:ph type="sldNum" sz="quarter" idx="12"/>
          </p:nvPr>
        </p:nvSpPr>
        <p:spPr/>
        <p:txBody>
          <a:bodyPr/>
          <a:lstStyle/>
          <a:p>
            <a:fld id="{C504FE25-A201-4AD1-9B20-AD00DF8E21D9}" type="slidenum">
              <a:rPr lang="uk-UA" smtClean="0"/>
              <a:t>‹#›</a:t>
            </a:fld>
            <a:endParaRPr lang="uk-UA" dirty="0"/>
          </a:p>
        </p:txBody>
      </p:sp>
    </p:spTree>
    <p:extLst>
      <p:ext uri="{BB962C8B-B14F-4D97-AF65-F5344CB8AC3E}">
        <p14:creationId xmlns:p14="http://schemas.microsoft.com/office/powerpoint/2010/main" val="39174515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a:t>Образец заголовка</a:t>
            </a:r>
            <a:endParaRPr lang="en-US" dirty="0"/>
          </a:p>
        </p:txBody>
      </p:sp>
      <p:sp>
        <p:nvSpPr>
          <p:cNvPr id="3" name="Date Placeholder 2"/>
          <p:cNvSpPr>
            <a:spLocks noGrp="1"/>
          </p:cNvSpPr>
          <p:nvPr>
            <p:ph type="dt" sz="half" idx="10"/>
          </p:nvPr>
        </p:nvSpPr>
        <p:spPr/>
        <p:txBody>
          <a:bodyPr/>
          <a:lstStyle/>
          <a:p>
            <a:fld id="{29B4355C-3BC3-430F-A9AE-65E4E08468FB}" type="datetimeFigureOut">
              <a:rPr lang="uk-UA" smtClean="0"/>
              <a:t>09.10.20</a:t>
            </a:fld>
            <a:endParaRPr lang="uk-UA"/>
          </a:p>
        </p:txBody>
      </p:sp>
      <p:sp>
        <p:nvSpPr>
          <p:cNvPr id="4" name="Footer Placeholder 3"/>
          <p:cNvSpPr>
            <a:spLocks noGrp="1"/>
          </p:cNvSpPr>
          <p:nvPr>
            <p:ph type="ftr" sz="quarter" idx="11"/>
          </p:nvPr>
        </p:nvSpPr>
        <p:spPr/>
        <p:txBody>
          <a:bodyPr/>
          <a:lstStyle/>
          <a:p>
            <a:r>
              <a:rPr lang="ru-RU"/>
              <a:t>1. Введение</a:t>
            </a:r>
            <a:endParaRPr lang="uk-UA" dirty="0"/>
          </a:p>
        </p:txBody>
      </p:sp>
      <p:sp>
        <p:nvSpPr>
          <p:cNvPr id="5" name="Slide Number Placeholder 4"/>
          <p:cNvSpPr>
            <a:spLocks noGrp="1"/>
          </p:cNvSpPr>
          <p:nvPr>
            <p:ph type="sldNum" sz="quarter" idx="12"/>
          </p:nvPr>
        </p:nvSpPr>
        <p:spPr/>
        <p:txBody>
          <a:bodyPr/>
          <a:lstStyle/>
          <a:p>
            <a:fld id="{C504FE25-A201-4AD1-9B20-AD00DF8E21D9}" type="slidenum">
              <a:rPr lang="uk-UA" smtClean="0"/>
              <a:t>‹#›</a:t>
            </a:fld>
            <a:endParaRPr lang="uk-UA" dirty="0"/>
          </a:p>
        </p:txBody>
      </p:sp>
    </p:spTree>
    <p:extLst>
      <p:ext uri="{BB962C8B-B14F-4D97-AF65-F5344CB8AC3E}">
        <p14:creationId xmlns:p14="http://schemas.microsoft.com/office/powerpoint/2010/main" val="7891306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Пустой слайд">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29B4355C-3BC3-430F-A9AE-65E4E08468FB}" type="datetimeFigureOut">
              <a:rPr lang="uk-UA" smtClean="0"/>
              <a:t>09.10.20</a:t>
            </a:fld>
            <a:endParaRPr lang="uk-UA"/>
          </a:p>
        </p:txBody>
      </p:sp>
      <p:sp>
        <p:nvSpPr>
          <p:cNvPr id="8" name="Footer Placeholder 7"/>
          <p:cNvSpPr>
            <a:spLocks noGrp="1"/>
          </p:cNvSpPr>
          <p:nvPr>
            <p:ph type="ftr" sz="quarter" idx="11"/>
          </p:nvPr>
        </p:nvSpPr>
        <p:spPr/>
        <p:txBody>
          <a:bodyPr/>
          <a:lstStyle>
            <a:lvl1pPr>
              <a:defRPr>
                <a:solidFill>
                  <a:srgbClr val="FFFFFF"/>
                </a:solidFill>
              </a:defRPr>
            </a:lvl1pPr>
          </a:lstStyle>
          <a:p>
            <a:r>
              <a:rPr lang="ru-RU"/>
              <a:t>1. Введение</a:t>
            </a:r>
            <a:endParaRPr lang="uk-UA" dirty="0"/>
          </a:p>
        </p:txBody>
      </p:sp>
      <p:sp>
        <p:nvSpPr>
          <p:cNvPr id="9" name="Slide Number Placeholder 8"/>
          <p:cNvSpPr>
            <a:spLocks noGrp="1"/>
          </p:cNvSpPr>
          <p:nvPr>
            <p:ph type="sldNum" sz="quarter" idx="12"/>
          </p:nvPr>
        </p:nvSpPr>
        <p:spPr/>
        <p:txBody>
          <a:bodyPr/>
          <a:lstStyle/>
          <a:p>
            <a:fld id="{C504FE25-A201-4AD1-9B20-AD00DF8E21D9}" type="slidenum">
              <a:rPr lang="uk-UA" smtClean="0"/>
              <a:t>‹#›</a:t>
            </a:fld>
            <a:endParaRPr lang="uk-UA" dirty="0"/>
          </a:p>
        </p:txBody>
      </p:sp>
    </p:spTree>
    <p:extLst>
      <p:ext uri="{BB962C8B-B14F-4D97-AF65-F5344CB8AC3E}">
        <p14:creationId xmlns:p14="http://schemas.microsoft.com/office/powerpoint/2010/main" val="20229152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Объект с подписью">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ru-RU"/>
              <a:t>Образец заголовка</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a:t>Образец текста</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29B4355C-3BC3-430F-A9AE-65E4E08468FB}" type="datetimeFigureOut">
              <a:rPr lang="uk-UA" smtClean="0"/>
              <a:t>09.10.20</a:t>
            </a:fld>
            <a:endParaRPr lang="uk-UA"/>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r>
              <a:rPr lang="ru-RU"/>
              <a:t>1. Введение</a:t>
            </a:r>
            <a:endParaRPr lang="uk-UA"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C504FE25-A201-4AD1-9B20-AD00DF8E21D9}" type="slidenum">
              <a:rPr lang="uk-UA" smtClean="0"/>
              <a:t>‹#›</a:t>
            </a:fld>
            <a:endParaRPr lang="uk-UA" dirty="0"/>
          </a:p>
        </p:txBody>
      </p:sp>
    </p:spTree>
    <p:extLst>
      <p:ext uri="{BB962C8B-B14F-4D97-AF65-F5344CB8AC3E}">
        <p14:creationId xmlns:p14="http://schemas.microsoft.com/office/powerpoint/2010/main" val="33333143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Рисунок с подписью">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645" cy="822960"/>
          </a:xfrm>
        </p:spPr>
        <p:txBody>
          <a:bodyPr tIns="0" bIns="0" anchor="b">
            <a:noAutofit/>
          </a:bodyPr>
          <a:lstStyle>
            <a:lvl1pPr>
              <a:defRPr sz="3600" b="0">
                <a:solidFill>
                  <a:srgbClr val="FFFFFF"/>
                </a:solidFill>
              </a:defRPr>
            </a:lvl1pPr>
          </a:lstStyle>
          <a:p>
            <a:r>
              <a:rPr lang="ru-RU"/>
              <a:t>Образец заголовка</a:t>
            </a:r>
            <a:endParaRPr lang="en-US" dirty="0"/>
          </a:p>
        </p:txBody>
      </p:sp>
      <p:sp>
        <p:nvSpPr>
          <p:cNvPr id="3" name="Picture Placeholder 2"/>
          <p:cNvSpPr>
            <a:spLocks noGrp="1" noChangeAspect="1"/>
          </p:cNvSpPr>
          <p:nvPr>
            <p:ph type="pic" idx="1"/>
          </p:nvPr>
        </p:nvSpPr>
        <p:spPr>
          <a:xfrm>
            <a:off x="15" y="0"/>
            <a:ext cx="12191985" cy="4915076"/>
          </a:xfrm>
          <a:solidFill>
            <a:schemeClr val="bg2">
              <a:lumMod val="90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ru-RU"/>
              <a:t>Вставка рисунка</a:t>
            </a:r>
            <a:endParaRPr lang="en-US" dirty="0"/>
          </a:p>
        </p:txBody>
      </p:sp>
      <p:sp>
        <p:nvSpPr>
          <p:cNvPr id="4" name="Text Placeholder 3"/>
          <p:cNvSpPr>
            <a:spLocks noGrp="1"/>
          </p:cNvSpPr>
          <p:nvPr>
            <p:ph type="body" sz="half" idx="2"/>
          </p:nvPr>
        </p:nvSpPr>
        <p:spPr>
          <a:xfrm>
            <a:off x="1097280" y="5907024"/>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a:t>Образец текста</a:t>
            </a:r>
          </a:p>
        </p:txBody>
      </p:sp>
      <p:sp>
        <p:nvSpPr>
          <p:cNvPr id="5" name="Date Placeholder 4"/>
          <p:cNvSpPr>
            <a:spLocks noGrp="1"/>
          </p:cNvSpPr>
          <p:nvPr>
            <p:ph type="dt" sz="half" idx="10"/>
          </p:nvPr>
        </p:nvSpPr>
        <p:spPr/>
        <p:txBody>
          <a:bodyPr/>
          <a:lstStyle/>
          <a:p>
            <a:fld id="{29B4355C-3BC3-430F-A9AE-65E4E08468FB}" type="datetimeFigureOut">
              <a:rPr lang="uk-UA" smtClean="0"/>
              <a:t>09.10.20</a:t>
            </a:fld>
            <a:endParaRPr lang="uk-UA"/>
          </a:p>
        </p:txBody>
      </p:sp>
      <p:sp>
        <p:nvSpPr>
          <p:cNvPr id="6" name="Footer Placeholder 5"/>
          <p:cNvSpPr>
            <a:spLocks noGrp="1"/>
          </p:cNvSpPr>
          <p:nvPr>
            <p:ph type="ftr" sz="quarter" idx="11"/>
          </p:nvPr>
        </p:nvSpPr>
        <p:spPr/>
        <p:txBody>
          <a:bodyPr/>
          <a:lstStyle/>
          <a:p>
            <a:r>
              <a:rPr lang="ru-RU"/>
              <a:t>1. Введение</a:t>
            </a:r>
            <a:endParaRPr lang="uk-UA" dirty="0"/>
          </a:p>
        </p:txBody>
      </p:sp>
      <p:sp>
        <p:nvSpPr>
          <p:cNvPr id="7" name="Slide Number Placeholder 6"/>
          <p:cNvSpPr>
            <a:spLocks noGrp="1"/>
          </p:cNvSpPr>
          <p:nvPr>
            <p:ph type="sldNum" sz="quarter" idx="12"/>
          </p:nvPr>
        </p:nvSpPr>
        <p:spPr/>
        <p:txBody>
          <a:bodyPr/>
          <a:lstStyle/>
          <a:p>
            <a:fld id="{C504FE25-A201-4AD1-9B20-AD00DF8E21D9}" type="slidenum">
              <a:rPr lang="uk-UA" smtClean="0"/>
              <a:t>‹#›</a:t>
            </a:fld>
            <a:endParaRPr lang="uk-UA" dirty="0"/>
          </a:p>
        </p:txBody>
      </p:sp>
    </p:spTree>
    <p:extLst>
      <p:ext uri="{BB962C8B-B14F-4D97-AF65-F5344CB8AC3E}">
        <p14:creationId xmlns:p14="http://schemas.microsoft.com/office/powerpoint/2010/main" val="39397928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a:t>Образец заголовка</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10"/>
          </p:nvPr>
        </p:nvSpPr>
        <p:spPr/>
        <p:txBody>
          <a:bodyPr/>
          <a:lstStyle/>
          <a:p>
            <a:fld id="{29B4355C-3BC3-430F-A9AE-65E4E08468FB}" type="datetimeFigureOut">
              <a:rPr lang="uk-UA" smtClean="0"/>
              <a:t>09.10.20</a:t>
            </a:fld>
            <a:endParaRPr lang="uk-UA"/>
          </a:p>
        </p:txBody>
      </p:sp>
      <p:sp>
        <p:nvSpPr>
          <p:cNvPr id="5" name="Footer Placeholder 4"/>
          <p:cNvSpPr>
            <a:spLocks noGrp="1"/>
          </p:cNvSpPr>
          <p:nvPr>
            <p:ph type="ftr" sz="quarter" idx="11"/>
          </p:nvPr>
        </p:nvSpPr>
        <p:spPr/>
        <p:txBody>
          <a:bodyPr/>
          <a:lstStyle/>
          <a:p>
            <a:r>
              <a:rPr lang="ru-RU"/>
              <a:t>1. Введение</a:t>
            </a:r>
            <a:endParaRPr lang="uk-UA" dirty="0"/>
          </a:p>
        </p:txBody>
      </p:sp>
      <p:sp>
        <p:nvSpPr>
          <p:cNvPr id="6" name="Slide Number Placeholder 5"/>
          <p:cNvSpPr>
            <a:spLocks noGrp="1"/>
          </p:cNvSpPr>
          <p:nvPr>
            <p:ph type="sldNum" sz="quarter" idx="12"/>
          </p:nvPr>
        </p:nvSpPr>
        <p:spPr/>
        <p:txBody>
          <a:bodyPr/>
          <a:lstStyle/>
          <a:p>
            <a:fld id="{C504FE25-A201-4AD1-9B20-AD00DF8E21D9}" type="slidenum">
              <a:rPr lang="uk-UA" smtClean="0"/>
              <a:t>‹#›</a:t>
            </a:fld>
            <a:endParaRPr lang="uk-UA" dirty="0"/>
          </a:p>
        </p:txBody>
      </p:sp>
    </p:spTree>
    <p:extLst>
      <p:ext uri="{BB962C8B-B14F-4D97-AF65-F5344CB8AC3E}">
        <p14:creationId xmlns:p14="http://schemas.microsoft.com/office/powerpoint/2010/main" val="24967511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Вертикальный заголовок и текст">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2302"/>
            <a:ext cx="2628900" cy="5759898"/>
          </a:xfrm>
        </p:spPr>
        <p:txBody>
          <a:bodyPr vert="eaVert"/>
          <a:lstStyle/>
          <a:p>
            <a:r>
              <a:rPr lang="ru-RU"/>
              <a:t>Образец заголовка</a:t>
            </a:r>
            <a:endParaRPr lang="en-US" dirty="0"/>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10"/>
          </p:nvPr>
        </p:nvSpPr>
        <p:spPr/>
        <p:txBody>
          <a:bodyPr/>
          <a:lstStyle/>
          <a:p>
            <a:fld id="{29B4355C-3BC3-430F-A9AE-65E4E08468FB}" type="datetimeFigureOut">
              <a:rPr lang="uk-UA" smtClean="0"/>
              <a:t>09.10.20</a:t>
            </a:fld>
            <a:endParaRPr lang="uk-UA"/>
          </a:p>
        </p:txBody>
      </p:sp>
      <p:sp>
        <p:nvSpPr>
          <p:cNvPr id="5" name="Footer Placeholder 4"/>
          <p:cNvSpPr>
            <a:spLocks noGrp="1"/>
          </p:cNvSpPr>
          <p:nvPr>
            <p:ph type="ftr" sz="quarter" idx="11"/>
          </p:nvPr>
        </p:nvSpPr>
        <p:spPr/>
        <p:txBody>
          <a:bodyPr/>
          <a:lstStyle/>
          <a:p>
            <a:r>
              <a:rPr lang="ru-RU"/>
              <a:t>1. Введение</a:t>
            </a:r>
            <a:endParaRPr lang="uk-UA" dirty="0"/>
          </a:p>
        </p:txBody>
      </p:sp>
      <p:sp>
        <p:nvSpPr>
          <p:cNvPr id="6" name="Slide Number Placeholder 5"/>
          <p:cNvSpPr>
            <a:spLocks noGrp="1"/>
          </p:cNvSpPr>
          <p:nvPr>
            <p:ph type="sldNum" sz="quarter" idx="12"/>
          </p:nvPr>
        </p:nvSpPr>
        <p:spPr/>
        <p:txBody>
          <a:bodyPr/>
          <a:lstStyle/>
          <a:p>
            <a:fld id="{C504FE25-A201-4AD1-9B20-AD00DF8E21D9}" type="slidenum">
              <a:rPr lang="uk-UA" smtClean="0"/>
              <a:t>‹#›</a:t>
            </a:fld>
            <a:endParaRPr lang="uk-UA" dirty="0"/>
          </a:p>
        </p:txBody>
      </p:sp>
    </p:spTree>
    <p:extLst>
      <p:ext uri="{BB962C8B-B14F-4D97-AF65-F5344CB8AC3E}">
        <p14:creationId xmlns:p14="http://schemas.microsoft.com/office/powerpoint/2010/main" val="1544987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ru-RU"/>
              <a:t>Образец заголовка</a:t>
            </a:r>
            <a:endParaRPr lang="en-US" dirty="0"/>
          </a:p>
        </p:txBody>
      </p:sp>
      <p:sp>
        <p:nvSpPr>
          <p:cNvPr id="3" name="Text Placeholder 2"/>
          <p:cNvSpPr>
            <a:spLocks noGrp="1"/>
          </p:cNvSpPr>
          <p:nvPr>
            <p:ph type="body" idx="1"/>
          </p:nvPr>
        </p:nvSpPr>
        <p:spPr>
          <a:xfrm>
            <a:off x="1097280" y="1924594"/>
            <a:ext cx="10058400" cy="3944500"/>
          </a:xfrm>
          <a:prstGeom prst="rect">
            <a:avLst/>
          </a:prstGeom>
        </p:spPr>
        <p:txBody>
          <a:bodyPr vert="horz" lIns="0" tIns="45720" rIns="0" bIns="45720" rtlCol="0">
            <a:normAutofit/>
          </a:bodyPr>
          <a:lstStyle/>
          <a:p>
            <a:pPr lvl="0"/>
            <a:r>
              <a:rPr lang="ru-RU" dirty="0"/>
              <a:t>Образец текста</a:t>
            </a:r>
          </a:p>
          <a:p>
            <a:pPr lvl="1"/>
            <a:r>
              <a:rPr lang="ru-RU" dirty="0"/>
              <a:t>Второй уровень</a:t>
            </a:r>
          </a:p>
          <a:p>
            <a:pPr lvl="2"/>
            <a:r>
              <a:rPr lang="ru-RU" dirty="0"/>
              <a:t>Третий уровень</a:t>
            </a:r>
          </a:p>
          <a:p>
            <a:pPr lvl="3"/>
            <a:r>
              <a:rPr lang="ru-RU" dirty="0"/>
              <a:t>Четвертый уровень</a:t>
            </a:r>
          </a:p>
          <a:p>
            <a:pPr lvl="4"/>
            <a:r>
              <a:rPr lang="ru-RU" dirty="0"/>
              <a:t>Пятый уровень</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29B4355C-3BC3-430F-A9AE-65E4E08468FB}" type="datetimeFigureOut">
              <a:rPr lang="uk-UA" smtClean="0"/>
              <a:t>09.10.20</a:t>
            </a:fld>
            <a:endParaRPr lang="uk-UA"/>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r>
              <a:rPr lang="ru-RU"/>
              <a:t>1. Введение</a:t>
            </a:r>
            <a:endParaRPr lang="uk-UA" dirty="0"/>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C504FE25-A201-4AD1-9B20-AD00DF8E21D9}" type="slidenum">
              <a:rPr lang="uk-UA" smtClean="0"/>
              <a:t>‹#›</a:t>
            </a:fld>
            <a:endParaRPr lang="uk-UA" dirty="0"/>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58875031"/>
      </p:ext>
    </p:extLst>
  </p:cSld>
  <p:clrMap bg1="lt1" tx1="dk1" bg2="lt2" tx2="dk2" accent1="accent1" accent2="accent2" accent3="accent3" accent4="accent4" accent5="accent5" accent6="accent6" hlink="hlink" folHlink="folHlink"/>
  <p:sldLayoutIdLst>
    <p:sldLayoutId id="2147483691" r:id="rId1"/>
    <p:sldLayoutId id="2147483692" r:id="rId2"/>
    <p:sldLayoutId id="2147483693" r:id="rId3"/>
    <p:sldLayoutId id="2147483694" r:id="rId4"/>
    <p:sldLayoutId id="2147483695" r:id="rId5"/>
    <p:sldLayoutId id="2147483696" r:id="rId6"/>
    <p:sldLayoutId id="2147483697" r:id="rId7"/>
    <p:sldLayoutId id="2147483698" r:id="rId8"/>
    <p:sldLayoutId id="2147483699" r:id="rId9"/>
    <p:sldLayoutId id="2147483700" r:id="rId10"/>
    <p:sldLayoutId id="2147483701"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342900" indent="-342900" algn="l" defTabSz="914400" rtl="0" eaLnBrk="1" latinLnBrk="0" hangingPunct="1">
        <a:lnSpc>
          <a:spcPct val="100000"/>
        </a:lnSpc>
        <a:spcBef>
          <a:spcPts val="1200"/>
        </a:spcBef>
        <a:spcAft>
          <a:spcPts val="200"/>
        </a:spcAft>
        <a:buClr>
          <a:schemeClr val="accent1"/>
        </a:buClr>
        <a:buSzPct val="100000"/>
        <a:buFont typeface="Arial" panose="020B0604020202020204" pitchFamily="34" charset="0"/>
        <a:buChar char="•"/>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jfif"/><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8.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hyperlink" Target="https://myalm.ru/news/%D0%9C%D0%B0%D1%82%D1%80%D0%B8%D1%86%D0%B0-%D1%82%D1%80%D0%B0%D1%81%D1%81%D0%B8%D1%80%D1%83%D0%B5%D0%BC%D0%BE%D1%81%D1%82%D0%B8-traceability-matrix" TargetMode="External"/><Relationship Id="rId2" Type="http://schemas.openxmlformats.org/officeDocument/2006/relationships/hyperlink" Target="http://vuzirossii.ru/publ/faktory_riska_pri_razrabotke_programmnogo_obespechenija/38-1-0-5362" TargetMode="External"/><Relationship Id="rId1" Type="http://schemas.openxmlformats.org/officeDocument/2006/relationships/slideLayout" Target="../slideLayouts/slideLayout2.xml"/><Relationship Id="rId4" Type="http://schemas.openxmlformats.org/officeDocument/2006/relationships/hyperlink" Target="http://tmguru.ru/baza-znanij/protsess-testirovaniya/monitoring-kontrol/traceability-matrix/"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0000"/>
                <a:lumMod val="110000"/>
              </a:schemeClr>
            </a:gs>
            <a:gs pos="100000">
              <a:schemeClr val="bg1">
                <a:lumMod val="85000"/>
              </a:schemeClr>
            </a:gs>
          </a:gsLst>
          <a:lin ang="5400000" scaled="0"/>
        </a:gradFill>
        <a:effectLst/>
      </p:bgPr>
    </p:bg>
    <p:spTree>
      <p:nvGrpSpPr>
        <p:cNvPr id="1" name=""/>
        <p:cNvGrpSpPr/>
        <p:nvPr/>
      </p:nvGrpSpPr>
      <p:grpSpPr>
        <a:xfrm>
          <a:off x="0" y="0"/>
          <a:ext cx="0" cy="0"/>
          <a:chOff x="0" y="0"/>
          <a:chExt cx="0" cy="0"/>
        </a:xfrm>
      </p:grpSpPr>
      <p:sp>
        <p:nvSpPr>
          <p:cNvPr id="2" name="Заголовок 1"/>
          <p:cNvSpPr>
            <a:spLocks noGrp="1"/>
          </p:cNvSpPr>
          <p:nvPr>
            <p:ph type="ctrTitle"/>
          </p:nvPr>
        </p:nvSpPr>
        <p:spPr>
          <a:xfrm>
            <a:off x="1286933" y="2213361"/>
            <a:ext cx="8588587" cy="2204815"/>
          </a:xfrm>
        </p:spPr>
        <p:txBody>
          <a:bodyPr>
            <a:normAutofit/>
          </a:bodyPr>
          <a:lstStyle/>
          <a:p>
            <a:pPr algn="l"/>
            <a:r>
              <a:rPr lang="ru-RU" dirty="0"/>
              <a:t>Риски и изменения требований</a:t>
            </a:r>
            <a:endParaRPr lang="uk-UA" dirty="0"/>
          </a:p>
        </p:txBody>
      </p:sp>
      <p:sp>
        <p:nvSpPr>
          <p:cNvPr id="3" name="Подзаголовок 2"/>
          <p:cNvSpPr>
            <a:spLocks noGrp="1"/>
          </p:cNvSpPr>
          <p:nvPr>
            <p:ph type="subTitle" idx="1"/>
          </p:nvPr>
        </p:nvSpPr>
        <p:spPr>
          <a:xfrm>
            <a:off x="1286934" y="4418176"/>
            <a:ext cx="6247721" cy="1264209"/>
          </a:xfrm>
        </p:spPr>
        <p:txBody>
          <a:bodyPr>
            <a:normAutofit/>
          </a:bodyPr>
          <a:lstStyle/>
          <a:p>
            <a:pPr algn="l"/>
            <a:r>
              <a:rPr lang="ru-RU" dirty="0">
                <a:solidFill>
                  <a:schemeClr val="tx1">
                    <a:lumMod val="50000"/>
                    <a:lumOff val="50000"/>
                  </a:schemeClr>
                </a:solidFill>
              </a:rPr>
              <a:t>Как избежать неприятностей</a:t>
            </a:r>
          </a:p>
        </p:txBody>
      </p:sp>
    </p:spTree>
    <p:extLst>
      <p:ext uri="{BB962C8B-B14F-4D97-AF65-F5344CB8AC3E}">
        <p14:creationId xmlns:p14="http://schemas.microsoft.com/office/powerpoint/2010/main" val="6437003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a:t>Риски и изменения требований</a:t>
            </a:r>
            <a:endParaRPr lang="uk-UA" dirty="0"/>
          </a:p>
        </p:txBody>
      </p:sp>
      <p:sp>
        <p:nvSpPr>
          <p:cNvPr id="3" name="Объект 2"/>
          <p:cNvSpPr>
            <a:spLocks noGrp="1"/>
          </p:cNvSpPr>
          <p:nvPr>
            <p:ph idx="1"/>
          </p:nvPr>
        </p:nvSpPr>
        <p:spPr/>
        <p:txBody>
          <a:bodyPr/>
          <a:lstStyle/>
          <a:p>
            <a:r>
              <a:rPr lang="ru-RU" dirty="0"/>
              <a:t>Риски: определение и виды</a:t>
            </a:r>
          </a:p>
          <a:p>
            <a:r>
              <a:rPr lang="en-US" dirty="0"/>
              <a:t>Risk management</a:t>
            </a:r>
            <a:endParaRPr lang="uk-UA" dirty="0"/>
          </a:p>
          <a:p>
            <a:r>
              <a:rPr lang="en-US" dirty="0"/>
              <a:t>Traceability Matrix</a:t>
            </a:r>
            <a:endParaRPr lang="ru-RU" dirty="0"/>
          </a:p>
          <a:p>
            <a:r>
              <a:rPr lang="en-US" dirty="0"/>
              <a:t>Impact Analysis</a:t>
            </a:r>
            <a:endParaRPr lang="uk-UA" dirty="0"/>
          </a:p>
          <a:p>
            <a:r>
              <a:rPr lang="en-US"/>
              <a:t>Gap Analysis</a:t>
            </a:r>
            <a:endParaRPr lang="uk-UA" dirty="0"/>
          </a:p>
        </p:txBody>
      </p:sp>
    </p:spTree>
    <p:extLst>
      <p:ext uri="{BB962C8B-B14F-4D97-AF65-F5344CB8AC3E}">
        <p14:creationId xmlns:p14="http://schemas.microsoft.com/office/powerpoint/2010/main" val="35195626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0000"/>
                <a:lumMod val="110000"/>
              </a:schemeClr>
            </a:gs>
            <a:gs pos="100000">
              <a:schemeClr val="bg1">
                <a:shade val="64000"/>
                <a:lumMod val="88000"/>
              </a:schemeClr>
            </a:gs>
          </a:gsLst>
          <a:lin ang="5400000" scaled="0"/>
        </a:grad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1F395E0-10E0-4863-BE52-0F4A27981962}"/>
              </a:ext>
            </a:extLst>
          </p:cNvPr>
          <p:cNvSpPr>
            <a:spLocks noGrp="1"/>
          </p:cNvSpPr>
          <p:nvPr>
            <p:ph type="ctrTitle"/>
          </p:nvPr>
        </p:nvSpPr>
        <p:spPr>
          <a:xfrm>
            <a:off x="1286933" y="2213361"/>
            <a:ext cx="6247721" cy="2204815"/>
          </a:xfrm>
        </p:spPr>
        <p:txBody>
          <a:bodyPr>
            <a:normAutofit/>
          </a:bodyPr>
          <a:lstStyle/>
          <a:p>
            <a:pPr algn="l"/>
            <a:r>
              <a:rPr lang="ru-RU" sz="4400" dirty="0"/>
              <a:t>Риски</a:t>
            </a:r>
            <a:endParaRPr lang="en-US" sz="4400" dirty="0"/>
          </a:p>
        </p:txBody>
      </p:sp>
      <p:sp>
        <p:nvSpPr>
          <p:cNvPr id="5" name="Text Placeholder 4">
            <a:extLst>
              <a:ext uri="{FF2B5EF4-FFF2-40B4-BE49-F238E27FC236}">
                <a16:creationId xmlns:a16="http://schemas.microsoft.com/office/drawing/2014/main" id="{B668B4C7-CF60-413E-BF81-3742A22D589A}"/>
              </a:ext>
            </a:extLst>
          </p:cNvPr>
          <p:cNvSpPr>
            <a:spLocks noGrp="1"/>
          </p:cNvSpPr>
          <p:nvPr>
            <p:ph type="subTitle" idx="1"/>
          </p:nvPr>
        </p:nvSpPr>
        <p:spPr>
          <a:xfrm>
            <a:off x="1286934" y="4418176"/>
            <a:ext cx="6247721" cy="1264209"/>
          </a:xfrm>
        </p:spPr>
        <p:txBody>
          <a:bodyPr>
            <a:normAutofit/>
          </a:bodyPr>
          <a:lstStyle/>
          <a:p>
            <a:pPr algn="l"/>
            <a:r>
              <a:rPr lang="ru-RU" dirty="0"/>
              <a:t>Определение и виды рисков</a:t>
            </a:r>
            <a:endParaRPr lang="uk-UA" dirty="0"/>
          </a:p>
        </p:txBody>
      </p:sp>
    </p:spTree>
    <p:extLst>
      <p:ext uri="{BB962C8B-B14F-4D97-AF65-F5344CB8AC3E}">
        <p14:creationId xmlns:p14="http://schemas.microsoft.com/office/powerpoint/2010/main" val="17247021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E7FF19-E7FA-4DEB-B8F0-63B1D4133996}"/>
              </a:ext>
            </a:extLst>
          </p:cNvPr>
          <p:cNvSpPr>
            <a:spLocks noGrp="1"/>
          </p:cNvSpPr>
          <p:nvPr>
            <p:ph type="title"/>
          </p:nvPr>
        </p:nvSpPr>
        <p:spPr/>
        <p:txBody>
          <a:bodyPr/>
          <a:lstStyle/>
          <a:p>
            <a:r>
              <a:rPr lang="en-US" dirty="0"/>
              <a:t>Risk</a:t>
            </a:r>
            <a:r>
              <a:rPr lang="ru-RU" dirty="0"/>
              <a:t> /Риск</a:t>
            </a:r>
            <a:endParaRPr lang="en-US" dirty="0"/>
          </a:p>
        </p:txBody>
      </p:sp>
      <p:sp>
        <p:nvSpPr>
          <p:cNvPr id="3" name="Content Placeholder 2">
            <a:extLst>
              <a:ext uri="{FF2B5EF4-FFF2-40B4-BE49-F238E27FC236}">
                <a16:creationId xmlns:a16="http://schemas.microsoft.com/office/drawing/2014/main" id="{656DF56C-DD95-4D18-A1C8-92374F4F86F9}"/>
              </a:ext>
            </a:extLst>
          </p:cNvPr>
          <p:cNvSpPr>
            <a:spLocks noGrp="1"/>
          </p:cNvSpPr>
          <p:nvPr>
            <p:ph sz="half" idx="1"/>
          </p:nvPr>
        </p:nvSpPr>
        <p:spPr/>
        <p:txBody>
          <a:bodyPr>
            <a:normAutofit/>
          </a:bodyPr>
          <a:lstStyle/>
          <a:p>
            <a:pPr marL="0" indent="0">
              <a:buNone/>
            </a:pPr>
            <a:r>
              <a:rPr lang="ru-RU" dirty="0"/>
              <a:t>—  это условие, которое может повлечь какие-либо потери или другим способом поставить под угрозу успех проекта. Это условие еще не породило проблему, и нужно, чтобы так оно и оставалось. Эти потенциальные проблемы могут оказать неблагоприятное воздействие на стоимость, сроки, технический успех, качество продукта или эффективность работы команды.</a:t>
            </a:r>
          </a:p>
          <a:p>
            <a:pPr marL="0" indent="0" algn="r">
              <a:buNone/>
            </a:pPr>
            <a:r>
              <a:rPr lang="ru-RU" dirty="0"/>
              <a:t>(с) К. </a:t>
            </a:r>
            <a:r>
              <a:rPr lang="ru-RU" dirty="0" err="1"/>
              <a:t>Вигерс</a:t>
            </a:r>
            <a:r>
              <a:rPr lang="ru-RU" dirty="0"/>
              <a:t>, Дж. Битти</a:t>
            </a:r>
            <a:endParaRPr lang="en-US" dirty="0"/>
          </a:p>
        </p:txBody>
      </p:sp>
      <p:sp>
        <p:nvSpPr>
          <p:cNvPr id="4" name="Объект 3"/>
          <p:cNvSpPr>
            <a:spLocks noGrp="1"/>
          </p:cNvSpPr>
          <p:nvPr>
            <p:ph sz="half" idx="2"/>
          </p:nvPr>
        </p:nvSpPr>
        <p:spPr/>
        <p:txBody>
          <a:bodyPr>
            <a:normAutofit/>
          </a:bodyPr>
          <a:lstStyle/>
          <a:p>
            <a:pPr marL="0" indent="0">
              <a:buNone/>
            </a:pPr>
            <a:r>
              <a:rPr lang="ru-RU" dirty="0"/>
              <a:t>— это влияние неопределенности на ценность изменения, на Решение или на предприятие.</a:t>
            </a:r>
          </a:p>
          <a:p>
            <a:pPr marL="0" indent="0" algn="r">
              <a:buNone/>
            </a:pPr>
            <a:r>
              <a:rPr lang="ru-RU" dirty="0"/>
              <a:t>(с) ВАВОК</a:t>
            </a:r>
            <a:endParaRPr lang="uk-UA" dirty="0"/>
          </a:p>
        </p:txBody>
      </p:sp>
    </p:spTree>
    <p:extLst>
      <p:ext uri="{BB962C8B-B14F-4D97-AF65-F5344CB8AC3E}">
        <p14:creationId xmlns:p14="http://schemas.microsoft.com/office/powerpoint/2010/main" val="12144982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Заголовок 4"/>
          <p:cNvSpPr>
            <a:spLocks noGrp="1"/>
          </p:cNvSpPr>
          <p:nvPr>
            <p:ph type="title"/>
          </p:nvPr>
        </p:nvSpPr>
        <p:spPr/>
        <p:txBody>
          <a:bodyPr/>
          <a:lstStyle/>
          <a:p>
            <a:r>
              <a:rPr lang="ru-RU" dirty="0"/>
              <a:t>Какие бывают риски</a:t>
            </a:r>
            <a:endParaRPr lang="uk-UA" dirty="0"/>
          </a:p>
        </p:txBody>
      </p:sp>
      <p:sp>
        <p:nvSpPr>
          <p:cNvPr id="6" name="Объект 5"/>
          <p:cNvSpPr>
            <a:spLocks noGrp="1"/>
          </p:cNvSpPr>
          <p:nvPr>
            <p:ph idx="1"/>
          </p:nvPr>
        </p:nvSpPr>
        <p:spPr/>
        <p:txBody>
          <a:bodyPr>
            <a:normAutofit/>
          </a:bodyPr>
          <a:lstStyle/>
          <a:p>
            <a:r>
              <a:rPr lang="ru-RU" dirty="0"/>
              <a:t>Бюджет</a:t>
            </a:r>
          </a:p>
          <a:p>
            <a:r>
              <a:rPr lang="ru-RU" dirty="0"/>
              <a:t>Кадры</a:t>
            </a:r>
          </a:p>
          <a:p>
            <a:r>
              <a:rPr lang="ru-RU" dirty="0"/>
              <a:t>Экспертиза</a:t>
            </a:r>
          </a:p>
          <a:p>
            <a:r>
              <a:rPr lang="ru-RU" dirty="0"/>
              <a:t>Продуктивность</a:t>
            </a:r>
          </a:p>
          <a:p>
            <a:r>
              <a:rPr lang="ru-RU" dirty="0"/>
              <a:t>Время</a:t>
            </a:r>
          </a:p>
          <a:p>
            <a:r>
              <a:rPr lang="ru-RU" dirty="0"/>
              <a:t>Планирование</a:t>
            </a:r>
          </a:p>
          <a:p>
            <a:r>
              <a:rPr lang="ru-RU" dirty="0"/>
              <a:t>Внешние факторы</a:t>
            </a:r>
          </a:p>
          <a:p>
            <a:r>
              <a:rPr lang="ru-RU" dirty="0"/>
              <a:t>Требования </a:t>
            </a:r>
          </a:p>
        </p:txBody>
      </p:sp>
    </p:spTree>
    <p:extLst>
      <p:ext uri="{BB962C8B-B14F-4D97-AF65-F5344CB8AC3E}">
        <p14:creationId xmlns:p14="http://schemas.microsoft.com/office/powerpoint/2010/main" val="16992417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Заголовок 4"/>
          <p:cNvSpPr>
            <a:spLocks noGrp="1"/>
          </p:cNvSpPr>
          <p:nvPr>
            <p:ph type="title"/>
          </p:nvPr>
        </p:nvSpPr>
        <p:spPr/>
        <p:txBody>
          <a:bodyPr/>
          <a:lstStyle/>
          <a:p>
            <a:r>
              <a:rPr lang="ru-RU" dirty="0"/>
              <a:t>Риски, связанные с требованиями</a:t>
            </a:r>
            <a:endParaRPr lang="uk-UA" dirty="0"/>
          </a:p>
        </p:txBody>
      </p:sp>
      <p:sp>
        <p:nvSpPr>
          <p:cNvPr id="6" name="Объект 5"/>
          <p:cNvSpPr>
            <a:spLocks noGrp="1"/>
          </p:cNvSpPr>
          <p:nvPr>
            <p:ph idx="1"/>
          </p:nvPr>
        </p:nvSpPr>
        <p:spPr/>
        <p:txBody>
          <a:bodyPr>
            <a:normAutofit fontScale="92500" lnSpcReduction="10000"/>
          </a:bodyPr>
          <a:lstStyle/>
          <a:p>
            <a:r>
              <a:rPr lang="ru-RU" dirty="0"/>
              <a:t>Неопределенность приходящих требований</a:t>
            </a:r>
          </a:p>
          <a:p>
            <a:r>
              <a:rPr lang="ru-RU" dirty="0"/>
              <a:t>Частые изменения</a:t>
            </a:r>
          </a:p>
          <a:p>
            <a:r>
              <a:rPr lang="ru-RU" dirty="0"/>
              <a:t>Большое количество источников требования</a:t>
            </a:r>
          </a:p>
          <a:p>
            <a:r>
              <a:rPr lang="ru-RU" dirty="0"/>
              <a:t>Противоречивость приходящих требований</a:t>
            </a:r>
          </a:p>
          <a:p>
            <a:r>
              <a:rPr lang="ru-RU" dirty="0"/>
              <a:t>Неформальная, неоднозначная документация</a:t>
            </a:r>
          </a:p>
          <a:p>
            <a:r>
              <a:rPr lang="ru-RU" dirty="0"/>
              <a:t>Неактуальная документация</a:t>
            </a:r>
          </a:p>
          <a:p>
            <a:r>
              <a:rPr lang="ru-RU" dirty="0"/>
              <a:t>Отсутствие полного источника требований (спецификации, базы знаний)</a:t>
            </a:r>
          </a:p>
          <a:p>
            <a:r>
              <a:rPr lang="ru-RU" dirty="0"/>
              <a:t>Разрозненное хранение требований</a:t>
            </a:r>
          </a:p>
          <a:p>
            <a:r>
              <a:rPr lang="ru-RU" dirty="0"/>
              <a:t>Упущенные нефункциональные требования</a:t>
            </a:r>
          </a:p>
          <a:p>
            <a:endParaRPr lang="ru-RU" dirty="0"/>
          </a:p>
        </p:txBody>
      </p:sp>
    </p:spTree>
    <p:extLst>
      <p:ext uri="{BB962C8B-B14F-4D97-AF65-F5344CB8AC3E}">
        <p14:creationId xmlns:p14="http://schemas.microsoft.com/office/powerpoint/2010/main" val="4674206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0000"/>
                <a:lumMod val="110000"/>
              </a:schemeClr>
            </a:gs>
            <a:gs pos="100000">
              <a:schemeClr val="bg1">
                <a:lumMod val="85000"/>
              </a:schemeClr>
            </a:gs>
          </a:gsLst>
          <a:lin ang="5400000" scaled="0"/>
        </a:gradFill>
        <a:effectLst/>
      </p:bgPr>
    </p:bg>
    <p:spTree>
      <p:nvGrpSpPr>
        <p:cNvPr id="1" name=""/>
        <p:cNvGrpSpPr/>
        <p:nvPr/>
      </p:nvGrpSpPr>
      <p:grpSpPr>
        <a:xfrm>
          <a:off x="0" y="0"/>
          <a:ext cx="0" cy="0"/>
          <a:chOff x="0" y="0"/>
          <a:chExt cx="0" cy="0"/>
        </a:xfrm>
      </p:grpSpPr>
      <p:sp>
        <p:nvSpPr>
          <p:cNvPr id="2" name="Заголовок 1"/>
          <p:cNvSpPr>
            <a:spLocks noGrp="1"/>
          </p:cNvSpPr>
          <p:nvPr>
            <p:ph type="ctrTitle"/>
          </p:nvPr>
        </p:nvSpPr>
        <p:spPr>
          <a:xfrm>
            <a:off x="1286933" y="2213361"/>
            <a:ext cx="7787398" cy="2204815"/>
          </a:xfrm>
        </p:spPr>
        <p:txBody>
          <a:bodyPr>
            <a:normAutofit/>
          </a:bodyPr>
          <a:lstStyle/>
          <a:p>
            <a:pPr algn="l"/>
            <a:r>
              <a:rPr lang="en-US" dirty="0"/>
              <a:t>Risk management</a:t>
            </a:r>
            <a:endParaRPr lang="uk-UA" dirty="0"/>
          </a:p>
        </p:txBody>
      </p:sp>
      <p:sp>
        <p:nvSpPr>
          <p:cNvPr id="3" name="Подзаголовок 2"/>
          <p:cNvSpPr>
            <a:spLocks noGrp="1"/>
          </p:cNvSpPr>
          <p:nvPr>
            <p:ph type="subTitle" idx="1"/>
          </p:nvPr>
        </p:nvSpPr>
        <p:spPr>
          <a:xfrm>
            <a:off x="1286934" y="4418176"/>
            <a:ext cx="6247721" cy="1264209"/>
          </a:xfrm>
        </p:spPr>
        <p:txBody>
          <a:bodyPr>
            <a:normAutofit/>
          </a:bodyPr>
          <a:lstStyle/>
          <a:p>
            <a:pPr algn="l"/>
            <a:r>
              <a:rPr lang="ru-RU" dirty="0"/>
              <a:t>Управление рисками</a:t>
            </a:r>
            <a:endParaRPr lang="uk-UA" dirty="0"/>
          </a:p>
        </p:txBody>
      </p:sp>
    </p:spTree>
    <p:extLst>
      <p:ext uri="{BB962C8B-B14F-4D97-AF65-F5344CB8AC3E}">
        <p14:creationId xmlns:p14="http://schemas.microsoft.com/office/powerpoint/2010/main" val="13084247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E7FF19-E7FA-4DEB-B8F0-63B1D4133996}"/>
              </a:ext>
            </a:extLst>
          </p:cNvPr>
          <p:cNvSpPr>
            <a:spLocks noGrp="1"/>
          </p:cNvSpPr>
          <p:nvPr>
            <p:ph type="title"/>
          </p:nvPr>
        </p:nvSpPr>
        <p:spPr/>
        <p:txBody>
          <a:bodyPr/>
          <a:lstStyle/>
          <a:p>
            <a:r>
              <a:rPr lang="en-US" dirty="0"/>
              <a:t>Risk management</a:t>
            </a:r>
            <a:r>
              <a:rPr lang="ru-RU" dirty="0"/>
              <a:t> / Управление рисками</a:t>
            </a:r>
            <a:endParaRPr lang="en-US" dirty="0"/>
          </a:p>
        </p:txBody>
      </p:sp>
      <p:sp>
        <p:nvSpPr>
          <p:cNvPr id="3" name="Content Placeholder 2">
            <a:extLst>
              <a:ext uri="{FF2B5EF4-FFF2-40B4-BE49-F238E27FC236}">
                <a16:creationId xmlns:a16="http://schemas.microsoft.com/office/drawing/2014/main" id="{656DF56C-DD95-4D18-A1C8-92374F4F86F9}"/>
              </a:ext>
            </a:extLst>
          </p:cNvPr>
          <p:cNvSpPr>
            <a:spLocks noGrp="1"/>
          </p:cNvSpPr>
          <p:nvPr>
            <p:ph idx="1"/>
          </p:nvPr>
        </p:nvSpPr>
        <p:spPr/>
        <p:txBody>
          <a:bodyPr>
            <a:normAutofit/>
          </a:bodyPr>
          <a:lstStyle/>
          <a:p>
            <a:pPr marL="0" indent="0">
              <a:buNone/>
            </a:pPr>
            <a:r>
              <a:rPr lang="ru-RU" dirty="0"/>
              <a:t>—  это процесс выявления, оценки и управления рисками до того, как они нанесут ущерб вашему проекту. Если что-либо нехорошее уже произошло с вашим проектом, то это — проблема, а не риск. Решайте текущие проблемы и вопросы, постоянно контролируя состояние проекта и процессы введения поправок.</a:t>
            </a:r>
          </a:p>
          <a:p>
            <a:pPr marL="0" indent="0">
              <a:buNone/>
            </a:pPr>
            <a:r>
              <a:rPr lang="ru-RU" dirty="0"/>
              <a:t>— это применение инструментальных средств и процедур для ограничения рисков в проекте приемлемыми рамками. Управление рисками предоставляет стандартный подход к выявлению и документированию рисков, оценке их возможного ущерба и предлагает стратегии их смягчения.</a:t>
            </a:r>
          </a:p>
          <a:p>
            <a:pPr marL="0" indent="0" algn="r">
              <a:buNone/>
            </a:pPr>
            <a:r>
              <a:rPr lang="ru-RU" dirty="0"/>
              <a:t>(с) К. </a:t>
            </a:r>
            <a:r>
              <a:rPr lang="ru-RU" dirty="0" err="1"/>
              <a:t>Вигерс</a:t>
            </a:r>
            <a:r>
              <a:rPr lang="ru-RU" dirty="0"/>
              <a:t>, Дж. Битти</a:t>
            </a:r>
          </a:p>
        </p:txBody>
      </p:sp>
    </p:spTree>
    <p:extLst>
      <p:ext uri="{BB962C8B-B14F-4D97-AF65-F5344CB8AC3E}">
        <p14:creationId xmlns:p14="http://schemas.microsoft.com/office/powerpoint/2010/main" val="199871009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a:t>Матрица рисков</a:t>
            </a:r>
            <a:endParaRPr lang="en-US" dirty="0"/>
          </a:p>
        </p:txBody>
      </p:sp>
      <p:pic>
        <p:nvPicPr>
          <p:cNvPr id="2050" name="Picture 2" descr="Матрица рисков: как создать"/>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180246" y="2072640"/>
            <a:ext cx="9975434" cy="350955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734211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Текст 4"/>
          <p:cNvSpPr>
            <a:spLocks noGrp="1"/>
          </p:cNvSpPr>
          <p:nvPr>
            <p:ph type="body" idx="1"/>
          </p:nvPr>
        </p:nvSpPr>
        <p:spPr>
          <a:xfrm>
            <a:off x="1097280" y="835850"/>
            <a:ext cx="4937760" cy="736282"/>
          </a:xfrm>
        </p:spPr>
        <p:txBody>
          <a:bodyPr/>
          <a:lstStyle/>
          <a:p>
            <a:r>
              <a:rPr lang="ru-RU" dirty="0" err="1"/>
              <a:t>ВЛияние</a:t>
            </a:r>
            <a:endParaRPr lang="en-US" dirty="0"/>
          </a:p>
        </p:txBody>
      </p:sp>
      <p:sp>
        <p:nvSpPr>
          <p:cNvPr id="3" name="Объект 2"/>
          <p:cNvSpPr>
            <a:spLocks noGrp="1"/>
          </p:cNvSpPr>
          <p:nvPr>
            <p:ph sz="half" idx="2"/>
          </p:nvPr>
        </p:nvSpPr>
        <p:spPr>
          <a:xfrm>
            <a:off x="1097280" y="1837508"/>
            <a:ext cx="4937760" cy="4441371"/>
          </a:xfrm>
        </p:spPr>
        <p:txBody>
          <a:bodyPr>
            <a:normAutofit fontScale="85000" lnSpcReduction="20000"/>
          </a:bodyPr>
          <a:lstStyle/>
          <a:p>
            <a:r>
              <a:rPr lang="ru-RU" dirty="0"/>
              <a:t>Несущественные (S1): не приносят реальных негативных последствий или не представляют существенной угрозы для организации или проекта; </a:t>
            </a:r>
          </a:p>
          <a:p>
            <a:r>
              <a:rPr lang="ru-RU" dirty="0"/>
              <a:t>Малые(S2): имеют небольшой потенциал для негативных последствий, но не окажут существенного влияния на общий успех; </a:t>
            </a:r>
          </a:p>
          <a:p>
            <a:r>
              <a:rPr lang="ru-RU" dirty="0"/>
              <a:t>Умеренные(S3): могут привести к негативным последствиям, создавая умеренную угрозу для проекта или организации; </a:t>
            </a:r>
          </a:p>
          <a:p>
            <a:r>
              <a:rPr lang="ru-RU" dirty="0"/>
              <a:t>Критические(S4): с существенными негативными последствиями, которые будут серьезно влиять на успех организации или проекта; </a:t>
            </a:r>
          </a:p>
          <a:p>
            <a:r>
              <a:rPr lang="ru-RU" dirty="0"/>
              <a:t>Катастрофические(S5): с крайне негативными последствиями, которые могут привести к закрытию или долгосрочному сбою деятельности всей компании. </a:t>
            </a:r>
            <a:endParaRPr lang="en-US" dirty="0"/>
          </a:p>
        </p:txBody>
      </p:sp>
      <p:sp>
        <p:nvSpPr>
          <p:cNvPr id="6" name="Текст 5"/>
          <p:cNvSpPr>
            <a:spLocks noGrp="1"/>
          </p:cNvSpPr>
          <p:nvPr>
            <p:ph type="body" sz="quarter" idx="3"/>
          </p:nvPr>
        </p:nvSpPr>
        <p:spPr>
          <a:xfrm>
            <a:off x="6217920" y="835850"/>
            <a:ext cx="4937760" cy="736282"/>
          </a:xfrm>
        </p:spPr>
        <p:txBody>
          <a:bodyPr/>
          <a:lstStyle/>
          <a:p>
            <a:r>
              <a:rPr lang="ru-RU" dirty="0"/>
              <a:t>Вероятность</a:t>
            </a:r>
            <a:endParaRPr lang="en-US" dirty="0"/>
          </a:p>
        </p:txBody>
      </p:sp>
      <p:sp>
        <p:nvSpPr>
          <p:cNvPr id="7" name="Объект 6"/>
          <p:cNvSpPr>
            <a:spLocks noGrp="1"/>
          </p:cNvSpPr>
          <p:nvPr>
            <p:ph sz="quarter" idx="4"/>
          </p:nvPr>
        </p:nvSpPr>
        <p:spPr>
          <a:xfrm>
            <a:off x="6217920" y="1837507"/>
            <a:ext cx="4937760" cy="4441371"/>
          </a:xfrm>
        </p:spPr>
        <p:txBody>
          <a:bodyPr>
            <a:normAutofit/>
          </a:bodyPr>
          <a:lstStyle/>
          <a:p>
            <a:r>
              <a:rPr lang="ru-RU" dirty="0"/>
              <a:t>Маловероятно (L1): крайне редкие, почти без вероятности возникновения; </a:t>
            </a:r>
          </a:p>
          <a:p>
            <a:r>
              <a:rPr lang="ru-RU" dirty="0"/>
              <a:t>Редко (L2): имеют небольшой шанс проявления; </a:t>
            </a:r>
          </a:p>
          <a:p>
            <a:r>
              <a:rPr lang="ru-RU" dirty="0"/>
              <a:t>Вероятно (L3): случаются с вероятностью 30-50%; </a:t>
            </a:r>
          </a:p>
          <a:p>
            <a:r>
              <a:rPr lang="ru-RU" dirty="0"/>
              <a:t>Часто (L4): могут произойти  с большой вероятностью; </a:t>
            </a:r>
          </a:p>
          <a:p>
            <a:r>
              <a:rPr lang="ru-RU" dirty="0"/>
              <a:t>Определенно (L5): почти наверняка проявятся и неизбежны.</a:t>
            </a:r>
            <a:endParaRPr lang="en-US" dirty="0"/>
          </a:p>
        </p:txBody>
      </p:sp>
    </p:spTree>
    <p:extLst>
      <p:ext uri="{BB962C8B-B14F-4D97-AF65-F5344CB8AC3E}">
        <p14:creationId xmlns:p14="http://schemas.microsoft.com/office/powerpoint/2010/main" val="204369065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uk-UA" dirty="0"/>
              <a:t>Предотвращение риска</a:t>
            </a:r>
          </a:p>
        </p:txBody>
      </p:sp>
      <p:sp>
        <p:nvSpPr>
          <p:cNvPr id="3" name="Объект 2"/>
          <p:cNvSpPr>
            <a:spLocks noGrp="1"/>
          </p:cNvSpPr>
          <p:nvPr>
            <p:ph idx="1"/>
          </p:nvPr>
        </p:nvSpPr>
        <p:spPr/>
        <p:txBody>
          <a:bodyPr/>
          <a:lstStyle/>
          <a:p>
            <a:r>
              <a:rPr lang="ru-RU" dirty="0"/>
              <a:t>не делать того, что рискованно</a:t>
            </a:r>
          </a:p>
          <a:p>
            <a:r>
              <a:rPr lang="ru-RU" dirty="0"/>
              <a:t>не начинать определенные проекты</a:t>
            </a:r>
          </a:p>
          <a:p>
            <a:r>
              <a:rPr lang="ru-RU" dirty="0"/>
              <a:t>полагаться на испытанные, а не самые передовые технологии </a:t>
            </a:r>
          </a:p>
          <a:p>
            <a:r>
              <a:rPr lang="ru-RU" dirty="0"/>
              <a:t>исключать функции, которые будет особенно трудно воплотить верно</a:t>
            </a:r>
            <a:endParaRPr lang="uk-UA" dirty="0"/>
          </a:p>
        </p:txBody>
      </p:sp>
    </p:spTree>
    <p:extLst>
      <p:ext uri="{BB962C8B-B14F-4D97-AF65-F5344CB8AC3E}">
        <p14:creationId xmlns:p14="http://schemas.microsoft.com/office/powerpoint/2010/main" val="136217185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Заголовок 4"/>
          <p:cNvSpPr>
            <a:spLocks noGrp="1"/>
          </p:cNvSpPr>
          <p:nvPr>
            <p:ph type="title"/>
          </p:nvPr>
        </p:nvSpPr>
        <p:spPr/>
        <p:txBody>
          <a:bodyPr/>
          <a:lstStyle/>
          <a:p>
            <a:r>
              <a:rPr lang="uk-UA" b="1" dirty="0" err="1"/>
              <a:t>Стратегии</a:t>
            </a:r>
            <a:r>
              <a:rPr lang="uk-UA" b="1" dirty="0"/>
              <a:t> </a:t>
            </a:r>
            <a:r>
              <a:rPr lang="uk-UA" b="1" dirty="0" err="1"/>
              <a:t>работы</a:t>
            </a:r>
            <a:r>
              <a:rPr lang="uk-UA" b="1" dirty="0"/>
              <a:t> с рисками</a:t>
            </a:r>
          </a:p>
        </p:txBody>
      </p:sp>
      <p:sp>
        <p:nvSpPr>
          <p:cNvPr id="6" name="Объект 5"/>
          <p:cNvSpPr>
            <a:spLocks noGrp="1"/>
          </p:cNvSpPr>
          <p:nvPr>
            <p:ph idx="1"/>
          </p:nvPr>
        </p:nvSpPr>
        <p:spPr/>
        <p:txBody>
          <a:bodyPr/>
          <a:lstStyle/>
          <a:p>
            <a:r>
              <a:rPr lang="ru-RU" dirty="0"/>
              <a:t>Уклонение</a:t>
            </a:r>
          </a:p>
          <a:p>
            <a:r>
              <a:rPr lang="ru-RU" dirty="0"/>
              <a:t>Передача</a:t>
            </a:r>
          </a:p>
          <a:p>
            <a:r>
              <a:rPr lang="ru-RU" dirty="0"/>
              <a:t>Снижение</a:t>
            </a:r>
          </a:p>
          <a:p>
            <a:r>
              <a:rPr lang="ru-RU" dirty="0"/>
              <a:t>Принятие</a:t>
            </a:r>
            <a:endParaRPr lang="en-US" dirty="0"/>
          </a:p>
          <a:p>
            <a:r>
              <a:rPr lang="ru-RU" dirty="0"/>
              <a:t>Усиление</a:t>
            </a:r>
            <a:endParaRPr lang="en-US" dirty="0"/>
          </a:p>
        </p:txBody>
      </p:sp>
    </p:spTree>
    <p:extLst>
      <p:ext uri="{BB962C8B-B14F-4D97-AF65-F5344CB8AC3E}">
        <p14:creationId xmlns:p14="http://schemas.microsoft.com/office/powerpoint/2010/main" val="42091742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Заголовок 3"/>
          <p:cNvSpPr>
            <a:spLocks noGrp="1"/>
          </p:cNvSpPr>
          <p:nvPr>
            <p:ph type="title"/>
          </p:nvPr>
        </p:nvSpPr>
        <p:spPr/>
        <p:txBody>
          <a:bodyPr/>
          <a:lstStyle/>
          <a:p>
            <a:endParaRPr lang="en-US"/>
          </a:p>
        </p:txBody>
      </p:sp>
      <p:sp>
        <p:nvSpPr>
          <p:cNvPr id="5" name="Текст 4"/>
          <p:cNvSpPr>
            <a:spLocks noGrp="1"/>
          </p:cNvSpPr>
          <p:nvPr>
            <p:ph type="body" idx="1"/>
          </p:nvPr>
        </p:nvSpPr>
        <p:spPr/>
        <p:txBody>
          <a:bodyPr/>
          <a:lstStyle/>
          <a:p>
            <a:r>
              <a:rPr lang="ru-RU" dirty="0"/>
              <a:t>Стратегия уклонения</a:t>
            </a:r>
            <a:endParaRPr lang="en-US" dirty="0"/>
          </a:p>
        </p:txBody>
      </p:sp>
      <p:sp>
        <p:nvSpPr>
          <p:cNvPr id="6" name="Объект 5"/>
          <p:cNvSpPr>
            <a:spLocks noGrp="1"/>
          </p:cNvSpPr>
          <p:nvPr>
            <p:ph sz="half" idx="2"/>
          </p:nvPr>
        </p:nvSpPr>
        <p:spPr/>
        <p:txBody>
          <a:bodyPr/>
          <a:lstStyle/>
          <a:p>
            <a:r>
              <a:rPr lang="ru-RU" dirty="0"/>
              <a:t>предполагает полное исключение риска из проекта. Мы должны придумать реагирование, которое позволит быть уверенными, что риск не материализуется. Это самая «дорогая» стратегия, т.к. для некоторых рисков она вынуждает отказываться от определенных работ, менять цели проекта или, в самом радикальном случае, отказываться от проекта.</a:t>
            </a:r>
            <a:endParaRPr lang="en-US" dirty="0"/>
          </a:p>
        </p:txBody>
      </p:sp>
      <p:sp>
        <p:nvSpPr>
          <p:cNvPr id="7" name="Текст 6"/>
          <p:cNvSpPr>
            <a:spLocks noGrp="1"/>
          </p:cNvSpPr>
          <p:nvPr>
            <p:ph type="body" sz="quarter" idx="3"/>
          </p:nvPr>
        </p:nvSpPr>
        <p:spPr/>
        <p:txBody>
          <a:bodyPr/>
          <a:lstStyle/>
          <a:p>
            <a:r>
              <a:rPr lang="ru-RU" dirty="0"/>
              <a:t>Стратегия передачи</a:t>
            </a:r>
            <a:endParaRPr lang="en-US" dirty="0"/>
          </a:p>
        </p:txBody>
      </p:sp>
      <p:sp>
        <p:nvSpPr>
          <p:cNvPr id="8" name="Объект 7"/>
          <p:cNvSpPr>
            <a:spLocks noGrp="1"/>
          </p:cNvSpPr>
          <p:nvPr>
            <p:ph sz="quarter" idx="4"/>
          </p:nvPr>
        </p:nvSpPr>
        <p:spPr/>
        <p:txBody>
          <a:bodyPr/>
          <a:lstStyle/>
          <a:p>
            <a:r>
              <a:rPr lang="ru-RU" dirty="0"/>
              <a:t>перекладывает последствия материализации риска и ответственность за реагирование на третью сторону, при этом сам риск не устраняется. Эта стратегия практически всегда предполагает финансовые затраты на передачу и получение финансовой компенсации в случае материализации риска.</a:t>
            </a:r>
            <a:endParaRPr lang="en-US" dirty="0"/>
          </a:p>
        </p:txBody>
      </p:sp>
    </p:spTree>
    <p:extLst>
      <p:ext uri="{BB962C8B-B14F-4D97-AF65-F5344CB8AC3E}">
        <p14:creationId xmlns:p14="http://schemas.microsoft.com/office/powerpoint/2010/main" val="349556408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endParaRPr lang="en-US"/>
          </a:p>
        </p:txBody>
      </p:sp>
      <p:sp>
        <p:nvSpPr>
          <p:cNvPr id="3" name="Текст 2"/>
          <p:cNvSpPr>
            <a:spLocks noGrp="1"/>
          </p:cNvSpPr>
          <p:nvPr>
            <p:ph type="body" idx="1"/>
          </p:nvPr>
        </p:nvSpPr>
        <p:spPr/>
        <p:txBody>
          <a:bodyPr/>
          <a:lstStyle/>
          <a:p>
            <a:r>
              <a:rPr lang="ru-RU" dirty="0"/>
              <a:t>Стратегия снижения</a:t>
            </a:r>
            <a:endParaRPr lang="en-US" dirty="0"/>
          </a:p>
        </p:txBody>
      </p:sp>
      <p:sp>
        <p:nvSpPr>
          <p:cNvPr id="4" name="Объект 3"/>
          <p:cNvSpPr>
            <a:spLocks noGrp="1"/>
          </p:cNvSpPr>
          <p:nvPr>
            <p:ph sz="half" idx="2"/>
          </p:nvPr>
        </p:nvSpPr>
        <p:spPr/>
        <p:txBody>
          <a:bodyPr/>
          <a:lstStyle/>
          <a:p>
            <a:r>
              <a:rPr lang="ru-RU" dirty="0"/>
              <a:t>является самой распространенной и может применяться к любому риску, т.к. подразумевает уменьшение вероятности или влияния риска на проект.</a:t>
            </a:r>
            <a:endParaRPr lang="en-US" dirty="0"/>
          </a:p>
        </p:txBody>
      </p:sp>
      <p:sp>
        <p:nvSpPr>
          <p:cNvPr id="5" name="Текст 4"/>
          <p:cNvSpPr>
            <a:spLocks noGrp="1"/>
          </p:cNvSpPr>
          <p:nvPr>
            <p:ph type="body" sz="quarter" idx="3"/>
          </p:nvPr>
        </p:nvSpPr>
        <p:spPr/>
        <p:txBody>
          <a:bodyPr/>
          <a:lstStyle/>
          <a:p>
            <a:r>
              <a:rPr lang="ru-RU" dirty="0"/>
              <a:t>Стратегия усиления</a:t>
            </a:r>
            <a:endParaRPr lang="en-US" dirty="0"/>
          </a:p>
        </p:txBody>
      </p:sp>
      <p:sp>
        <p:nvSpPr>
          <p:cNvPr id="6" name="Объект 5"/>
          <p:cNvSpPr>
            <a:spLocks noGrp="1"/>
          </p:cNvSpPr>
          <p:nvPr>
            <p:ph sz="quarter" idx="4"/>
          </p:nvPr>
        </p:nvSpPr>
        <p:spPr/>
        <p:txBody>
          <a:bodyPr/>
          <a:lstStyle/>
          <a:p>
            <a:r>
              <a:rPr lang="uk-UA" dirty="0" err="1"/>
              <a:t>Стратегия</a:t>
            </a:r>
            <a:r>
              <a:rPr lang="uk-UA" dirty="0"/>
              <a:t> направлена на </a:t>
            </a:r>
            <a:r>
              <a:rPr lang="uk-UA" dirty="0" err="1"/>
              <a:t>повышение</a:t>
            </a:r>
            <a:r>
              <a:rPr lang="uk-UA" dirty="0"/>
              <a:t> </a:t>
            </a:r>
            <a:r>
              <a:rPr lang="uk-UA" dirty="0" err="1"/>
              <a:t>вероятности</a:t>
            </a:r>
            <a:r>
              <a:rPr lang="uk-UA" dirty="0"/>
              <a:t> </a:t>
            </a:r>
            <a:r>
              <a:rPr lang="uk-UA" dirty="0" err="1"/>
              <a:t>возникновения</a:t>
            </a:r>
            <a:r>
              <a:rPr lang="uk-UA" dirty="0"/>
              <a:t> </a:t>
            </a:r>
            <a:r>
              <a:rPr lang="uk-UA" dirty="0" err="1"/>
              <a:t>и</a:t>
            </a:r>
            <a:r>
              <a:rPr lang="uk-UA" dirty="0"/>
              <a:t>/</a:t>
            </a:r>
            <a:r>
              <a:rPr lang="uk-UA" dirty="0" err="1"/>
              <a:t>или</a:t>
            </a:r>
            <a:r>
              <a:rPr lang="uk-UA" dirty="0"/>
              <a:t> </a:t>
            </a:r>
            <a:r>
              <a:rPr lang="uk-UA" dirty="0" err="1"/>
              <a:t>положительного</a:t>
            </a:r>
            <a:r>
              <a:rPr lang="uk-UA" dirty="0"/>
              <a:t> </a:t>
            </a:r>
            <a:r>
              <a:rPr lang="uk-UA" dirty="0" err="1"/>
              <a:t>воздействия</a:t>
            </a:r>
            <a:r>
              <a:rPr lang="uk-UA" dirty="0"/>
              <a:t> </a:t>
            </a:r>
            <a:r>
              <a:rPr lang="uk-UA" dirty="0" err="1"/>
              <a:t>благоприятной</a:t>
            </a:r>
            <a:r>
              <a:rPr lang="uk-UA" dirty="0"/>
              <a:t> </a:t>
            </a:r>
            <a:r>
              <a:rPr lang="uk-UA" dirty="0" err="1"/>
              <a:t>возможности</a:t>
            </a:r>
            <a:r>
              <a:rPr lang="uk-UA" dirty="0"/>
              <a:t>. </a:t>
            </a:r>
            <a:r>
              <a:rPr lang="uk-UA" dirty="0" err="1"/>
              <a:t>Повышение</a:t>
            </a:r>
            <a:r>
              <a:rPr lang="uk-UA" dirty="0"/>
              <a:t> </a:t>
            </a:r>
            <a:r>
              <a:rPr lang="uk-UA" dirty="0" err="1"/>
              <a:t>вероятности</a:t>
            </a:r>
            <a:r>
              <a:rPr lang="uk-UA" dirty="0"/>
              <a:t> </a:t>
            </a:r>
            <a:r>
              <a:rPr lang="uk-UA" dirty="0" err="1"/>
              <a:t>может</a:t>
            </a:r>
            <a:r>
              <a:rPr lang="uk-UA" dirty="0"/>
              <a:t> </a:t>
            </a:r>
            <a:r>
              <a:rPr lang="uk-UA" dirty="0" err="1"/>
              <a:t>достигаться</a:t>
            </a:r>
            <a:r>
              <a:rPr lang="uk-UA" dirty="0"/>
              <a:t>, </a:t>
            </a:r>
            <a:r>
              <a:rPr lang="uk-UA" dirty="0" err="1"/>
              <a:t>например</a:t>
            </a:r>
            <a:r>
              <a:rPr lang="uk-UA" dirty="0"/>
              <a:t>, </a:t>
            </a:r>
            <a:r>
              <a:rPr lang="uk-UA" dirty="0" err="1"/>
              <a:t>путем</a:t>
            </a:r>
            <a:r>
              <a:rPr lang="uk-UA" dirty="0"/>
              <a:t> </a:t>
            </a:r>
            <a:r>
              <a:rPr lang="uk-UA" dirty="0" err="1"/>
              <a:t>целенаправленного</a:t>
            </a:r>
            <a:r>
              <a:rPr lang="uk-UA" dirty="0"/>
              <a:t> </a:t>
            </a:r>
            <a:r>
              <a:rPr lang="uk-UA" dirty="0" err="1"/>
              <a:t>усиления</a:t>
            </a:r>
            <a:r>
              <a:rPr lang="uk-UA" dirty="0"/>
              <a:t> </a:t>
            </a:r>
            <a:r>
              <a:rPr lang="uk-UA" dirty="0" err="1"/>
              <a:t>условий</a:t>
            </a:r>
            <a:r>
              <a:rPr lang="uk-UA" dirty="0"/>
              <a:t> </a:t>
            </a:r>
            <a:r>
              <a:rPr lang="uk-UA" dirty="0" err="1"/>
              <a:t>появления</a:t>
            </a:r>
            <a:r>
              <a:rPr lang="uk-UA" dirty="0"/>
              <a:t> </a:t>
            </a:r>
            <a:r>
              <a:rPr lang="uk-UA" dirty="0" err="1"/>
              <a:t>благоприятной</a:t>
            </a:r>
            <a:r>
              <a:rPr lang="uk-UA" dirty="0"/>
              <a:t> </a:t>
            </a:r>
            <a:r>
              <a:rPr lang="uk-UA" dirty="0" err="1"/>
              <a:t>возможности</a:t>
            </a:r>
            <a:r>
              <a:rPr lang="uk-UA" dirty="0"/>
              <a:t>.</a:t>
            </a:r>
            <a:endParaRPr lang="ru-RU" dirty="0"/>
          </a:p>
        </p:txBody>
      </p:sp>
    </p:spTree>
    <p:extLst>
      <p:ext uri="{BB962C8B-B14F-4D97-AF65-F5344CB8AC3E}">
        <p14:creationId xmlns:p14="http://schemas.microsoft.com/office/powerpoint/2010/main" val="261166834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endParaRPr lang="en-US"/>
          </a:p>
        </p:txBody>
      </p:sp>
      <p:sp>
        <p:nvSpPr>
          <p:cNvPr id="3" name="Текст 2"/>
          <p:cNvSpPr>
            <a:spLocks noGrp="1"/>
          </p:cNvSpPr>
          <p:nvPr>
            <p:ph type="body" idx="1"/>
          </p:nvPr>
        </p:nvSpPr>
        <p:spPr/>
        <p:txBody>
          <a:bodyPr/>
          <a:lstStyle/>
          <a:p>
            <a:r>
              <a:rPr lang="ru-RU" dirty="0"/>
              <a:t>Стратегия Активного принятия</a:t>
            </a:r>
            <a:endParaRPr lang="en-US" dirty="0"/>
          </a:p>
        </p:txBody>
      </p:sp>
      <p:sp>
        <p:nvSpPr>
          <p:cNvPr id="4" name="Объект 3"/>
          <p:cNvSpPr>
            <a:spLocks noGrp="1"/>
          </p:cNvSpPr>
          <p:nvPr>
            <p:ph sz="half" idx="2"/>
          </p:nvPr>
        </p:nvSpPr>
        <p:spPr/>
        <p:txBody>
          <a:bodyPr/>
          <a:lstStyle/>
          <a:p>
            <a:r>
              <a:rPr lang="ru-RU" dirty="0"/>
              <a:t>формируется резерв времени и денег на устранение последствий материализации риска.</a:t>
            </a:r>
          </a:p>
        </p:txBody>
      </p:sp>
      <p:sp>
        <p:nvSpPr>
          <p:cNvPr id="5" name="Текст 4"/>
          <p:cNvSpPr>
            <a:spLocks noGrp="1"/>
          </p:cNvSpPr>
          <p:nvPr>
            <p:ph type="body" sz="quarter" idx="3"/>
          </p:nvPr>
        </p:nvSpPr>
        <p:spPr/>
        <p:txBody>
          <a:bodyPr/>
          <a:lstStyle/>
          <a:p>
            <a:r>
              <a:rPr lang="ru-RU" dirty="0"/>
              <a:t>Стратегия пассивного принятия</a:t>
            </a:r>
            <a:endParaRPr lang="en-US" dirty="0"/>
          </a:p>
        </p:txBody>
      </p:sp>
      <p:sp>
        <p:nvSpPr>
          <p:cNvPr id="6" name="Объект 5"/>
          <p:cNvSpPr>
            <a:spLocks noGrp="1"/>
          </p:cNvSpPr>
          <p:nvPr>
            <p:ph sz="quarter" idx="4"/>
          </p:nvPr>
        </p:nvSpPr>
        <p:spPr/>
        <p:txBody>
          <a:bodyPr/>
          <a:lstStyle/>
          <a:p>
            <a:r>
              <a:rPr lang="ru-RU" dirty="0"/>
              <a:t>предполагает наличие плана Б (устранения последствий проблемы) на случай, если риск материализуется.</a:t>
            </a:r>
          </a:p>
        </p:txBody>
      </p:sp>
    </p:spTree>
    <p:extLst>
      <p:ext uri="{BB962C8B-B14F-4D97-AF65-F5344CB8AC3E}">
        <p14:creationId xmlns:p14="http://schemas.microsoft.com/office/powerpoint/2010/main" val="30310556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1F395E0-10E0-4863-BE52-0F4A27981962}"/>
              </a:ext>
            </a:extLst>
          </p:cNvPr>
          <p:cNvSpPr>
            <a:spLocks noGrp="1"/>
          </p:cNvSpPr>
          <p:nvPr>
            <p:ph type="ctrTitle"/>
          </p:nvPr>
        </p:nvSpPr>
        <p:spPr>
          <a:xfrm>
            <a:off x="1286933" y="2213361"/>
            <a:ext cx="6247721" cy="2204815"/>
          </a:xfrm>
        </p:spPr>
        <p:txBody>
          <a:bodyPr>
            <a:normAutofit/>
          </a:bodyPr>
          <a:lstStyle/>
          <a:p>
            <a:pPr algn="l"/>
            <a:r>
              <a:rPr lang="en-US" sz="4400" dirty="0"/>
              <a:t>Traceability Matrix</a:t>
            </a:r>
            <a:endParaRPr lang="uk-UA" sz="4400" dirty="0"/>
          </a:p>
        </p:txBody>
      </p:sp>
      <p:sp>
        <p:nvSpPr>
          <p:cNvPr id="5" name="Text Placeholder 4">
            <a:extLst>
              <a:ext uri="{FF2B5EF4-FFF2-40B4-BE49-F238E27FC236}">
                <a16:creationId xmlns:a16="http://schemas.microsoft.com/office/drawing/2014/main" id="{B668B4C7-CF60-413E-BF81-3742A22D589A}"/>
              </a:ext>
            </a:extLst>
          </p:cNvPr>
          <p:cNvSpPr>
            <a:spLocks noGrp="1"/>
          </p:cNvSpPr>
          <p:nvPr>
            <p:ph type="subTitle" idx="1"/>
          </p:nvPr>
        </p:nvSpPr>
        <p:spPr>
          <a:xfrm>
            <a:off x="1286934" y="4418176"/>
            <a:ext cx="6247721" cy="1264209"/>
          </a:xfrm>
        </p:spPr>
        <p:txBody>
          <a:bodyPr>
            <a:normAutofit/>
          </a:bodyPr>
          <a:lstStyle/>
          <a:p>
            <a:pPr algn="l"/>
            <a:r>
              <a:rPr lang="ru-RU" dirty="0">
                <a:solidFill>
                  <a:schemeClr val="tx1">
                    <a:lumMod val="50000"/>
                    <a:lumOff val="50000"/>
                  </a:schemeClr>
                </a:solidFill>
              </a:rPr>
              <a:t>Матрица трассировки</a:t>
            </a:r>
            <a:endParaRPr lang="en-US" dirty="0">
              <a:solidFill>
                <a:schemeClr val="tx1">
                  <a:lumMod val="50000"/>
                  <a:lumOff val="50000"/>
                </a:schemeClr>
              </a:solidFill>
            </a:endParaRPr>
          </a:p>
        </p:txBody>
      </p:sp>
    </p:spTree>
    <p:extLst>
      <p:ext uri="{BB962C8B-B14F-4D97-AF65-F5344CB8AC3E}">
        <p14:creationId xmlns:p14="http://schemas.microsoft.com/office/powerpoint/2010/main" val="361390087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en-US" dirty="0"/>
              <a:t>Traceability Matrix</a:t>
            </a:r>
            <a:r>
              <a:rPr lang="ru-RU" dirty="0"/>
              <a:t> / матрица трассировки</a:t>
            </a:r>
            <a:endParaRPr lang="uk-UA" dirty="0"/>
          </a:p>
        </p:txBody>
      </p:sp>
      <p:sp>
        <p:nvSpPr>
          <p:cNvPr id="3" name="Объект 2"/>
          <p:cNvSpPr>
            <a:spLocks noGrp="1"/>
          </p:cNvSpPr>
          <p:nvPr>
            <p:ph idx="1"/>
          </p:nvPr>
        </p:nvSpPr>
        <p:spPr/>
        <p:txBody>
          <a:bodyPr/>
          <a:lstStyle/>
          <a:p>
            <a:pPr marL="0" indent="0">
              <a:buNone/>
            </a:pPr>
            <a:r>
              <a:rPr lang="ru-RU" dirty="0"/>
              <a:t>- двумерная таблица, визуализирующая связи или их отсутствие между:</a:t>
            </a:r>
          </a:p>
          <a:p>
            <a:pPr lvl="1"/>
            <a:r>
              <a:rPr lang="ru-RU" dirty="0"/>
              <a:t>требованиями различных типов (бизнес и системные);</a:t>
            </a:r>
          </a:p>
          <a:p>
            <a:pPr lvl="1"/>
            <a:r>
              <a:rPr lang="ru-RU" dirty="0"/>
              <a:t>требованиями и реализацией; </a:t>
            </a:r>
          </a:p>
          <a:p>
            <a:pPr lvl="1"/>
            <a:r>
              <a:rPr lang="ru-RU" dirty="0"/>
              <a:t>требованиями и тестированием; </a:t>
            </a:r>
          </a:p>
          <a:p>
            <a:pPr lvl="1"/>
            <a:r>
              <a:rPr lang="ru-RU" dirty="0"/>
              <a:t>требованиями и пользовательской документацией.</a:t>
            </a:r>
          </a:p>
          <a:p>
            <a:endParaRPr lang="uk-UA" dirty="0"/>
          </a:p>
          <a:p>
            <a:endParaRPr lang="uk-UA" dirty="0"/>
          </a:p>
        </p:txBody>
      </p:sp>
    </p:spTree>
    <p:extLst>
      <p:ext uri="{BB962C8B-B14F-4D97-AF65-F5344CB8AC3E}">
        <p14:creationId xmlns:p14="http://schemas.microsoft.com/office/powerpoint/2010/main" val="411707321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a:t>Пример </a:t>
            </a:r>
            <a:r>
              <a:rPr lang="en-US" dirty="0"/>
              <a:t>Traceability Matrix</a:t>
            </a:r>
            <a:r>
              <a:rPr lang="ru-RU" dirty="0"/>
              <a:t> </a:t>
            </a:r>
            <a:endParaRPr lang="uk-UA" dirty="0"/>
          </a:p>
        </p:txBody>
      </p:sp>
      <p:pic>
        <p:nvPicPr>
          <p:cNvPr id="4" name="Объект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466533" y="2806065"/>
            <a:ext cx="9319260" cy="2103120"/>
          </a:xfrm>
        </p:spPr>
      </p:pic>
    </p:spTree>
    <p:extLst>
      <p:ext uri="{BB962C8B-B14F-4D97-AF65-F5344CB8AC3E}">
        <p14:creationId xmlns:p14="http://schemas.microsoft.com/office/powerpoint/2010/main" val="74479678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a:t>Применение</a:t>
            </a:r>
            <a:endParaRPr lang="uk-UA" dirty="0"/>
          </a:p>
        </p:txBody>
      </p:sp>
      <p:sp>
        <p:nvSpPr>
          <p:cNvPr id="3" name="Объект 2"/>
          <p:cNvSpPr>
            <a:spLocks noGrp="1"/>
          </p:cNvSpPr>
          <p:nvPr>
            <p:ph idx="1"/>
          </p:nvPr>
        </p:nvSpPr>
        <p:spPr/>
        <p:txBody>
          <a:bodyPr/>
          <a:lstStyle/>
          <a:p>
            <a:r>
              <a:rPr lang="ru-RU" dirty="0"/>
              <a:t>Контролировать целостность разрабатываемого продукта, выявлять расхождения между тем, что требуется и тем, что реализуется.</a:t>
            </a:r>
          </a:p>
          <a:p>
            <a:r>
              <a:rPr lang="ru-RU" dirty="0"/>
              <a:t>Существенно сократить время на анализ изменений, последующих за появлением новой доработки.</a:t>
            </a:r>
          </a:p>
          <a:p>
            <a:r>
              <a:rPr lang="ru-RU" dirty="0"/>
              <a:t>Поддерживать артефакты в актуальном состоянии.</a:t>
            </a:r>
          </a:p>
          <a:p>
            <a:endParaRPr lang="uk-UA" dirty="0"/>
          </a:p>
        </p:txBody>
      </p:sp>
    </p:spTree>
    <p:extLst>
      <p:ext uri="{BB962C8B-B14F-4D97-AF65-F5344CB8AC3E}">
        <p14:creationId xmlns:p14="http://schemas.microsoft.com/office/powerpoint/2010/main" val="96212001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1F395E0-10E0-4863-BE52-0F4A27981962}"/>
              </a:ext>
            </a:extLst>
          </p:cNvPr>
          <p:cNvSpPr>
            <a:spLocks noGrp="1"/>
          </p:cNvSpPr>
          <p:nvPr>
            <p:ph type="ctrTitle"/>
          </p:nvPr>
        </p:nvSpPr>
        <p:spPr>
          <a:xfrm>
            <a:off x="1286933" y="2213361"/>
            <a:ext cx="6247721" cy="2204815"/>
          </a:xfrm>
        </p:spPr>
        <p:txBody>
          <a:bodyPr>
            <a:normAutofit/>
          </a:bodyPr>
          <a:lstStyle/>
          <a:p>
            <a:pPr algn="l"/>
            <a:r>
              <a:rPr lang="en-US" sz="4400" dirty="0"/>
              <a:t>Impact Analysis</a:t>
            </a:r>
            <a:endParaRPr lang="uk-UA" sz="4400" dirty="0"/>
          </a:p>
        </p:txBody>
      </p:sp>
      <p:sp>
        <p:nvSpPr>
          <p:cNvPr id="5" name="Text Placeholder 4">
            <a:extLst>
              <a:ext uri="{FF2B5EF4-FFF2-40B4-BE49-F238E27FC236}">
                <a16:creationId xmlns:a16="http://schemas.microsoft.com/office/drawing/2014/main" id="{B668B4C7-CF60-413E-BF81-3742A22D589A}"/>
              </a:ext>
            </a:extLst>
          </p:cNvPr>
          <p:cNvSpPr>
            <a:spLocks noGrp="1"/>
          </p:cNvSpPr>
          <p:nvPr>
            <p:ph type="subTitle" idx="1"/>
          </p:nvPr>
        </p:nvSpPr>
        <p:spPr>
          <a:xfrm>
            <a:off x="1286934" y="4418176"/>
            <a:ext cx="6247721" cy="1264209"/>
          </a:xfrm>
        </p:spPr>
        <p:txBody>
          <a:bodyPr>
            <a:normAutofit/>
          </a:bodyPr>
          <a:lstStyle/>
          <a:p>
            <a:pPr algn="l"/>
            <a:r>
              <a:rPr lang="ru-RU" dirty="0">
                <a:solidFill>
                  <a:schemeClr val="tx1">
                    <a:lumMod val="50000"/>
                    <a:lumOff val="50000"/>
                  </a:schemeClr>
                </a:solidFill>
              </a:rPr>
              <a:t>Анализ воздействия</a:t>
            </a:r>
            <a:endParaRPr lang="en-US" dirty="0">
              <a:solidFill>
                <a:schemeClr val="tx1">
                  <a:lumMod val="50000"/>
                  <a:lumOff val="50000"/>
                </a:schemeClr>
              </a:solidFill>
            </a:endParaRPr>
          </a:p>
        </p:txBody>
      </p:sp>
    </p:spTree>
    <p:extLst>
      <p:ext uri="{BB962C8B-B14F-4D97-AF65-F5344CB8AC3E}">
        <p14:creationId xmlns:p14="http://schemas.microsoft.com/office/powerpoint/2010/main" val="371689978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a:bodyPr>
          <a:lstStyle/>
          <a:p>
            <a:r>
              <a:rPr lang="en-US" dirty="0"/>
              <a:t>Impact Analysis</a:t>
            </a:r>
            <a:r>
              <a:rPr lang="ru-RU" dirty="0"/>
              <a:t> / Анализ воздействия</a:t>
            </a:r>
            <a:endParaRPr lang="uk-UA" dirty="0"/>
          </a:p>
        </p:txBody>
      </p:sp>
      <p:sp>
        <p:nvSpPr>
          <p:cNvPr id="3" name="Объект 2"/>
          <p:cNvSpPr>
            <a:spLocks noGrp="1"/>
          </p:cNvSpPr>
          <p:nvPr>
            <p:ph idx="1"/>
          </p:nvPr>
        </p:nvSpPr>
        <p:spPr/>
        <p:txBody>
          <a:bodyPr/>
          <a:lstStyle/>
          <a:p>
            <a:pPr marL="0" indent="0">
              <a:buNone/>
            </a:pPr>
            <a:r>
              <a:rPr lang="ru-RU" dirty="0"/>
              <a:t>— это указание затронутых мест в проекте при разработке новой или изменении старой функциональности. </a:t>
            </a:r>
            <a:endParaRPr lang="en-US" dirty="0"/>
          </a:p>
        </p:txBody>
      </p:sp>
    </p:spTree>
    <p:extLst>
      <p:ext uri="{BB962C8B-B14F-4D97-AF65-F5344CB8AC3E}">
        <p14:creationId xmlns:p14="http://schemas.microsoft.com/office/powerpoint/2010/main" val="202816708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a:bodyPr>
          <a:lstStyle/>
          <a:p>
            <a:r>
              <a:rPr lang="en-US" dirty="0"/>
              <a:t>Impact Analysis</a:t>
            </a:r>
            <a:r>
              <a:rPr lang="ru-RU" dirty="0"/>
              <a:t> </a:t>
            </a:r>
            <a:r>
              <a:rPr lang="en-US" dirty="0"/>
              <a:t>Steps</a:t>
            </a:r>
            <a:endParaRPr lang="uk-UA" dirty="0"/>
          </a:p>
        </p:txBody>
      </p:sp>
      <p:sp>
        <p:nvSpPr>
          <p:cNvPr id="3" name="Объект 2"/>
          <p:cNvSpPr>
            <a:spLocks noGrp="1"/>
          </p:cNvSpPr>
          <p:nvPr>
            <p:ph idx="1"/>
          </p:nvPr>
        </p:nvSpPr>
        <p:spPr/>
        <p:txBody>
          <a:bodyPr/>
          <a:lstStyle/>
          <a:p>
            <a:r>
              <a:rPr lang="ru-RU" dirty="0"/>
              <a:t>Подготовка команды и списка изменения</a:t>
            </a:r>
          </a:p>
          <a:p>
            <a:r>
              <a:rPr lang="ru-RU" dirty="0"/>
              <a:t>Мозговой штурм</a:t>
            </a:r>
          </a:p>
          <a:p>
            <a:r>
              <a:rPr lang="ru-RU" dirty="0"/>
              <a:t>Определить области воздействия</a:t>
            </a:r>
          </a:p>
          <a:p>
            <a:r>
              <a:rPr lang="ru-RU" dirty="0"/>
              <a:t>Оценить воздействия (+/-) </a:t>
            </a:r>
          </a:p>
          <a:p>
            <a:r>
              <a:rPr lang="ru-RU" dirty="0"/>
              <a:t>Определить степень воздействия</a:t>
            </a:r>
          </a:p>
          <a:p>
            <a:r>
              <a:rPr lang="ru-RU" dirty="0"/>
              <a:t>Стратегия управления</a:t>
            </a:r>
            <a:endParaRPr lang="en-US" dirty="0"/>
          </a:p>
        </p:txBody>
      </p:sp>
    </p:spTree>
    <p:extLst>
      <p:ext uri="{BB962C8B-B14F-4D97-AF65-F5344CB8AC3E}">
        <p14:creationId xmlns:p14="http://schemas.microsoft.com/office/powerpoint/2010/main" val="383143659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a:t>Пример </a:t>
            </a:r>
            <a:r>
              <a:rPr lang="en-US" dirty="0"/>
              <a:t>Impact Analysis</a:t>
            </a:r>
            <a:r>
              <a:rPr lang="ru-RU" dirty="0"/>
              <a:t> </a:t>
            </a:r>
            <a:endParaRPr lang="uk-UA" dirty="0"/>
          </a:p>
        </p:txBody>
      </p:sp>
      <p:pic>
        <p:nvPicPr>
          <p:cNvPr id="4" name="Объект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346338" y="1393373"/>
            <a:ext cx="7618749" cy="4633992"/>
          </a:xfrm>
        </p:spPr>
      </p:pic>
      <p:sp>
        <p:nvSpPr>
          <p:cNvPr id="3" name="Текст 2"/>
          <p:cNvSpPr>
            <a:spLocks noGrp="1"/>
          </p:cNvSpPr>
          <p:nvPr>
            <p:ph type="body" sz="half" idx="2"/>
          </p:nvPr>
        </p:nvSpPr>
        <p:spPr/>
        <p:txBody>
          <a:bodyPr/>
          <a:lstStyle/>
          <a:p>
            <a:endParaRPr lang="en-US"/>
          </a:p>
        </p:txBody>
      </p:sp>
    </p:spTree>
    <p:extLst>
      <p:ext uri="{BB962C8B-B14F-4D97-AF65-F5344CB8AC3E}">
        <p14:creationId xmlns:p14="http://schemas.microsoft.com/office/powerpoint/2010/main" val="299597725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1F395E0-10E0-4863-BE52-0F4A27981962}"/>
              </a:ext>
            </a:extLst>
          </p:cNvPr>
          <p:cNvSpPr>
            <a:spLocks noGrp="1"/>
          </p:cNvSpPr>
          <p:nvPr>
            <p:ph type="ctrTitle"/>
          </p:nvPr>
        </p:nvSpPr>
        <p:spPr>
          <a:xfrm>
            <a:off x="1286933" y="2213361"/>
            <a:ext cx="6247721" cy="2204815"/>
          </a:xfrm>
        </p:spPr>
        <p:txBody>
          <a:bodyPr>
            <a:normAutofit/>
          </a:bodyPr>
          <a:lstStyle/>
          <a:p>
            <a:pPr algn="l"/>
            <a:r>
              <a:rPr lang="en-US" sz="4400" dirty="0"/>
              <a:t>Gap Analysis</a:t>
            </a:r>
            <a:endParaRPr lang="en-US" sz="4100" dirty="0"/>
          </a:p>
        </p:txBody>
      </p:sp>
      <p:sp>
        <p:nvSpPr>
          <p:cNvPr id="5" name="Text Placeholder 4">
            <a:extLst>
              <a:ext uri="{FF2B5EF4-FFF2-40B4-BE49-F238E27FC236}">
                <a16:creationId xmlns:a16="http://schemas.microsoft.com/office/drawing/2014/main" id="{B668B4C7-CF60-413E-BF81-3742A22D589A}"/>
              </a:ext>
            </a:extLst>
          </p:cNvPr>
          <p:cNvSpPr>
            <a:spLocks noGrp="1"/>
          </p:cNvSpPr>
          <p:nvPr>
            <p:ph type="subTitle" idx="1"/>
          </p:nvPr>
        </p:nvSpPr>
        <p:spPr>
          <a:xfrm>
            <a:off x="1286934" y="4418176"/>
            <a:ext cx="6247721" cy="1264209"/>
          </a:xfrm>
        </p:spPr>
        <p:txBody>
          <a:bodyPr>
            <a:normAutofit/>
          </a:bodyPr>
          <a:lstStyle/>
          <a:p>
            <a:pPr algn="l"/>
            <a:r>
              <a:rPr lang="ru-RU" dirty="0">
                <a:solidFill>
                  <a:schemeClr val="tx1">
                    <a:lumMod val="50000"/>
                    <a:lumOff val="50000"/>
                  </a:schemeClr>
                </a:solidFill>
              </a:rPr>
              <a:t>Анализ разрывов</a:t>
            </a:r>
            <a:endParaRPr lang="en-US" dirty="0">
              <a:solidFill>
                <a:schemeClr val="tx1">
                  <a:lumMod val="50000"/>
                  <a:lumOff val="50000"/>
                </a:schemeClr>
              </a:solidFill>
            </a:endParaRPr>
          </a:p>
        </p:txBody>
      </p:sp>
    </p:spTree>
    <p:extLst>
      <p:ext uri="{BB962C8B-B14F-4D97-AF65-F5344CB8AC3E}">
        <p14:creationId xmlns:p14="http://schemas.microsoft.com/office/powerpoint/2010/main" val="102097086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en-US" dirty="0"/>
              <a:t>Gap Analysis</a:t>
            </a:r>
            <a:endParaRPr lang="uk-UA" dirty="0"/>
          </a:p>
        </p:txBody>
      </p:sp>
      <p:sp>
        <p:nvSpPr>
          <p:cNvPr id="3" name="Объект 2"/>
          <p:cNvSpPr>
            <a:spLocks noGrp="1"/>
          </p:cNvSpPr>
          <p:nvPr>
            <p:ph idx="1"/>
          </p:nvPr>
        </p:nvSpPr>
        <p:spPr/>
        <p:txBody>
          <a:bodyPr/>
          <a:lstStyle/>
          <a:p>
            <a:pPr marL="0" indent="0">
              <a:buNone/>
            </a:pPr>
            <a:r>
              <a:rPr lang="ru-RU" dirty="0"/>
              <a:t>- исследования проблемы, проявляющейся как разрыв, возникающий в ходе реализации плана изменений, между теми показателями и результатами, достижение которых планировалось, и тем, что получилось в реальности.</a:t>
            </a:r>
            <a:endParaRPr lang="uk-UA" dirty="0"/>
          </a:p>
        </p:txBody>
      </p:sp>
    </p:spTree>
    <p:extLst>
      <p:ext uri="{BB962C8B-B14F-4D97-AF65-F5344CB8AC3E}">
        <p14:creationId xmlns:p14="http://schemas.microsoft.com/office/powerpoint/2010/main" val="408604416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a:t>Этапы </a:t>
            </a:r>
            <a:r>
              <a:rPr lang="en-US" dirty="0"/>
              <a:t>Gap Analysis</a:t>
            </a:r>
            <a:endParaRPr lang="uk-UA" dirty="0"/>
          </a:p>
        </p:txBody>
      </p:sp>
      <p:sp>
        <p:nvSpPr>
          <p:cNvPr id="3" name="Объект 2"/>
          <p:cNvSpPr>
            <a:spLocks noGrp="1"/>
          </p:cNvSpPr>
          <p:nvPr>
            <p:ph idx="1"/>
          </p:nvPr>
        </p:nvSpPr>
        <p:spPr/>
        <p:txBody>
          <a:bodyPr>
            <a:normAutofit/>
          </a:bodyPr>
          <a:lstStyle/>
          <a:p>
            <a:r>
              <a:rPr lang="ru-RU" dirty="0"/>
              <a:t>Определяется текущее состояние процесса , проекта, бизнеса и т.д. (</a:t>
            </a:r>
            <a:r>
              <a:rPr lang="ru-RU" dirty="0" err="1"/>
              <a:t>As-is</a:t>
            </a:r>
            <a:r>
              <a:rPr lang="ru-RU" dirty="0"/>
              <a:t> состояние).</a:t>
            </a:r>
          </a:p>
          <a:p>
            <a:r>
              <a:rPr lang="ru-RU" dirty="0"/>
              <a:t>Определяется будущее, целевое состояние процесса , проекта, бизнеса и т.д. (</a:t>
            </a:r>
            <a:r>
              <a:rPr lang="ru-RU" dirty="0" err="1"/>
              <a:t>To-be</a:t>
            </a:r>
            <a:r>
              <a:rPr lang="ru-RU" dirty="0"/>
              <a:t> состояние).</a:t>
            </a:r>
          </a:p>
          <a:p>
            <a:r>
              <a:rPr lang="ru-RU" dirty="0"/>
              <a:t>Выявляются требования и пробелы, недостающие для достижения состояния </a:t>
            </a:r>
            <a:r>
              <a:rPr lang="ru-RU" dirty="0" err="1"/>
              <a:t>To-be</a:t>
            </a:r>
            <a:r>
              <a:rPr lang="ru-RU" dirty="0"/>
              <a:t> (краткий </a:t>
            </a:r>
            <a:r>
              <a:rPr lang="ru-RU" dirty="0" err="1"/>
              <a:t>Gap</a:t>
            </a:r>
            <a:r>
              <a:rPr lang="ru-RU" dirty="0"/>
              <a:t>-анализ).</a:t>
            </a:r>
          </a:p>
          <a:p>
            <a:r>
              <a:rPr lang="ru-RU" dirty="0"/>
              <a:t>Выявить, являются ли недостающие требования брешью и описать его детально.</a:t>
            </a:r>
          </a:p>
          <a:p>
            <a:r>
              <a:rPr lang="ru-RU" dirty="0"/>
              <a:t>Определить ответственного за решение бреши.</a:t>
            </a:r>
          </a:p>
          <a:p>
            <a:r>
              <a:rPr lang="ru-RU" dirty="0"/>
              <a:t>Прописать пошаговую стратегию решения бреши.</a:t>
            </a:r>
          </a:p>
        </p:txBody>
      </p:sp>
    </p:spTree>
    <p:extLst>
      <p:ext uri="{BB962C8B-B14F-4D97-AF65-F5344CB8AC3E}">
        <p14:creationId xmlns:p14="http://schemas.microsoft.com/office/powerpoint/2010/main" val="128305633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a:t>Пример </a:t>
            </a:r>
            <a:r>
              <a:rPr lang="en-US" dirty="0"/>
              <a:t>Gap Analysis</a:t>
            </a:r>
            <a:endParaRPr lang="uk-UA" dirty="0"/>
          </a:p>
        </p:txBody>
      </p:sp>
      <p:pic>
        <p:nvPicPr>
          <p:cNvPr id="4" name="Объект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029611" y="2238103"/>
            <a:ext cx="10193738" cy="3017346"/>
          </a:xfrm>
        </p:spPr>
      </p:pic>
    </p:spTree>
    <p:extLst>
      <p:ext uri="{BB962C8B-B14F-4D97-AF65-F5344CB8AC3E}">
        <p14:creationId xmlns:p14="http://schemas.microsoft.com/office/powerpoint/2010/main" val="231360225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1F395E0-10E0-4863-BE52-0F4A27981962}"/>
              </a:ext>
            </a:extLst>
          </p:cNvPr>
          <p:cNvSpPr>
            <a:spLocks noGrp="1"/>
          </p:cNvSpPr>
          <p:nvPr>
            <p:ph type="ctrTitle"/>
          </p:nvPr>
        </p:nvSpPr>
        <p:spPr>
          <a:xfrm>
            <a:off x="1286933" y="2213361"/>
            <a:ext cx="8518918" cy="2204815"/>
          </a:xfrm>
        </p:spPr>
        <p:txBody>
          <a:bodyPr>
            <a:normAutofit/>
          </a:bodyPr>
          <a:lstStyle/>
          <a:p>
            <a:pPr algn="l"/>
            <a:r>
              <a:rPr lang="ru-RU" sz="4400" dirty="0"/>
              <a:t>Дополнительные материалы</a:t>
            </a:r>
            <a:endParaRPr lang="en-US" sz="4100" dirty="0"/>
          </a:p>
        </p:txBody>
      </p:sp>
      <p:sp>
        <p:nvSpPr>
          <p:cNvPr id="5" name="Text Placeholder 4">
            <a:extLst>
              <a:ext uri="{FF2B5EF4-FFF2-40B4-BE49-F238E27FC236}">
                <a16:creationId xmlns:a16="http://schemas.microsoft.com/office/drawing/2014/main" id="{B668B4C7-CF60-413E-BF81-3742A22D589A}"/>
              </a:ext>
            </a:extLst>
          </p:cNvPr>
          <p:cNvSpPr>
            <a:spLocks noGrp="1"/>
          </p:cNvSpPr>
          <p:nvPr>
            <p:ph type="subTitle" idx="1"/>
          </p:nvPr>
        </p:nvSpPr>
        <p:spPr>
          <a:xfrm>
            <a:off x="1286934" y="4418176"/>
            <a:ext cx="6247721" cy="1264209"/>
          </a:xfrm>
        </p:spPr>
        <p:txBody>
          <a:bodyPr>
            <a:normAutofit/>
          </a:bodyPr>
          <a:lstStyle/>
          <a:p>
            <a:pPr algn="l"/>
            <a:endParaRPr lang="en-US" dirty="0">
              <a:solidFill>
                <a:schemeClr val="tx1">
                  <a:lumMod val="50000"/>
                  <a:lumOff val="50000"/>
                </a:schemeClr>
              </a:solidFill>
            </a:endParaRPr>
          </a:p>
        </p:txBody>
      </p:sp>
    </p:spTree>
    <p:extLst>
      <p:ext uri="{BB962C8B-B14F-4D97-AF65-F5344CB8AC3E}">
        <p14:creationId xmlns:p14="http://schemas.microsoft.com/office/powerpoint/2010/main" val="46500294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DB34DF-6EE1-4021-AC6E-F559B959EBBA}"/>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519CEC1D-B9C4-41F0-AA8D-4EE2C88F1E54}"/>
              </a:ext>
            </a:extLst>
          </p:cNvPr>
          <p:cNvSpPr>
            <a:spLocks noGrp="1"/>
          </p:cNvSpPr>
          <p:nvPr>
            <p:ph idx="1"/>
          </p:nvPr>
        </p:nvSpPr>
        <p:spPr>
          <a:xfrm>
            <a:off x="913774" y="1701209"/>
            <a:ext cx="10363826" cy="4438333"/>
          </a:xfrm>
        </p:spPr>
        <p:txBody>
          <a:bodyPr>
            <a:normAutofit fontScale="85000" lnSpcReduction="10000"/>
          </a:bodyPr>
          <a:lstStyle/>
          <a:p>
            <a:r>
              <a:rPr lang="ru-RU" dirty="0"/>
              <a:t>Факторы риска при разработке ПО - </a:t>
            </a:r>
            <a:r>
              <a:rPr lang="en-US" dirty="0">
                <a:hlinkClick r:id="rId2"/>
              </a:rPr>
              <a:t>http://vuzirossii.ru/publ/faktory_riska_pri_razrabotke_programmnogo_obespechenija/38-1-0-5362</a:t>
            </a:r>
            <a:endParaRPr lang="ru-RU" dirty="0"/>
          </a:p>
          <a:p>
            <a:r>
              <a:rPr lang="ru-RU" dirty="0" err="1"/>
              <a:t>Вигерс</a:t>
            </a:r>
            <a:r>
              <a:rPr lang="ru-RU" dirty="0"/>
              <a:t> Карл, Битти Джой - Разработка требований к программному обеспечению - Глава 32 Требования к ПО и управление рискам</a:t>
            </a:r>
          </a:p>
          <a:p>
            <a:r>
              <a:rPr lang="en-US" dirty="0"/>
              <a:t>A Guide to the Business Analysis Body of Knowledge (BABOK</a:t>
            </a:r>
            <a:r>
              <a:rPr lang="ru-RU" dirty="0"/>
              <a:t> </a:t>
            </a:r>
            <a:r>
              <a:rPr lang="en-US" dirty="0"/>
              <a:t>Guide)</a:t>
            </a:r>
            <a:r>
              <a:rPr lang="ru-RU" dirty="0"/>
              <a:t> - </a:t>
            </a:r>
            <a:r>
              <a:rPr lang="en-US" dirty="0"/>
              <a:t>6.3 Assess Risks</a:t>
            </a:r>
            <a:endParaRPr lang="ru-RU" dirty="0"/>
          </a:p>
          <a:p>
            <a:r>
              <a:rPr lang="en-US" dirty="0"/>
              <a:t>A Guide to the Business Analysis Body of Knowledge (BABOK</a:t>
            </a:r>
            <a:r>
              <a:rPr lang="ru-RU" dirty="0"/>
              <a:t> </a:t>
            </a:r>
            <a:r>
              <a:rPr lang="en-US" dirty="0"/>
              <a:t>Guide)</a:t>
            </a:r>
            <a:r>
              <a:rPr lang="ru-RU" dirty="0"/>
              <a:t> - </a:t>
            </a:r>
            <a:r>
              <a:rPr lang="en-US" dirty="0"/>
              <a:t>10.38 Risk Analysis and Management</a:t>
            </a:r>
            <a:endParaRPr lang="ru-RU" dirty="0"/>
          </a:p>
          <a:p>
            <a:r>
              <a:rPr lang="en-US" dirty="0"/>
              <a:t>Traceability Matrix</a:t>
            </a:r>
            <a:r>
              <a:rPr lang="ru-RU" dirty="0"/>
              <a:t> </a:t>
            </a:r>
            <a:r>
              <a:rPr lang="en-US" dirty="0">
                <a:hlinkClick r:id="rId3"/>
              </a:rPr>
              <a:t>https://myalm.ru/news/%D0%9C%D0%B0%D1%82%D1%80%D0%B8%D1%86%D0%B0-%D1%82%D1%80%D0%B0%D1%81%D1%81%D0%B8%D1%80%D1%83%D0%B5%D0%BC%D0%BE%D1%81%D1%82%D0%B8-traceability-matrix</a:t>
            </a:r>
            <a:endParaRPr lang="ru-RU" dirty="0"/>
          </a:p>
          <a:p>
            <a:r>
              <a:rPr lang="en-US" dirty="0"/>
              <a:t>Traceability Matrix</a:t>
            </a:r>
            <a:r>
              <a:rPr lang="ru-RU" dirty="0"/>
              <a:t> </a:t>
            </a:r>
            <a:r>
              <a:rPr lang="en-US" dirty="0">
                <a:hlinkClick r:id="rId4"/>
              </a:rPr>
              <a:t>http://tmguru.ru/baza-znanij/protsess-testirovaniya/monitoring-kontrol/traceability-matrix/</a:t>
            </a:r>
            <a:endParaRPr lang="ru-RU" dirty="0"/>
          </a:p>
          <a:p>
            <a:r>
              <a:rPr lang="en-US" dirty="0"/>
              <a:t>A Guide to the Business Analysis Body of Knowledge (BABOK</a:t>
            </a:r>
            <a:r>
              <a:rPr lang="ru-RU" dirty="0"/>
              <a:t> </a:t>
            </a:r>
            <a:r>
              <a:rPr lang="en-US" dirty="0"/>
              <a:t>Guide)</a:t>
            </a:r>
            <a:r>
              <a:rPr lang="ru-RU" dirty="0"/>
              <a:t> - 5</a:t>
            </a:r>
            <a:r>
              <a:rPr lang="en-US" dirty="0"/>
              <a:t>.</a:t>
            </a:r>
            <a:r>
              <a:rPr lang="ru-RU" dirty="0"/>
              <a:t>4</a:t>
            </a:r>
            <a:r>
              <a:rPr lang="en-US" dirty="0"/>
              <a:t> Assess Risks</a:t>
            </a:r>
            <a:endParaRPr lang="ru-RU" dirty="0"/>
          </a:p>
          <a:p>
            <a:r>
              <a:rPr lang="ru-RU" dirty="0" err="1"/>
              <a:t>Вигерс</a:t>
            </a:r>
            <a:r>
              <a:rPr lang="ru-RU" dirty="0"/>
              <a:t> Карл, Битти Джой - Разработка требований к программному обеспечению - </a:t>
            </a:r>
            <a:r>
              <a:rPr lang="uk-UA" dirty="0"/>
              <a:t>Глава </a:t>
            </a:r>
            <a:r>
              <a:rPr lang="ru-RU" dirty="0"/>
              <a:t>28 Изменения случаются</a:t>
            </a:r>
          </a:p>
          <a:p>
            <a:endParaRPr lang="en-US" dirty="0"/>
          </a:p>
        </p:txBody>
      </p:sp>
    </p:spTree>
    <p:extLst>
      <p:ext uri="{BB962C8B-B14F-4D97-AF65-F5344CB8AC3E}">
        <p14:creationId xmlns:p14="http://schemas.microsoft.com/office/powerpoint/2010/main" val="2749938091"/>
      </p:ext>
    </p:extLst>
  </p:cSld>
  <p:clrMapOvr>
    <a:masterClrMapping/>
  </p:clrMapOvr>
</p:sld>
</file>

<file path=ppt/theme/theme1.xml><?xml version="1.0" encoding="utf-8"?>
<a:theme xmlns:a="http://schemas.openxmlformats.org/drawingml/2006/main" name="Ретро">
  <a:themeElements>
    <a:clrScheme name="Ретро">
      <a:dk1>
        <a:sysClr val="windowText" lastClr="000000"/>
      </a:dk1>
      <a:lt1>
        <a:sysClr val="window" lastClr="FFFFFF"/>
      </a:lt1>
      <a:dk2>
        <a:srgbClr val="344068"/>
      </a:dk2>
      <a:lt2>
        <a:srgbClr val="D9E0E6"/>
      </a:lt2>
      <a:accent1>
        <a:srgbClr val="1CADE4"/>
      </a:accent1>
      <a:accent2>
        <a:srgbClr val="2683C6"/>
      </a:accent2>
      <a:accent3>
        <a:srgbClr val="28C4CC"/>
      </a:accent3>
      <a:accent4>
        <a:srgbClr val="42BA97"/>
      </a:accent4>
      <a:accent5>
        <a:srgbClr val="3E8853"/>
      </a:accent5>
      <a:accent6>
        <a:srgbClr val="62A39F"/>
      </a:accent6>
      <a:hlink>
        <a:srgbClr val="6EAC1C"/>
      </a:hlink>
      <a:folHlink>
        <a:srgbClr val="B26B02"/>
      </a:folHlink>
    </a:clrScheme>
    <a:fontScheme name="Ретро">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Ретро">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9CC26709-368C-4D72-9060-94E5B3FF3CD6}"/>
    </a:ext>
  </a:ext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Retrospect</Template>
  <TotalTime>7758</TotalTime>
  <Words>1105</Words>
  <Application>Microsoft Macintosh PowerPoint</Application>
  <PresentationFormat>Widescreen</PresentationFormat>
  <Paragraphs>122</Paragraphs>
  <Slides>29</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29</vt:i4>
      </vt:variant>
    </vt:vector>
  </HeadingPairs>
  <TitlesOfParts>
    <vt:vector size="33" baseType="lpstr">
      <vt:lpstr>Arial</vt:lpstr>
      <vt:lpstr>Calibri</vt:lpstr>
      <vt:lpstr>Calibri Light</vt:lpstr>
      <vt:lpstr>Ретро</vt:lpstr>
      <vt:lpstr>Риски и изменения требований</vt:lpstr>
      <vt:lpstr>Риски и изменения требований</vt:lpstr>
      <vt:lpstr>Риски</vt:lpstr>
      <vt:lpstr>Risk /Риск</vt:lpstr>
      <vt:lpstr>Какие бывают риски</vt:lpstr>
      <vt:lpstr>Риски, связанные с требованиями</vt:lpstr>
      <vt:lpstr>Risk management</vt:lpstr>
      <vt:lpstr>Risk management / Управление рисками</vt:lpstr>
      <vt:lpstr>Матрица рисков</vt:lpstr>
      <vt:lpstr>PowerPoint Presentation</vt:lpstr>
      <vt:lpstr>Предотвращение риска</vt:lpstr>
      <vt:lpstr>Стратегии работы с рисками</vt:lpstr>
      <vt:lpstr>PowerPoint Presentation</vt:lpstr>
      <vt:lpstr>PowerPoint Presentation</vt:lpstr>
      <vt:lpstr>PowerPoint Presentation</vt:lpstr>
      <vt:lpstr>Traceability Matrix</vt:lpstr>
      <vt:lpstr>Traceability Matrix / матрица трассировки</vt:lpstr>
      <vt:lpstr>Пример Traceability Matrix </vt:lpstr>
      <vt:lpstr>Применение</vt:lpstr>
      <vt:lpstr>Impact Analysis</vt:lpstr>
      <vt:lpstr>Impact Analysis / Анализ воздействия</vt:lpstr>
      <vt:lpstr>Impact Analysis Steps</vt:lpstr>
      <vt:lpstr>Пример Impact Analysis </vt:lpstr>
      <vt:lpstr>Gap Analysis</vt:lpstr>
      <vt:lpstr>Gap Analysis</vt:lpstr>
      <vt:lpstr>Этапы Gap Analysis</vt:lpstr>
      <vt:lpstr>Пример Gap Analysis</vt:lpstr>
      <vt:lpstr>Дополнительные материалы</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Введение</dc:title>
  <dc:creator>Olesia Korobko</dc:creator>
  <cp:lastModifiedBy>Olesia Popova</cp:lastModifiedBy>
  <cp:revision>172</cp:revision>
  <dcterms:created xsi:type="dcterms:W3CDTF">2019-07-08T17:35:39Z</dcterms:created>
  <dcterms:modified xsi:type="dcterms:W3CDTF">2020-10-11T09:13:43Z</dcterms:modified>
</cp:coreProperties>
</file>