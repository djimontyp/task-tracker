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Lst>
  <p:notesMasterIdLst>
    <p:notesMasterId r:id="rId33"/>
  </p:notesMasterIdLst>
  <p:sldIdLst>
    <p:sldId id="257" r:id="rId2"/>
    <p:sldId id="258" r:id="rId3"/>
    <p:sldId id="259" r:id="rId4"/>
    <p:sldId id="260" r:id="rId5"/>
    <p:sldId id="296" r:id="rId6"/>
    <p:sldId id="262" r:id="rId7"/>
    <p:sldId id="331" r:id="rId8"/>
    <p:sldId id="330" r:id="rId9"/>
    <p:sldId id="298" r:id="rId10"/>
    <p:sldId id="312" r:id="rId11"/>
    <p:sldId id="335" r:id="rId12"/>
    <p:sldId id="336" r:id="rId13"/>
    <p:sldId id="337" r:id="rId14"/>
    <p:sldId id="338" r:id="rId15"/>
    <p:sldId id="339" r:id="rId16"/>
    <p:sldId id="313" r:id="rId17"/>
    <p:sldId id="334" r:id="rId18"/>
    <p:sldId id="263" r:id="rId19"/>
    <p:sldId id="340" r:id="rId20"/>
    <p:sldId id="341" r:id="rId21"/>
    <p:sldId id="342" r:id="rId22"/>
    <p:sldId id="282" r:id="rId23"/>
    <p:sldId id="332" r:id="rId24"/>
    <p:sldId id="333" r:id="rId25"/>
    <p:sldId id="343" r:id="rId26"/>
    <p:sldId id="344" r:id="rId27"/>
    <p:sldId id="345" r:id="rId28"/>
    <p:sldId id="307" r:id="rId29"/>
    <p:sldId id="325" r:id="rId30"/>
    <p:sldId id="310" r:id="rId31"/>
    <p:sldId id="31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79C1"/>
    <a:srgbClr val="2683C6"/>
    <a:srgbClr val="00BC55"/>
    <a:srgbClr val="FF552D"/>
    <a:srgbClr val="E0E6AC"/>
    <a:srgbClr val="CAE8AA"/>
    <a:srgbClr val="128D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355" autoAdjust="0"/>
    <p:restoredTop sz="94660"/>
  </p:normalViewPr>
  <p:slideViewPr>
    <p:cSldViewPr snapToGrid="0">
      <p:cViewPr varScale="1">
        <p:scale>
          <a:sx n="80" d="100"/>
          <a:sy n="80" d="100"/>
        </p:scale>
        <p:origin x="77"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A91F07-AA21-4441-8E9C-176B80BD8DD0}" type="datetimeFigureOut">
              <a:rPr lang="en-US" smtClean="0"/>
              <a:t>8/28/2020</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B6DE6-DDDF-48BF-BFD8-1F45C50BE4E8}" type="slidenum">
              <a:rPr lang="en-US" smtClean="0"/>
              <a:t>‹#›</a:t>
            </a:fld>
            <a:endParaRPr lang="en-US"/>
          </a:p>
        </p:txBody>
      </p:sp>
    </p:spTree>
    <p:extLst>
      <p:ext uri="{BB962C8B-B14F-4D97-AF65-F5344CB8AC3E}">
        <p14:creationId xmlns:p14="http://schemas.microsoft.com/office/powerpoint/2010/main" val="1970362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none" spc="200" baseline="0">
                <a:solidFill>
                  <a:srgbClr val="0F79C1"/>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dirty="0" smtClean="0"/>
              <a:t>Образец подзаголовка</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674A808F-EF86-42D4-9E05-779F487E5447}" type="datetime1">
              <a:rPr lang="uk-UA" smtClean="0"/>
              <a:t>28.08.2020</a:t>
            </a:fld>
            <a:endParaRPr lang="uk-UA"/>
          </a:p>
        </p:txBody>
      </p:sp>
      <p:sp>
        <p:nvSpPr>
          <p:cNvPr id="5" name="Footer Placeholder 4"/>
          <p:cNvSpPr>
            <a:spLocks noGrp="1"/>
          </p:cNvSpPr>
          <p:nvPr>
            <p:ph type="ftr" sz="quarter" idx="11"/>
          </p:nvPr>
        </p:nvSpPr>
        <p:spPr/>
        <p:txBody>
          <a:bodyPr/>
          <a:lstStyle/>
          <a:p>
            <a:r>
              <a:rPr lang="en-US" smtClean="0"/>
              <a:t>Business Analysis - Hillel course</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7462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B9A38EBA-EE04-4321-A113-D8B098541B3B}" type="datetime1">
              <a:rPr lang="uk-UA" smtClean="0"/>
              <a:t>28.08.2020</a:t>
            </a:fld>
            <a:endParaRPr lang="uk-UA" dirty="0"/>
          </a:p>
        </p:txBody>
      </p:sp>
      <p:sp>
        <p:nvSpPr>
          <p:cNvPr id="5" name="Footer Placeholder 4"/>
          <p:cNvSpPr>
            <a:spLocks noGrp="1"/>
          </p:cNvSpPr>
          <p:nvPr>
            <p:ph type="ftr" sz="quarter" idx="11"/>
          </p:nvPr>
        </p:nvSpPr>
        <p:spPr/>
        <p:txBody>
          <a:bodyPr/>
          <a:lstStyle/>
          <a:p>
            <a:r>
              <a:rPr lang="en-US" dirty="0" smtClean="0"/>
              <a:t>Business Analysis - Hillel course</a:t>
            </a:r>
            <a:endParaRPr lang="uk-UA" dirty="0"/>
          </a:p>
        </p:txBody>
      </p:sp>
      <p:sp>
        <p:nvSpPr>
          <p:cNvPr id="6" name="Slide Number Placeholder 5"/>
          <p:cNvSpPr>
            <a:spLocks noGrp="1"/>
          </p:cNvSpPr>
          <p:nvPr>
            <p:ph type="sldNum" sz="quarter" idx="12"/>
          </p:nvPr>
        </p:nvSpPr>
        <p:spPr/>
        <p:txBody>
          <a:bodyPr/>
          <a:lstStyle/>
          <a:p>
            <a:fld id="{722D506E-8AB4-4D47-A18C-48C2F3230E94}" type="slidenum">
              <a:rPr lang="uk-UA" smtClean="0"/>
              <a:t>‹#›</a:t>
            </a:fld>
            <a:endParaRPr lang="uk-UA"/>
          </a:p>
        </p:txBody>
      </p:sp>
    </p:spTree>
    <p:extLst>
      <p:ext uri="{BB962C8B-B14F-4D97-AF65-F5344CB8AC3E}">
        <p14:creationId xmlns:p14="http://schemas.microsoft.com/office/powerpoint/2010/main" val="116715105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dirty="0" smtClean="0"/>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none" spc="200" baseline="0">
                <a:solidFill>
                  <a:srgbClr val="0F79C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dirty="0" smtClean="0"/>
              <a:t>Образец текста</a:t>
            </a:r>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B07E0A8C-271D-4222-BC8C-3C12FD8AA690}" type="datetime1">
              <a:rPr lang="uk-UA" smtClean="0"/>
              <a:t>28.08.2020</a:t>
            </a:fld>
            <a:endParaRPr lang="uk-UA"/>
          </a:p>
        </p:txBody>
      </p:sp>
      <p:sp>
        <p:nvSpPr>
          <p:cNvPr id="5" name="Footer Placeholder 4"/>
          <p:cNvSpPr>
            <a:spLocks noGrp="1"/>
          </p:cNvSpPr>
          <p:nvPr>
            <p:ph type="ftr" sz="quarter" idx="11"/>
          </p:nvPr>
        </p:nvSpPr>
        <p:spPr/>
        <p:txBody>
          <a:bodyPr/>
          <a:lstStyle/>
          <a:p>
            <a:r>
              <a:rPr lang="en-US" smtClean="0"/>
              <a:t>Business Analysis - Hillel course</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192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272231"/>
          </a:xfrm>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097280" y="1689464"/>
            <a:ext cx="4937760" cy="4493622"/>
          </a:xfrm>
        </p:spPr>
        <p:txBody>
          <a:bodyPr/>
          <a:lstStyle>
            <a:lvl1pPr marL="342900" indent="-342900">
              <a:buFont typeface="Arial" panose="020B0604020202020204" pitchFamily="34" charset="0"/>
              <a:buChar char="•"/>
              <a:defRPr/>
            </a:lvl1p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en-US" dirty="0"/>
          </a:p>
        </p:txBody>
      </p:sp>
      <p:sp>
        <p:nvSpPr>
          <p:cNvPr id="4" name="Content Placeholder 3"/>
          <p:cNvSpPr>
            <a:spLocks noGrp="1"/>
          </p:cNvSpPr>
          <p:nvPr>
            <p:ph sz="half" idx="2"/>
          </p:nvPr>
        </p:nvSpPr>
        <p:spPr>
          <a:xfrm>
            <a:off x="6217920" y="1689464"/>
            <a:ext cx="4937760" cy="4493623"/>
          </a:xfrm>
        </p:spPr>
        <p:txBody>
          <a:bodyPr/>
          <a:lstStyle>
            <a:lvl1pPr marL="342900" indent="-342900">
              <a:buFont typeface="Arial" panose="020B0604020202020204" pitchFamily="34" charset="0"/>
              <a:buChar char="•"/>
              <a:defRPr/>
            </a:lvl1p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en-US" dirty="0"/>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CE2E9FA4-957F-402B-95A2-1660DD1D7078}" type="datetime1">
              <a:rPr lang="uk-UA" smtClean="0"/>
              <a:t>28.08.2020</a:t>
            </a:fld>
            <a:endParaRPr lang="uk-UA"/>
          </a:p>
        </p:txBody>
      </p:sp>
      <p:sp>
        <p:nvSpPr>
          <p:cNvPr id="6" name="Footer Placeholder 5"/>
          <p:cNvSpPr>
            <a:spLocks noGrp="1"/>
          </p:cNvSpPr>
          <p:nvPr>
            <p:ph type="ftr" sz="quarter" idx="11"/>
          </p:nvPr>
        </p:nvSpPr>
        <p:spPr/>
        <p:txBody>
          <a:bodyPr/>
          <a:lstStyle/>
          <a:p>
            <a:r>
              <a:rPr lang="en-US" smtClean="0"/>
              <a:t>Business Analysis - Hillel course</a:t>
            </a:r>
            <a:endParaRPr lang="uk-UA" dirty="0"/>
          </a:p>
        </p:txBody>
      </p:sp>
      <p:sp>
        <p:nvSpPr>
          <p:cNvPr id="7" name="Slide Number Placeholder 6"/>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46844666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4"/>
            <a:ext cx="10058400" cy="1254814"/>
          </a:xfrm>
        </p:spPr>
        <p:txBody>
          <a:bodyPr/>
          <a:lstStyle/>
          <a:p>
            <a:r>
              <a:rPr lang="ru-RU" dirty="0" smtClean="0"/>
              <a:t>Образец заголовка</a:t>
            </a:r>
            <a:endParaRPr lang="en-US" dirty="0"/>
          </a:p>
        </p:txBody>
      </p:sp>
      <p:sp>
        <p:nvSpPr>
          <p:cNvPr id="3" name="Text Placeholder 2"/>
          <p:cNvSpPr>
            <a:spLocks noGrp="1"/>
          </p:cNvSpPr>
          <p:nvPr>
            <p:ph type="body" idx="1"/>
          </p:nvPr>
        </p:nvSpPr>
        <p:spPr>
          <a:xfrm>
            <a:off x="1097280" y="1634584"/>
            <a:ext cx="4937760" cy="590689"/>
          </a:xfrm>
        </p:spPr>
        <p:txBody>
          <a:bodyPr lIns="91440" rIns="91440" anchor="ctr">
            <a:normAutofit/>
          </a:bodyPr>
          <a:lstStyle>
            <a:lvl1pPr marL="0" indent="0">
              <a:buNone/>
              <a:defRPr sz="2400" b="0" cap="none" baseline="0">
                <a:solidFill>
                  <a:srgbClr val="0F79C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smtClean="0"/>
              <a:t>Образец текста</a:t>
            </a:r>
          </a:p>
        </p:txBody>
      </p:sp>
      <p:sp>
        <p:nvSpPr>
          <p:cNvPr id="4" name="Content Placeholder 3"/>
          <p:cNvSpPr>
            <a:spLocks noGrp="1"/>
          </p:cNvSpPr>
          <p:nvPr>
            <p:ph sz="half" idx="2"/>
          </p:nvPr>
        </p:nvSpPr>
        <p:spPr>
          <a:xfrm>
            <a:off x="1097280" y="2312363"/>
            <a:ext cx="4937760" cy="3888140"/>
          </a:xfrm>
        </p:spPr>
        <p:txBody>
          <a:bodyPr/>
          <a:lstStyle>
            <a:lvl1pPr marL="342900" indent="-342900">
              <a:buFont typeface="Arial" panose="020B0604020202020204" pitchFamily="34" charset="0"/>
              <a:buChar char="•"/>
              <a:defRPr/>
            </a:lvl1p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en-US" dirty="0"/>
          </a:p>
        </p:txBody>
      </p:sp>
      <p:sp>
        <p:nvSpPr>
          <p:cNvPr id="5" name="Text Placeholder 4"/>
          <p:cNvSpPr>
            <a:spLocks noGrp="1"/>
          </p:cNvSpPr>
          <p:nvPr>
            <p:ph type="body" sz="quarter" idx="3"/>
          </p:nvPr>
        </p:nvSpPr>
        <p:spPr>
          <a:xfrm>
            <a:off x="6217920" y="1634584"/>
            <a:ext cx="4937760" cy="590689"/>
          </a:xfrm>
        </p:spPr>
        <p:txBody>
          <a:bodyPr lIns="91440" rIns="91440" anchor="ctr">
            <a:normAutofit/>
          </a:bodyPr>
          <a:lstStyle>
            <a:lvl1pPr marL="0" indent="0">
              <a:buNone/>
              <a:defRPr sz="2400" b="0" cap="none" baseline="0">
                <a:solidFill>
                  <a:srgbClr val="0F79C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smtClean="0"/>
              <a:t>Образец текста</a:t>
            </a:r>
          </a:p>
        </p:txBody>
      </p:sp>
      <p:sp>
        <p:nvSpPr>
          <p:cNvPr id="6" name="Content Placeholder 5"/>
          <p:cNvSpPr>
            <a:spLocks noGrp="1"/>
          </p:cNvSpPr>
          <p:nvPr>
            <p:ph sz="quarter" idx="4"/>
          </p:nvPr>
        </p:nvSpPr>
        <p:spPr>
          <a:xfrm>
            <a:off x="6217920" y="2312362"/>
            <a:ext cx="4937760" cy="3888140"/>
          </a:xfrm>
        </p:spPr>
        <p:txBody>
          <a:bodyPr/>
          <a:lstStyle>
            <a:lvl1pPr marL="342900" indent="-342900">
              <a:buFont typeface="Arial" panose="020B0604020202020204" pitchFamily="34" charset="0"/>
              <a:buChar char="•"/>
              <a:defRPr/>
            </a:lvl1p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en-US" dirty="0"/>
          </a:p>
        </p:txBody>
      </p:sp>
      <p:sp>
        <p:nvSpPr>
          <p:cNvPr id="7" name="Date Placeholder 6"/>
          <p:cNvSpPr>
            <a:spLocks noGrp="1"/>
          </p:cNvSpPr>
          <p:nvPr>
            <p:ph type="dt" sz="half" idx="10"/>
          </p:nvPr>
        </p:nvSpPr>
        <p:spPr>
          <a:xfrm>
            <a:off x="1097280" y="6459785"/>
            <a:ext cx="2472271" cy="365125"/>
          </a:xfrm>
          <a:prstGeom prst="rect">
            <a:avLst/>
          </a:prstGeom>
        </p:spPr>
        <p:txBody>
          <a:bodyPr/>
          <a:lstStyle/>
          <a:p>
            <a:fld id="{23A98A30-D8C1-4F62-9995-9CEB090A534E}" type="datetime1">
              <a:rPr lang="uk-UA" smtClean="0"/>
              <a:t>28.08.2020</a:t>
            </a:fld>
            <a:endParaRPr lang="uk-UA"/>
          </a:p>
        </p:txBody>
      </p:sp>
      <p:sp>
        <p:nvSpPr>
          <p:cNvPr id="8" name="Footer Placeholder 7"/>
          <p:cNvSpPr>
            <a:spLocks noGrp="1"/>
          </p:cNvSpPr>
          <p:nvPr>
            <p:ph type="ftr" sz="quarter" idx="11"/>
          </p:nvPr>
        </p:nvSpPr>
        <p:spPr/>
        <p:txBody>
          <a:bodyPr/>
          <a:lstStyle/>
          <a:p>
            <a:r>
              <a:rPr lang="en-US" smtClean="0"/>
              <a:t>Business Analysis - Hillel course</a:t>
            </a:r>
            <a:endParaRPr lang="uk-UA" dirty="0"/>
          </a:p>
        </p:txBody>
      </p:sp>
      <p:sp>
        <p:nvSpPr>
          <p:cNvPr id="9" name="Slide Number Placeholder 8"/>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336577398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a:xfrm>
            <a:off x="1097280" y="6459785"/>
            <a:ext cx="2472271" cy="365125"/>
          </a:xfrm>
          <a:prstGeom prst="rect">
            <a:avLst/>
          </a:prstGeom>
        </p:spPr>
        <p:txBody>
          <a:bodyPr/>
          <a:lstStyle/>
          <a:p>
            <a:fld id="{F1D888A9-9FB8-4391-9D14-8BC22DAEF6E0}" type="datetime1">
              <a:rPr lang="uk-UA" smtClean="0"/>
              <a:t>28.08.2020</a:t>
            </a:fld>
            <a:endParaRPr lang="uk-UA"/>
          </a:p>
        </p:txBody>
      </p:sp>
      <p:sp>
        <p:nvSpPr>
          <p:cNvPr id="4" name="Footer Placeholder 3"/>
          <p:cNvSpPr>
            <a:spLocks noGrp="1"/>
          </p:cNvSpPr>
          <p:nvPr>
            <p:ph type="ftr" sz="quarter" idx="11"/>
          </p:nvPr>
        </p:nvSpPr>
        <p:spPr/>
        <p:txBody>
          <a:bodyPr/>
          <a:lstStyle/>
          <a:p>
            <a:r>
              <a:rPr lang="en-US" smtClean="0"/>
              <a:t>Business Analysis - Hillel course</a:t>
            </a:r>
            <a:endParaRPr lang="uk-UA" dirty="0"/>
          </a:p>
        </p:txBody>
      </p:sp>
      <p:sp>
        <p:nvSpPr>
          <p:cNvPr id="5" name="Slide Number Placeholder 4"/>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339069720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a:xfrm>
            <a:off x="1097280" y="6459785"/>
            <a:ext cx="2472271" cy="365125"/>
          </a:xfrm>
          <a:prstGeom prst="rect">
            <a:avLst/>
          </a:prstGeom>
        </p:spPr>
        <p:txBody>
          <a:bodyPr/>
          <a:lstStyle/>
          <a:p>
            <a:fld id="{7B7EE495-13B1-4625-B5E1-F06093E2E337}" type="datetime1">
              <a:rPr lang="uk-UA" smtClean="0"/>
              <a:t>28.08.2020</a:t>
            </a:fld>
            <a:endParaRPr lang="uk-UA"/>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Business Analysis - Hillel course</a:t>
            </a:r>
            <a:endParaRPr lang="uk-UA" dirty="0"/>
          </a:p>
        </p:txBody>
      </p:sp>
      <p:sp>
        <p:nvSpPr>
          <p:cNvPr id="9" name="Slide Number Placeholder 8"/>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4177551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1530532"/>
          </a:xfrm>
        </p:spPr>
        <p:txBody>
          <a:bodyPr anchor="b">
            <a:normAutofit/>
          </a:bodyPr>
          <a:lstStyle>
            <a:lvl1pPr>
              <a:defRPr sz="3600" b="0">
                <a:solidFill>
                  <a:srgbClr val="FFFFFF"/>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lvl1pPr marL="342900" indent="-342900">
              <a:buFont typeface="Arial" panose="020B0604020202020204" pitchFamily="34" charset="0"/>
              <a:buChar char="•"/>
              <a:defRPr/>
            </a:lvl1p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en-US" dirty="0"/>
          </a:p>
        </p:txBody>
      </p:sp>
      <p:sp>
        <p:nvSpPr>
          <p:cNvPr id="4" name="Text Placeholder 3"/>
          <p:cNvSpPr>
            <a:spLocks noGrp="1"/>
          </p:cNvSpPr>
          <p:nvPr>
            <p:ph type="body" sz="half" idx="2"/>
          </p:nvPr>
        </p:nvSpPr>
        <p:spPr>
          <a:xfrm>
            <a:off x="457200" y="2194560"/>
            <a:ext cx="3200400" cy="411064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a:xfrm>
            <a:off x="465512" y="6459785"/>
            <a:ext cx="2618510" cy="365125"/>
          </a:xfrm>
          <a:prstGeom prst="rect">
            <a:avLst/>
          </a:prstGeom>
        </p:spPr>
        <p:txBody>
          <a:bodyPr/>
          <a:lstStyle>
            <a:lvl1pPr algn="l">
              <a:defRPr/>
            </a:lvl1pPr>
          </a:lstStyle>
          <a:p>
            <a:fld id="{CF9D95F9-2269-4381-9A68-7DEF65636974}" type="datetime1">
              <a:rPr lang="uk-UA" smtClean="0"/>
              <a:t>28.08.2020</a:t>
            </a:fld>
            <a:endParaRPr lang="uk-UA"/>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Business Analysis - Hillel course</a:t>
            </a:r>
            <a:endParaRPr lang="uk-UA"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504FE25-A201-4AD1-9B20-AD00DF8E21D9}" type="slidenum">
              <a:rPr lang="uk-UA" smtClean="0"/>
              <a:t>‹#›</a:t>
            </a:fld>
            <a:endParaRPr lang="uk-UA" dirty="0"/>
          </a:p>
        </p:txBody>
      </p:sp>
    </p:spTree>
    <p:extLst>
      <p:ext uri="{BB962C8B-B14F-4D97-AF65-F5344CB8AC3E}">
        <p14:creationId xmlns:p14="http://schemas.microsoft.com/office/powerpoint/2010/main" val="407837968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32774716-6EEC-490C-8893-E3FD2FE1575B}" type="datetime1">
              <a:rPr lang="uk-UA" smtClean="0"/>
              <a:t>28.08.2020</a:t>
            </a:fld>
            <a:endParaRPr lang="uk-UA"/>
          </a:p>
        </p:txBody>
      </p:sp>
      <p:sp>
        <p:nvSpPr>
          <p:cNvPr id="6" name="Footer Placeholder 5"/>
          <p:cNvSpPr>
            <a:spLocks noGrp="1"/>
          </p:cNvSpPr>
          <p:nvPr>
            <p:ph type="ftr" sz="quarter" idx="11"/>
          </p:nvPr>
        </p:nvSpPr>
        <p:spPr/>
        <p:txBody>
          <a:bodyPr/>
          <a:lstStyle/>
          <a:p>
            <a:r>
              <a:rPr lang="en-US" smtClean="0"/>
              <a:t>Business Analysis - Hillel course</a:t>
            </a:r>
            <a:endParaRPr lang="uk-UA" dirty="0"/>
          </a:p>
        </p:txBody>
      </p:sp>
      <p:sp>
        <p:nvSpPr>
          <p:cNvPr id="7" name="Slide Number Placeholder 6"/>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4160536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5D77FA71-584D-4C97-B4AA-6BCE808359BF}" type="datetime1">
              <a:rPr lang="uk-UA" smtClean="0"/>
              <a:t>28.08.2020</a:t>
            </a:fld>
            <a:endParaRPr lang="uk-UA"/>
          </a:p>
        </p:txBody>
      </p:sp>
      <p:sp>
        <p:nvSpPr>
          <p:cNvPr id="5" name="Footer Placeholder 4"/>
          <p:cNvSpPr>
            <a:spLocks noGrp="1"/>
          </p:cNvSpPr>
          <p:nvPr>
            <p:ph type="ftr" sz="quarter" idx="11"/>
          </p:nvPr>
        </p:nvSpPr>
        <p:spPr/>
        <p:txBody>
          <a:bodyPr/>
          <a:lstStyle/>
          <a:p>
            <a:r>
              <a:rPr lang="en-US" smtClean="0"/>
              <a:t>Business Analysis - Hillel course</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3518116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BF23A289-969A-46F2-8F2F-5E8532D9DE5E}" type="datetime1">
              <a:rPr lang="uk-UA" smtClean="0"/>
              <a:t>28.08.2020</a:t>
            </a:fld>
            <a:endParaRPr lang="uk-UA"/>
          </a:p>
        </p:txBody>
      </p:sp>
      <p:sp>
        <p:nvSpPr>
          <p:cNvPr id="5" name="Footer Placeholder 4"/>
          <p:cNvSpPr>
            <a:spLocks noGrp="1"/>
          </p:cNvSpPr>
          <p:nvPr>
            <p:ph type="ftr" sz="quarter" idx="11"/>
          </p:nvPr>
        </p:nvSpPr>
        <p:spPr/>
        <p:txBody>
          <a:bodyPr/>
          <a:lstStyle/>
          <a:p>
            <a:r>
              <a:rPr lang="en-US" smtClean="0"/>
              <a:t>Business Analysis - Hillel course</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2209203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265892"/>
          </a:xfrm>
          <a:prstGeom prst="rect">
            <a:avLst/>
          </a:prstGeom>
        </p:spPr>
        <p:txBody>
          <a:bodyPr vert="horz" lIns="91440" tIns="45720" rIns="91440" bIns="45720" rtlCol="0" anchor="b">
            <a:normAutofit/>
          </a:bodyPr>
          <a:lstStyle/>
          <a:p>
            <a:r>
              <a:rPr lang="ru-RU" dirty="0" smtClean="0"/>
              <a:t>Образец заголовка</a:t>
            </a:r>
            <a:endParaRPr lang="en-US" dirty="0"/>
          </a:p>
        </p:txBody>
      </p:sp>
      <p:sp>
        <p:nvSpPr>
          <p:cNvPr id="3" name="Text Placeholder 2"/>
          <p:cNvSpPr>
            <a:spLocks noGrp="1"/>
          </p:cNvSpPr>
          <p:nvPr>
            <p:ph type="body" idx="1"/>
          </p:nvPr>
        </p:nvSpPr>
        <p:spPr>
          <a:xfrm>
            <a:off x="1097280" y="1698171"/>
            <a:ext cx="10058400" cy="4458789"/>
          </a:xfrm>
          <a:prstGeom prst="rect">
            <a:avLst/>
          </a:prstGeom>
        </p:spPr>
        <p:txBody>
          <a:bodyPr vert="horz" lIns="0" tIns="45720" rIns="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Footer Placeholder 4"/>
          <p:cNvSpPr>
            <a:spLocks noGrp="1"/>
          </p:cNvSpPr>
          <p:nvPr>
            <p:ph type="ftr" sz="quarter" idx="3"/>
          </p:nvPr>
        </p:nvSpPr>
        <p:spPr>
          <a:xfrm>
            <a:off x="1097280" y="6459785"/>
            <a:ext cx="7411709" cy="365125"/>
          </a:xfrm>
          <a:prstGeom prst="rect">
            <a:avLst/>
          </a:prstGeom>
        </p:spPr>
        <p:txBody>
          <a:bodyPr vert="horz" lIns="91440" tIns="45720" rIns="91440" bIns="45720" rtlCol="0" anchor="ctr"/>
          <a:lstStyle>
            <a:lvl1pPr algn="l">
              <a:defRPr sz="900" cap="all" baseline="0">
                <a:solidFill>
                  <a:srgbClr val="FFFFFF"/>
                </a:solidFill>
              </a:defRPr>
            </a:lvl1pPr>
          </a:lstStyle>
          <a:p>
            <a:r>
              <a:rPr lang="en-US" smtClean="0"/>
              <a:t>Business Analysis - Hillel course</a:t>
            </a:r>
            <a:endParaRPr lang="uk-UA"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504FE25-A201-4AD1-9B20-AD00DF8E21D9}" type="slidenum">
              <a:rPr lang="uk-UA" smtClean="0"/>
              <a:t>‹#›</a:t>
            </a:fld>
            <a:endParaRPr lang="uk-UA" dirty="0"/>
          </a:p>
        </p:txBody>
      </p:sp>
      <p:cxnSp>
        <p:nvCxnSpPr>
          <p:cNvPr id="10" name="Straight Connector 9"/>
          <p:cNvCxnSpPr/>
          <p:nvPr/>
        </p:nvCxnSpPr>
        <p:spPr>
          <a:xfrm>
            <a:off x="1193532" y="1554971"/>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84146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hdr="0" dt="0"/>
  <p:txStyles>
    <p:titleStyle>
      <a:lvl1pPr algn="l" defTabSz="914400" rtl="0" eaLnBrk="1" latinLnBrk="0" hangingPunct="1">
        <a:lnSpc>
          <a:spcPct val="85000"/>
        </a:lnSpc>
        <a:spcBef>
          <a:spcPct val="0"/>
        </a:spcBef>
        <a:buNone/>
        <a:defRPr sz="40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www.projectengineer.net/3-types-of-stakeholder-matrix/" TargetMode="External"/><Relationship Id="rId2" Type="http://schemas.openxmlformats.org/officeDocument/2006/relationships/hyperlink" Target="https://www.itexpert.ru/rus/ITEMS/20080914191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Заинтересованные стороны</a:t>
            </a:r>
            <a:endParaRPr lang="uk-UA" dirty="0"/>
          </a:p>
        </p:txBody>
      </p:sp>
      <p:sp>
        <p:nvSpPr>
          <p:cNvPr id="3" name="Объект 2"/>
          <p:cNvSpPr>
            <a:spLocks noGrp="1"/>
          </p:cNvSpPr>
          <p:nvPr>
            <p:ph idx="1"/>
          </p:nvPr>
        </p:nvSpPr>
        <p:spPr/>
        <p:txBody>
          <a:bodyPr>
            <a:normAutofit/>
          </a:bodyPr>
          <a:lstStyle/>
          <a:p>
            <a:r>
              <a:rPr lang="ru-RU" dirty="0" smtClean="0"/>
              <a:t>Понятие заинтересованных сторон</a:t>
            </a:r>
          </a:p>
          <a:p>
            <a:r>
              <a:rPr lang="ru-RU" dirty="0" smtClean="0"/>
              <a:t>Анализ заинтересованных сторон и стратегия взаимодействия с ними</a:t>
            </a:r>
            <a:endParaRPr lang="en-US" dirty="0" smtClean="0"/>
          </a:p>
          <a:p>
            <a:pPr lvl="1"/>
            <a:r>
              <a:rPr lang="ru-RU" dirty="0"/>
              <a:t>Коммуникационный </a:t>
            </a:r>
            <a:r>
              <a:rPr lang="ru-RU" dirty="0" smtClean="0"/>
              <a:t>план</a:t>
            </a:r>
          </a:p>
          <a:p>
            <a:pPr lvl="1"/>
            <a:r>
              <a:rPr lang="ru-RU" dirty="0" smtClean="0"/>
              <a:t>Первичный анализ</a:t>
            </a:r>
          </a:p>
          <a:p>
            <a:pPr lvl="1"/>
            <a:r>
              <a:rPr lang="ru-RU" dirty="0" smtClean="0"/>
              <a:t>Матрица </a:t>
            </a:r>
            <a:r>
              <a:rPr lang="ru-RU" dirty="0"/>
              <a:t>оценки уровня вовлечения</a:t>
            </a:r>
            <a:r>
              <a:rPr lang="en-US" dirty="0"/>
              <a:t> </a:t>
            </a:r>
            <a:r>
              <a:rPr lang="ru-RU" dirty="0" smtClean="0"/>
              <a:t>ЗС</a:t>
            </a:r>
          </a:p>
          <a:p>
            <a:pPr lvl="1"/>
            <a:r>
              <a:rPr lang="ru-RU" dirty="0"/>
              <a:t>Матрица </a:t>
            </a:r>
            <a:r>
              <a:rPr lang="en-US" dirty="0"/>
              <a:t>‘</a:t>
            </a:r>
            <a:r>
              <a:rPr lang="ru-RU" dirty="0"/>
              <a:t>Интерес-влияние</a:t>
            </a:r>
            <a:r>
              <a:rPr lang="en-US" dirty="0" smtClean="0"/>
              <a:t>’</a:t>
            </a:r>
            <a:endParaRPr lang="ru-RU" dirty="0" smtClean="0"/>
          </a:p>
          <a:p>
            <a:pPr lvl="1"/>
            <a:r>
              <a:rPr lang="en-US" dirty="0" smtClean="0"/>
              <a:t>RACI</a:t>
            </a:r>
            <a:r>
              <a:rPr lang="ru-RU" dirty="0" smtClean="0"/>
              <a:t> матрица</a:t>
            </a:r>
            <a:endParaRPr lang="uk-UA" dirty="0"/>
          </a:p>
        </p:txBody>
      </p:sp>
      <p:sp>
        <p:nvSpPr>
          <p:cNvPr id="4" name="Номер слайда 3"/>
          <p:cNvSpPr>
            <a:spLocks noGrp="1"/>
          </p:cNvSpPr>
          <p:nvPr>
            <p:ph type="sldNum" sz="quarter" idx="12"/>
          </p:nvPr>
        </p:nvSpPr>
        <p:spPr/>
        <p:txBody>
          <a:bodyPr/>
          <a:lstStyle/>
          <a:p>
            <a:fld id="{722D506E-8AB4-4D47-A18C-48C2F3230E94}" type="slidenum">
              <a:rPr lang="uk-UA" smtClean="0"/>
              <a:t>1</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42904837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Заинтересованная сторона / </a:t>
            </a:r>
            <a:r>
              <a:rPr lang="en-US" dirty="0"/>
              <a:t>Stakeholder</a:t>
            </a:r>
            <a:endParaRPr lang="uk-UA" dirty="0"/>
          </a:p>
        </p:txBody>
      </p:sp>
      <p:sp>
        <p:nvSpPr>
          <p:cNvPr id="3" name="Объект 2"/>
          <p:cNvSpPr>
            <a:spLocks noGrp="1"/>
          </p:cNvSpPr>
          <p:nvPr>
            <p:ph idx="1"/>
          </p:nvPr>
        </p:nvSpPr>
        <p:spPr/>
        <p:txBody>
          <a:bodyPr/>
          <a:lstStyle/>
          <a:p>
            <a:pPr marL="0" indent="0">
              <a:buNone/>
            </a:pPr>
            <a:r>
              <a:rPr lang="ru-RU" dirty="0"/>
              <a:t>- это отдельные люди, группы людей или целые организации, интересы которых затрагиваются выполнением либо результатами проекта.</a:t>
            </a:r>
            <a:endParaRPr lang="uk-UA" dirty="0"/>
          </a:p>
        </p:txBody>
      </p:sp>
      <p:sp>
        <p:nvSpPr>
          <p:cNvPr id="4" name="Номер слайда 3"/>
          <p:cNvSpPr>
            <a:spLocks noGrp="1"/>
          </p:cNvSpPr>
          <p:nvPr>
            <p:ph type="sldNum" sz="quarter" idx="12"/>
          </p:nvPr>
        </p:nvSpPr>
        <p:spPr/>
        <p:txBody>
          <a:bodyPr/>
          <a:lstStyle/>
          <a:p>
            <a:fld id="{722D506E-8AB4-4D47-A18C-48C2F3230E94}" type="slidenum">
              <a:rPr lang="uk-UA" smtClean="0"/>
              <a:t>2</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6278090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97280" y="286604"/>
            <a:ext cx="10494356" cy="1255870"/>
          </a:xfrm>
        </p:spPr>
        <p:txBody>
          <a:bodyPr/>
          <a:lstStyle/>
          <a:p>
            <a:r>
              <a:rPr lang="ru-RU" dirty="0"/>
              <a:t>Кто выступает заинтересованной стороной</a:t>
            </a:r>
            <a:endParaRPr lang="uk-UA" dirty="0"/>
          </a:p>
        </p:txBody>
      </p:sp>
      <p:sp>
        <p:nvSpPr>
          <p:cNvPr id="3" name="Объект 2"/>
          <p:cNvSpPr>
            <a:spLocks noGrp="1"/>
          </p:cNvSpPr>
          <p:nvPr>
            <p:ph idx="1"/>
          </p:nvPr>
        </p:nvSpPr>
        <p:spPr/>
        <p:txBody>
          <a:bodyPr>
            <a:normAutofit/>
          </a:bodyPr>
          <a:lstStyle/>
          <a:p>
            <a:pPr fontAlgn="base"/>
            <a:r>
              <a:rPr lang="ru-RU" dirty="0"/>
              <a:t>PM;</a:t>
            </a:r>
          </a:p>
          <a:p>
            <a:pPr fontAlgn="base"/>
            <a:r>
              <a:rPr lang="ru-RU" dirty="0"/>
              <a:t>команда проекта (включая БА);</a:t>
            </a:r>
          </a:p>
          <a:p>
            <a:pPr fontAlgn="base"/>
            <a:r>
              <a:rPr lang="ru-RU" dirty="0"/>
              <a:t>инвесторы;</a:t>
            </a:r>
          </a:p>
          <a:p>
            <a:pPr fontAlgn="base"/>
            <a:r>
              <a:rPr lang="ru-RU" dirty="0"/>
              <a:t>общественные организации;</a:t>
            </a:r>
          </a:p>
          <a:p>
            <a:pPr fontAlgn="base"/>
            <a:r>
              <a:rPr lang="ru-RU" dirty="0"/>
              <a:t>органы власти;</a:t>
            </a:r>
          </a:p>
          <a:p>
            <a:pPr fontAlgn="base"/>
            <a:r>
              <a:rPr lang="ru-RU" dirty="0"/>
              <a:t>партнеры по бизнесу;</a:t>
            </a:r>
          </a:p>
          <a:p>
            <a:pPr fontAlgn="base"/>
            <a:r>
              <a:rPr lang="ru-RU" dirty="0"/>
              <a:t>потребители;</a:t>
            </a:r>
          </a:p>
          <a:p>
            <a:pPr fontAlgn="base"/>
            <a:r>
              <a:rPr lang="ru-RU" dirty="0"/>
              <a:t>конкуренты;</a:t>
            </a:r>
          </a:p>
          <a:p>
            <a:pPr fontAlgn="base"/>
            <a:r>
              <a:rPr lang="ru-RU" dirty="0"/>
              <a:t>заказчик.</a:t>
            </a:r>
          </a:p>
        </p:txBody>
      </p:sp>
      <p:sp>
        <p:nvSpPr>
          <p:cNvPr id="4" name="Номер слайда 3"/>
          <p:cNvSpPr>
            <a:spLocks noGrp="1"/>
          </p:cNvSpPr>
          <p:nvPr>
            <p:ph type="sldNum" sz="quarter" idx="12"/>
          </p:nvPr>
        </p:nvSpPr>
        <p:spPr/>
        <p:txBody>
          <a:bodyPr/>
          <a:lstStyle/>
          <a:p>
            <a:fld id="{722D506E-8AB4-4D47-A18C-48C2F3230E94}" type="slidenum">
              <a:rPr lang="uk-UA" smtClean="0"/>
              <a:t>3</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6508547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p:cNvSpPr>
            <a:spLocks noGrp="1"/>
          </p:cNvSpPr>
          <p:nvPr>
            <p:ph type="title"/>
          </p:nvPr>
        </p:nvSpPr>
        <p:spPr/>
        <p:txBody>
          <a:bodyPr/>
          <a:lstStyle/>
          <a:p>
            <a:r>
              <a:rPr lang="ru-RU" dirty="0"/>
              <a:t>Классификации заинтересованных сторон</a:t>
            </a:r>
            <a:endParaRPr lang="uk-UA" dirty="0"/>
          </a:p>
        </p:txBody>
      </p:sp>
      <p:sp>
        <p:nvSpPr>
          <p:cNvPr id="8" name="Текст 7"/>
          <p:cNvSpPr>
            <a:spLocks noGrp="1"/>
          </p:cNvSpPr>
          <p:nvPr>
            <p:ph type="body" idx="1"/>
          </p:nvPr>
        </p:nvSpPr>
        <p:spPr/>
        <p:txBody>
          <a:bodyPr>
            <a:normAutofit fontScale="92500" lnSpcReduction="20000"/>
          </a:bodyPr>
          <a:lstStyle/>
          <a:p>
            <a:r>
              <a:rPr lang="ru-RU" dirty="0"/>
              <a:t>По принципу вхождения в проект или компанию</a:t>
            </a:r>
            <a:endParaRPr lang="uk-UA" dirty="0"/>
          </a:p>
        </p:txBody>
      </p:sp>
      <p:sp>
        <p:nvSpPr>
          <p:cNvPr id="9" name="Объект 8"/>
          <p:cNvSpPr>
            <a:spLocks noGrp="1"/>
          </p:cNvSpPr>
          <p:nvPr>
            <p:ph sz="half" idx="2"/>
          </p:nvPr>
        </p:nvSpPr>
        <p:spPr/>
        <p:txBody>
          <a:bodyPr>
            <a:normAutofit/>
          </a:bodyPr>
          <a:lstStyle/>
          <a:p>
            <a:pPr lvl="0"/>
            <a:r>
              <a:rPr lang="ru-RU" dirty="0"/>
              <a:t>внешние;</a:t>
            </a:r>
          </a:p>
          <a:p>
            <a:pPr lvl="0"/>
            <a:r>
              <a:rPr lang="ru-RU" dirty="0"/>
              <a:t>внутренние.</a:t>
            </a:r>
            <a:endParaRPr lang="uk-UA" dirty="0"/>
          </a:p>
        </p:txBody>
      </p:sp>
      <p:sp>
        <p:nvSpPr>
          <p:cNvPr id="10" name="Текст 9"/>
          <p:cNvSpPr>
            <a:spLocks noGrp="1"/>
          </p:cNvSpPr>
          <p:nvPr>
            <p:ph type="body" sz="quarter" idx="3"/>
          </p:nvPr>
        </p:nvSpPr>
        <p:spPr/>
        <p:txBody>
          <a:bodyPr>
            <a:normAutofit fontScale="92500" lnSpcReduction="20000"/>
          </a:bodyPr>
          <a:lstStyle/>
          <a:p>
            <a:r>
              <a:rPr lang="ru-RU" dirty="0"/>
              <a:t>По принципу формирования политики проекта</a:t>
            </a:r>
            <a:endParaRPr lang="uk-UA" dirty="0"/>
          </a:p>
        </p:txBody>
      </p:sp>
      <p:sp>
        <p:nvSpPr>
          <p:cNvPr id="11" name="Объект 10"/>
          <p:cNvSpPr>
            <a:spLocks noGrp="1"/>
          </p:cNvSpPr>
          <p:nvPr>
            <p:ph sz="quarter" idx="4"/>
          </p:nvPr>
        </p:nvSpPr>
        <p:spPr/>
        <p:txBody>
          <a:bodyPr>
            <a:normAutofit/>
          </a:bodyPr>
          <a:lstStyle/>
          <a:p>
            <a:pPr fontAlgn="base"/>
            <a:r>
              <a:rPr lang="ru-RU" dirty="0"/>
              <a:t>стороны, официально уполномоченные принимать решения,</a:t>
            </a:r>
          </a:p>
          <a:p>
            <a:pPr fontAlgn="base"/>
            <a:r>
              <a:rPr lang="ru-RU" dirty="0"/>
              <a:t>стороны, официально уполномоченные блокировать решения,</a:t>
            </a:r>
          </a:p>
          <a:p>
            <a:pPr fontAlgn="base"/>
            <a:r>
              <a:rPr lang="ru-RU" dirty="0"/>
              <a:t>стороны, чьи интересы затрагивают данные решения, и</a:t>
            </a:r>
          </a:p>
          <a:p>
            <a:pPr fontAlgn="base"/>
            <a:r>
              <a:rPr lang="ru-RU" dirty="0"/>
              <a:t>стороны, обладающие необходимой информацией или знаниями. </a:t>
            </a:r>
          </a:p>
        </p:txBody>
      </p:sp>
      <p:sp>
        <p:nvSpPr>
          <p:cNvPr id="2" name="Номер слайда 1"/>
          <p:cNvSpPr>
            <a:spLocks noGrp="1"/>
          </p:cNvSpPr>
          <p:nvPr>
            <p:ph type="sldNum" sz="quarter" idx="12"/>
          </p:nvPr>
        </p:nvSpPr>
        <p:spPr/>
        <p:txBody>
          <a:bodyPr/>
          <a:lstStyle/>
          <a:p>
            <a:fld id="{C504FE25-A201-4AD1-9B20-AD00DF8E21D9}" type="slidenum">
              <a:rPr lang="uk-UA" smtClean="0"/>
              <a:t>4</a:t>
            </a:fld>
            <a:endParaRPr lang="uk-UA" dirty="0"/>
          </a:p>
        </p:txBody>
      </p:sp>
      <p:sp>
        <p:nvSpPr>
          <p:cNvPr id="3" name="Нижний колонтитул 2"/>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3513083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6247721" cy="2204815"/>
          </a:xfrm>
        </p:spPr>
        <p:txBody>
          <a:bodyPr>
            <a:normAutofit/>
          </a:bodyPr>
          <a:lstStyle/>
          <a:p>
            <a:pPr algn="l"/>
            <a:r>
              <a:rPr lang="ru-RU" sz="4400" dirty="0"/>
              <a:t>Анализ заинтересованных сторон и стратегия взаимодействия с ними</a:t>
            </a:r>
            <a:endParaRPr lang="en-US" sz="41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endParaRPr lang="en-US" dirty="0">
              <a:solidFill>
                <a:schemeClr val="tx1">
                  <a:lumMod val="50000"/>
                  <a:lumOff val="50000"/>
                </a:schemeClr>
              </a:solidFill>
            </a:endParaRPr>
          </a:p>
        </p:txBody>
      </p:sp>
      <p:sp>
        <p:nvSpPr>
          <p:cNvPr id="2" name="Номер слайда 1"/>
          <p:cNvSpPr>
            <a:spLocks noGrp="1"/>
          </p:cNvSpPr>
          <p:nvPr>
            <p:ph type="sldNum" sz="quarter" idx="12"/>
          </p:nvPr>
        </p:nvSpPr>
        <p:spPr/>
        <p:txBody>
          <a:bodyPr/>
          <a:lstStyle/>
          <a:p>
            <a:fld id="{C504FE25-A201-4AD1-9B20-AD00DF8E21D9}" type="slidenum">
              <a:rPr lang="uk-UA" smtClean="0"/>
              <a:t>5</a:t>
            </a:fld>
            <a:endParaRPr lang="uk-UA" dirty="0"/>
          </a:p>
        </p:txBody>
      </p:sp>
      <p:sp>
        <p:nvSpPr>
          <p:cNvPr id="3" name="Нижний колонтитул 2"/>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701523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Зачем </a:t>
            </a:r>
            <a:r>
              <a:rPr lang="ru-RU" dirty="0"/>
              <a:t>их анализировать?</a:t>
            </a:r>
            <a:endParaRPr lang="uk-UA" dirty="0"/>
          </a:p>
        </p:txBody>
      </p:sp>
      <p:sp>
        <p:nvSpPr>
          <p:cNvPr id="3" name="Объект 2"/>
          <p:cNvSpPr>
            <a:spLocks noGrp="1"/>
          </p:cNvSpPr>
          <p:nvPr>
            <p:ph idx="1"/>
          </p:nvPr>
        </p:nvSpPr>
        <p:spPr/>
        <p:txBody>
          <a:bodyPr/>
          <a:lstStyle/>
          <a:p>
            <a:r>
              <a:rPr lang="uk-UA" dirty="0"/>
              <a:t>Определить </a:t>
            </a:r>
            <a:r>
              <a:rPr lang="ru-RU" dirty="0"/>
              <a:t>потенциальных участников проекта и его сторонников;</a:t>
            </a:r>
          </a:p>
          <a:p>
            <a:r>
              <a:rPr lang="ru-RU" dirty="0"/>
              <a:t>Определить возможные риски;</a:t>
            </a:r>
          </a:p>
          <a:p>
            <a:r>
              <a:rPr lang="ru-RU" dirty="0"/>
              <a:t>Определить </a:t>
            </a:r>
            <a:r>
              <a:rPr lang="ru-RU" dirty="0" smtClean="0"/>
              <a:t>стратегию взаимодействия с </a:t>
            </a:r>
            <a:r>
              <a:rPr lang="ru-RU" dirty="0"/>
              <a:t>заинтересованными сторонами (отчетность, информирование, консультации).</a:t>
            </a:r>
            <a:endParaRPr lang="uk-UA" dirty="0"/>
          </a:p>
        </p:txBody>
      </p:sp>
      <p:sp>
        <p:nvSpPr>
          <p:cNvPr id="4" name="Номер слайда 3"/>
          <p:cNvSpPr>
            <a:spLocks noGrp="1"/>
          </p:cNvSpPr>
          <p:nvPr>
            <p:ph type="sldNum" sz="quarter" idx="12"/>
          </p:nvPr>
        </p:nvSpPr>
        <p:spPr/>
        <p:txBody>
          <a:bodyPr/>
          <a:lstStyle/>
          <a:p>
            <a:fld id="{722D506E-8AB4-4D47-A18C-48C2F3230E94}" type="slidenum">
              <a:rPr lang="uk-UA" smtClean="0"/>
              <a:t>6</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1126415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normAutofit/>
          </a:bodyPr>
          <a:lstStyle/>
          <a:p>
            <a:r>
              <a:rPr lang="ru-RU" sz="2800" dirty="0"/>
              <a:t>Коммуникационный план / </a:t>
            </a:r>
            <a:r>
              <a:rPr lang="en-US" sz="2800" dirty="0"/>
              <a:t>Communication plan</a:t>
            </a:r>
          </a:p>
        </p:txBody>
      </p:sp>
      <p:sp>
        <p:nvSpPr>
          <p:cNvPr id="6" name="Текст 5"/>
          <p:cNvSpPr>
            <a:spLocks noGrp="1"/>
          </p:cNvSpPr>
          <p:nvPr>
            <p:ph type="body" sz="half" idx="2"/>
          </p:nvPr>
        </p:nvSpPr>
        <p:spPr/>
        <p:txBody>
          <a:bodyPr/>
          <a:lstStyle/>
          <a:p>
            <a:endParaRPr lang="en-US"/>
          </a:p>
        </p:txBody>
      </p:sp>
      <p:pic>
        <p:nvPicPr>
          <p:cNvPr id="10" name="Объект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7563" y="5493"/>
            <a:ext cx="6576291" cy="6882540"/>
          </a:xfrm>
          <a:prstGeom prst="rect">
            <a:avLst/>
          </a:prstGeom>
        </p:spPr>
      </p:pic>
      <p:sp>
        <p:nvSpPr>
          <p:cNvPr id="2" name="Номер слайда 1"/>
          <p:cNvSpPr>
            <a:spLocks noGrp="1"/>
          </p:cNvSpPr>
          <p:nvPr>
            <p:ph type="sldNum" sz="quarter" idx="12"/>
          </p:nvPr>
        </p:nvSpPr>
        <p:spPr/>
        <p:txBody>
          <a:bodyPr/>
          <a:lstStyle/>
          <a:p>
            <a:fld id="{C504FE25-A201-4AD1-9B20-AD00DF8E21D9}" type="slidenum">
              <a:rPr lang="uk-UA" smtClean="0"/>
              <a:t>7</a:t>
            </a:fld>
            <a:endParaRPr lang="uk-UA" dirty="0"/>
          </a:p>
        </p:txBody>
      </p:sp>
      <p:sp>
        <p:nvSpPr>
          <p:cNvPr id="3" name="Нижний колонтитул 2"/>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485967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775857" y="-5783"/>
            <a:ext cx="10621818" cy="6281171"/>
          </a:xfrm>
        </p:spPr>
      </p:pic>
      <p:sp>
        <p:nvSpPr>
          <p:cNvPr id="2" name="Номер слайда 1"/>
          <p:cNvSpPr>
            <a:spLocks noGrp="1"/>
          </p:cNvSpPr>
          <p:nvPr>
            <p:ph type="sldNum" sz="quarter" idx="12"/>
          </p:nvPr>
        </p:nvSpPr>
        <p:spPr/>
        <p:txBody>
          <a:bodyPr/>
          <a:lstStyle/>
          <a:p>
            <a:fld id="{C504FE25-A201-4AD1-9B20-AD00DF8E21D9}" type="slidenum">
              <a:rPr lang="uk-UA" smtClean="0"/>
              <a:t>8</a:t>
            </a:fld>
            <a:endParaRPr lang="uk-UA" dirty="0"/>
          </a:p>
        </p:txBody>
      </p:sp>
      <p:sp>
        <p:nvSpPr>
          <p:cNvPr id="3" name="Нижний колонтитул 2"/>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93856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098A6-E302-41D2-A380-51837813F293}"/>
              </a:ext>
            </a:extLst>
          </p:cNvPr>
          <p:cNvSpPr>
            <a:spLocks noGrp="1"/>
          </p:cNvSpPr>
          <p:nvPr>
            <p:ph type="title"/>
          </p:nvPr>
        </p:nvSpPr>
        <p:spPr/>
        <p:txBody>
          <a:bodyPr>
            <a:normAutofit/>
          </a:bodyPr>
          <a:lstStyle/>
          <a:p>
            <a:r>
              <a:rPr lang="ru-RU" sz="2800" dirty="0" smtClean="0"/>
              <a:t>Первичный анализ</a:t>
            </a:r>
            <a:endParaRPr lang="en-US" sz="2800" dirty="0"/>
          </a:p>
        </p:txBody>
      </p:sp>
      <p:graphicFrame>
        <p:nvGraphicFramePr>
          <p:cNvPr id="5" name="Content Placeholder 4">
            <a:extLst>
              <a:ext uri="{FF2B5EF4-FFF2-40B4-BE49-F238E27FC236}">
                <a16:creationId xmlns:a16="http://schemas.microsoft.com/office/drawing/2014/main" id="{723DB242-89CE-4B76-AB94-682BA97C1298}"/>
              </a:ext>
            </a:extLst>
          </p:cNvPr>
          <p:cNvGraphicFramePr>
            <a:graphicFrameLocks noGrp="1"/>
          </p:cNvGraphicFramePr>
          <p:nvPr>
            <p:ph idx="1"/>
            <p:extLst>
              <p:ext uri="{D42A27DB-BD31-4B8C-83A1-F6EECF244321}">
                <p14:modId xmlns:p14="http://schemas.microsoft.com/office/powerpoint/2010/main" val="1109299579"/>
              </p:ext>
            </p:extLst>
          </p:nvPr>
        </p:nvGraphicFramePr>
        <p:xfrm>
          <a:off x="4800600" y="731838"/>
          <a:ext cx="6492876" cy="5222240"/>
        </p:xfrm>
        <a:graphic>
          <a:graphicData uri="http://schemas.openxmlformats.org/drawingml/2006/table">
            <a:tbl>
              <a:tblPr firstRow="1" bandRow="1">
                <a:tableStyleId>{21E4AEA4-8DFA-4A89-87EB-49C32662AFE0}</a:tableStyleId>
              </a:tblPr>
              <a:tblGrid>
                <a:gridCol w="3246438">
                  <a:extLst>
                    <a:ext uri="{9D8B030D-6E8A-4147-A177-3AD203B41FA5}">
                      <a16:colId xmlns:a16="http://schemas.microsoft.com/office/drawing/2014/main" val="4157426388"/>
                    </a:ext>
                  </a:extLst>
                </a:gridCol>
                <a:gridCol w="3246438">
                  <a:extLst>
                    <a:ext uri="{9D8B030D-6E8A-4147-A177-3AD203B41FA5}">
                      <a16:colId xmlns:a16="http://schemas.microsoft.com/office/drawing/2014/main" val="2936021006"/>
                    </a:ext>
                  </a:extLst>
                </a:gridCol>
              </a:tblGrid>
              <a:tr h="370840">
                <a:tc>
                  <a:txBody>
                    <a:bodyPr/>
                    <a:lstStyle/>
                    <a:p>
                      <a:pPr algn="ctr"/>
                      <a:r>
                        <a:rPr lang="ru-RU" sz="2400" dirty="0"/>
                        <a:t>Стейкхолдер</a:t>
                      </a:r>
                      <a:endParaRPr lang="en-US" sz="2400" dirty="0"/>
                    </a:p>
                  </a:txBody>
                  <a:tcPr marL="57290" marR="57290"/>
                </a:tc>
                <a:tc>
                  <a:txBody>
                    <a:bodyPr/>
                    <a:lstStyle/>
                    <a:p>
                      <a:pPr algn="ctr"/>
                      <a:r>
                        <a:rPr lang="ru-RU" sz="2400" dirty="0"/>
                        <a:t>Оновные интересы</a:t>
                      </a:r>
                      <a:endParaRPr lang="en-US" sz="2400" dirty="0"/>
                    </a:p>
                  </a:txBody>
                  <a:tcPr marL="57290" marR="57290"/>
                </a:tc>
                <a:extLst>
                  <a:ext uri="{0D108BD9-81ED-4DB2-BD59-A6C34878D82A}">
                    <a16:rowId xmlns:a16="http://schemas.microsoft.com/office/drawing/2014/main" val="2030777391"/>
                  </a:ext>
                </a:extLst>
              </a:tr>
              <a:tr h="370840">
                <a:tc gridSpan="2">
                  <a:txBody>
                    <a:bodyPr/>
                    <a:lstStyle/>
                    <a:p>
                      <a:pPr algn="ctr"/>
                      <a:r>
                        <a:rPr lang="ru-RU" sz="2400" dirty="0"/>
                        <a:t>Внутренние заинтересованные стороны</a:t>
                      </a:r>
                      <a:endParaRPr lang="en-US" sz="2400" dirty="0"/>
                    </a:p>
                  </a:txBody>
                  <a:tcPr marL="57290" marR="57290">
                    <a:solidFill>
                      <a:schemeClr val="accent2">
                        <a:lumMod val="40000"/>
                        <a:lumOff val="60000"/>
                      </a:schemeClr>
                    </a:solidFill>
                  </a:tcPr>
                </a:tc>
                <a:tc hMerge="1">
                  <a:txBody>
                    <a:bodyPr/>
                    <a:lstStyle/>
                    <a:p>
                      <a:endParaRPr lang="en-US" dirty="0"/>
                    </a:p>
                  </a:txBody>
                  <a:tcPr/>
                </a:tc>
                <a:extLst>
                  <a:ext uri="{0D108BD9-81ED-4DB2-BD59-A6C34878D82A}">
                    <a16:rowId xmlns:a16="http://schemas.microsoft.com/office/drawing/2014/main" val="1773753603"/>
                  </a:ext>
                </a:extLst>
              </a:tr>
              <a:tr h="370840">
                <a:tc>
                  <a:txBody>
                    <a:bodyPr/>
                    <a:lstStyle/>
                    <a:p>
                      <a:pPr algn="l"/>
                      <a:r>
                        <a:rPr lang="ru-RU" sz="1800" dirty="0" smtClean="0"/>
                        <a:t>Менеджер проекта</a:t>
                      </a:r>
                      <a:endParaRPr lang="en-US" sz="1800" dirty="0"/>
                    </a:p>
                  </a:txBody>
                  <a:tcPr marL="57290" marR="57290"/>
                </a:tc>
                <a:tc>
                  <a:txBody>
                    <a:bodyPr/>
                    <a:lstStyle/>
                    <a:p>
                      <a:pPr algn="l"/>
                      <a:r>
                        <a:rPr lang="ru-RU" sz="1800" dirty="0" smtClean="0"/>
                        <a:t>Интерес 1</a:t>
                      </a:r>
                    </a:p>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2</a:t>
                      </a:r>
                      <a:endParaRPr lang="en-US" sz="1800" dirty="0" smtClean="0"/>
                    </a:p>
                  </a:txBody>
                  <a:tcPr marL="57290" marR="57290"/>
                </a:tc>
                <a:extLst>
                  <a:ext uri="{0D108BD9-81ED-4DB2-BD59-A6C34878D82A}">
                    <a16:rowId xmlns:a16="http://schemas.microsoft.com/office/drawing/2014/main" val="433101654"/>
                  </a:ext>
                </a:extLst>
              </a:tr>
              <a:tr h="370840">
                <a:tc>
                  <a:txBody>
                    <a:bodyPr/>
                    <a:lstStyle/>
                    <a:p>
                      <a:pPr algn="l"/>
                      <a:r>
                        <a:rPr lang="ru-RU" sz="1800" dirty="0" smtClean="0"/>
                        <a:t>Бизнес</a:t>
                      </a:r>
                      <a:r>
                        <a:rPr lang="ru-RU" sz="1800" baseline="0" dirty="0" smtClean="0"/>
                        <a:t> аналитик</a:t>
                      </a:r>
                      <a:endParaRPr lang="en-US" sz="1800" dirty="0"/>
                    </a:p>
                  </a:txBody>
                  <a:tcPr marL="57290" marR="57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1</a:t>
                      </a:r>
                      <a:endParaRPr lang="en-US" sz="1800" dirty="0" smtClean="0"/>
                    </a:p>
                  </a:txBody>
                  <a:tcPr marL="57290" marR="57290"/>
                </a:tc>
                <a:extLst>
                  <a:ext uri="{0D108BD9-81ED-4DB2-BD59-A6C34878D82A}">
                    <a16:rowId xmlns:a16="http://schemas.microsoft.com/office/drawing/2014/main" val="80055373"/>
                  </a:ext>
                </a:extLst>
              </a:tr>
              <a:tr h="370840">
                <a:tc>
                  <a:txBody>
                    <a:bodyPr/>
                    <a:lstStyle/>
                    <a:p>
                      <a:pPr algn="l"/>
                      <a:r>
                        <a:rPr lang="ru-RU" sz="1800" dirty="0" smtClean="0"/>
                        <a:t>Команда</a:t>
                      </a:r>
                      <a:r>
                        <a:rPr lang="ru-RU" sz="1800" baseline="0" dirty="0" smtClean="0"/>
                        <a:t> разработки</a:t>
                      </a:r>
                      <a:endParaRPr lang="en-US" sz="1800" dirty="0"/>
                    </a:p>
                  </a:txBody>
                  <a:tcPr marL="57290" marR="57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1</a:t>
                      </a:r>
                    </a:p>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2</a:t>
                      </a:r>
                      <a:endParaRPr lang="en-US" sz="18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3</a:t>
                      </a:r>
                      <a:endParaRPr lang="en-US" sz="1800" dirty="0" smtClean="0"/>
                    </a:p>
                  </a:txBody>
                  <a:tcPr marL="57290" marR="57290"/>
                </a:tc>
                <a:extLst>
                  <a:ext uri="{0D108BD9-81ED-4DB2-BD59-A6C34878D82A}">
                    <a16:rowId xmlns:a16="http://schemas.microsoft.com/office/drawing/2014/main" val="1857045540"/>
                  </a:ext>
                </a:extLst>
              </a:tr>
              <a:tr h="370840">
                <a:tc gridSpan="2">
                  <a:txBody>
                    <a:bodyPr/>
                    <a:lstStyle/>
                    <a:p>
                      <a:pPr algn="ctr"/>
                      <a:r>
                        <a:rPr lang="ru-RU" sz="2400" dirty="0"/>
                        <a:t>Внешние заинтересованные стороны</a:t>
                      </a:r>
                      <a:endParaRPr lang="en-US" sz="2400" dirty="0"/>
                    </a:p>
                  </a:txBody>
                  <a:tcPr marL="57290" marR="57290">
                    <a:solidFill>
                      <a:schemeClr val="accent2">
                        <a:lumMod val="40000"/>
                        <a:lumOff val="60000"/>
                      </a:schemeClr>
                    </a:solidFill>
                  </a:tcPr>
                </a:tc>
                <a:tc hMerge="1">
                  <a:txBody>
                    <a:bodyPr/>
                    <a:lstStyle/>
                    <a:p>
                      <a:endParaRPr lang="en-US" dirty="0"/>
                    </a:p>
                  </a:txBody>
                  <a:tcPr/>
                </a:tc>
                <a:extLst>
                  <a:ext uri="{0D108BD9-81ED-4DB2-BD59-A6C34878D82A}">
                    <a16:rowId xmlns:a16="http://schemas.microsoft.com/office/drawing/2014/main" val="2271204158"/>
                  </a:ext>
                </a:extLst>
              </a:tr>
              <a:tr h="370840">
                <a:tc>
                  <a:txBody>
                    <a:bodyPr/>
                    <a:lstStyle/>
                    <a:p>
                      <a:pPr algn="l"/>
                      <a:r>
                        <a:rPr lang="ru-RU" sz="1800" dirty="0" smtClean="0"/>
                        <a:t>Владелец</a:t>
                      </a:r>
                      <a:r>
                        <a:rPr lang="ru-RU" sz="1800" baseline="0" dirty="0" smtClean="0"/>
                        <a:t> продукта</a:t>
                      </a:r>
                      <a:endParaRPr lang="en-US" sz="1800" dirty="0"/>
                    </a:p>
                  </a:txBody>
                  <a:tcPr marL="57290" marR="57290"/>
                </a:tc>
                <a:tc>
                  <a:txBody>
                    <a:bodyPr/>
                    <a:lstStyle/>
                    <a:p>
                      <a:pPr algn="l"/>
                      <a:r>
                        <a:rPr lang="ru-RU" sz="1800" dirty="0" smtClean="0"/>
                        <a:t>Интерес 1</a:t>
                      </a:r>
                    </a:p>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2</a:t>
                      </a:r>
                      <a:endParaRPr lang="en-US" sz="1800" dirty="0" smtClean="0"/>
                    </a:p>
                  </a:txBody>
                  <a:tcPr marL="57290" marR="57290"/>
                </a:tc>
                <a:extLst>
                  <a:ext uri="{0D108BD9-81ED-4DB2-BD59-A6C34878D82A}">
                    <a16:rowId xmlns:a16="http://schemas.microsoft.com/office/drawing/2014/main" val="125765578"/>
                  </a:ext>
                </a:extLst>
              </a:tr>
              <a:tr h="370840">
                <a:tc>
                  <a:txBody>
                    <a:bodyPr/>
                    <a:lstStyle/>
                    <a:p>
                      <a:pPr algn="l"/>
                      <a:r>
                        <a:rPr lang="ru-RU" sz="1800" dirty="0" smtClean="0"/>
                        <a:t>Инвестор</a:t>
                      </a:r>
                      <a:endParaRPr lang="en-US" sz="1800" dirty="0"/>
                    </a:p>
                  </a:txBody>
                  <a:tcPr marL="57290" marR="57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1</a:t>
                      </a:r>
                      <a:endParaRPr lang="en-US" sz="1800" dirty="0" smtClean="0"/>
                    </a:p>
                  </a:txBody>
                  <a:tcPr marL="57290" marR="57290"/>
                </a:tc>
                <a:extLst>
                  <a:ext uri="{0D108BD9-81ED-4DB2-BD59-A6C34878D82A}">
                    <a16:rowId xmlns:a16="http://schemas.microsoft.com/office/drawing/2014/main" val="2465766511"/>
                  </a:ext>
                </a:extLst>
              </a:tr>
              <a:tr h="370840">
                <a:tc>
                  <a:txBody>
                    <a:bodyPr/>
                    <a:lstStyle/>
                    <a:p>
                      <a:pPr algn="l"/>
                      <a:r>
                        <a:rPr lang="ru-RU" sz="1800" dirty="0" smtClean="0"/>
                        <a:t>Конечный пользователь</a:t>
                      </a:r>
                      <a:endParaRPr lang="en-US" sz="1800" dirty="0"/>
                    </a:p>
                  </a:txBody>
                  <a:tcPr marL="57290" marR="57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1</a:t>
                      </a:r>
                    </a:p>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2</a:t>
                      </a:r>
                      <a:endParaRPr lang="en-US" sz="18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sz="1800" dirty="0" smtClean="0"/>
                        <a:t>Интерес 3</a:t>
                      </a:r>
                      <a:endParaRPr lang="en-US" sz="1800" dirty="0" smtClean="0"/>
                    </a:p>
                  </a:txBody>
                  <a:tcPr marL="57290" marR="57290"/>
                </a:tc>
                <a:extLst>
                  <a:ext uri="{0D108BD9-81ED-4DB2-BD59-A6C34878D82A}">
                    <a16:rowId xmlns:a16="http://schemas.microsoft.com/office/drawing/2014/main" val="2634705429"/>
                  </a:ext>
                </a:extLst>
              </a:tr>
            </a:tbl>
          </a:graphicData>
        </a:graphic>
      </p:graphicFrame>
      <p:sp>
        <p:nvSpPr>
          <p:cNvPr id="7" name="Текст 6"/>
          <p:cNvSpPr>
            <a:spLocks noGrp="1"/>
          </p:cNvSpPr>
          <p:nvPr>
            <p:ph type="body" sz="half" idx="2"/>
          </p:nvPr>
        </p:nvSpPr>
        <p:spPr/>
        <p:txBody>
          <a:bodyPr/>
          <a:lstStyle/>
          <a:p>
            <a:endParaRPr lang="en-US" dirty="0"/>
          </a:p>
        </p:txBody>
      </p:sp>
      <p:sp>
        <p:nvSpPr>
          <p:cNvPr id="3" name="Номер слайда 2"/>
          <p:cNvSpPr>
            <a:spLocks noGrp="1"/>
          </p:cNvSpPr>
          <p:nvPr>
            <p:ph type="sldNum" sz="quarter" idx="12"/>
          </p:nvPr>
        </p:nvSpPr>
        <p:spPr/>
        <p:txBody>
          <a:bodyPr/>
          <a:lstStyle/>
          <a:p>
            <a:fld id="{C504FE25-A201-4AD1-9B20-AD00DF8E21D9}" type="slidenum">
              <a:rPr lang="uk-UA" smtClean="0"/>
              <a:t>9</a:t>
            </a:fld>
            <a:endParaRPr lang="uk-UA" dirty="0"/>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356935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600" dirty="0"/>
              <a:t>Матрица оценки уровня </a:t>
            </a:r>
            <a:r>
              <a:rPr lang="ru-RU" sz="3600" dirty="0" smtClean="0"/>
              <a:t>вовлечения</a:t>
            </a:r>
            <a:r>
              <a:rPr lang="en-US" sz="3600" dirty="0" smtClean="0"/>
              <a:t> </a:t>
            </a:r>
            <a:r>
              <a:rPr lang="ru-RU" sz="3600" dirty="0" smtClean="0"/>
              <a:t>ЗС</a:t>
            </a:r>
            <a:r>
              <a:rPr lang="en-US" sz="3600" dirty="0" smtClean="0"/>
              <a:t> </a:t>
            </a:r>
            <a:r>
              <a:rPr lang="ru-RU" sz="3600" dirty="0" smtClean="0"/>
              <a:t>/ </a:t>
            </a:r>
            <a:r>
              <a:rPr lang="ru-RU" sz="3600" dirty="0" smtClean="0"/>
              <a:t/>
            </a:r>
            <a:br>
              <a:rPr lang="ru-RU" sz="3600" dirty="0" smtClean="0"/>
            </a:br>
            <a:r>
              <a:rPr lang="en-US" sz="3600" dirty="0" smtClean="0"/>
              <a:t>Stakeholder </a:t>
            </a:r>
            <a:r>
              <a:rPr lang="en-US" sz="3600" dirty="0"/>
              <a:t>Engagement Assessment </a:t>
            </a:r>
            <a:r>
              <a:rPr lang="en-US" sz="3600" dirty="0" smtClean="0"/>
              <a:t>Matrix</a:t>
            </a:r>
            <a:endParaRPr lang="en-US" sz="3600" dirty="0"/>
          </a:p>
        </p:txBody>
      </p:sp>
      <p:pic>
        <p:nvPicPr>
          <p:cNvPr id="1026" name="Picture 2" descr="https://www.projectengineer.net/wp-content/uploads/2019/12/stakeholder-engagement-assessment-matri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414" y="2311255"/>
            <a:ext cx="10992716" cy="2582576"/>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p:cNvSpPr>
            <a:spLocks noGrp="1"/>
          </p:cNvSpPr>
          <p:nvPr>
            <p:ph type="sldNum" sz="quarter" idx="12"/>
          </p:nvPr>
        </p:nvSpPr>
        <p:spPr/>
        <p:txBody>
          <a:bodyPr/>
          <a:lstStyle/>
          <a:p>
            <a:fld id="{722D506E-8AB4-4D47-A18C-48C2F3230E94}" type="slidenum">
              <a:rPr lang="uk-UA" smtClean="0"/>
              <a:t>10</a:t>
            </a:fld>
            <a:endParaRPr lang="uk-UA"/>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30020482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Уровни вовлеченности</a:t>
            </a:r>
            <a:endParaRPr lang="en-US" dirty="0"/>
          </a:p>
        </p:txBody>
      </p:sp>
      <p:sp>
        <p:nvSpPr>
          <p:cNvPr id="3" name="Объект 2"/>
          <p:cNvSpPr>
            <a:spLocks noGrp="1"/>
          </p:cNvSpPr>
          <p:nvPr>
            <p:ph idx="1"/>
          </p:nvPr>
        </p:nvSpPr>
        <p:spPr>
          <a:xfrm>
            <a:off x="1007918" y="1631373"/>
            <a:ext cx="10147762" cy="4525587"/>
          </a:xfrm>
        </p:spPr>
        <p:txBody>
          <a:bodyPr/>
          <a:lstStyle/>
          <a:p>
            <a:r>
              <a:rPr lang="ru-RU" b="1" dirty="0" smtClean="0">
                <a:solidFill>
                  <a:srgbClr val="0F79C1"/>
                </a:solidFill>
              </a:rPr>
              <a:t>Неосведомленный</a:t>
            </a:r>
            <a:r>
              <a:rPr lang="ru-RU" dirty="0">
                <a:solidFill>
                  <a:srgbClr val="0F79C1"/>
                </a:solidFill>
              </a:rPr>
              <a:t> </a:t>
            </a:r>
            <a:r>
              <a:rPr lang="en-US" b="1" dirty="0" smtClean="0">
                <a:solidFill>
                  <a:srgbClr val="0F79C1"/>
                </a:solidFill>
              </a:rPr>
              <a:t>/ Unaware</a:t>
            </a:r>
            <a:r>
              <a:rPr lang="ru-RU" b="1" dirty="0" smtClean="0"/>
              <a:t> </a:t>
            </a:r>
            <a:r>
              <a:rPr lang="ru-RU" dirty="0" smtClean="0"/>
              <a:t>– не </a:t>
            </a:r>
            <a:r>
              <a:rPr lang="ru-RU" dirty="0"/>
              <a:t>осведомлен о проекте и потенциальных воздействиях.</a:t>
            </a:r>
          </a:p>
          <a:p>
            <a:r>
              <a:rPr lang="ru-RU" b="1" dirty="0" smtClean="0">
                <a:solidFill>
                  <a:schemeClr val="bg1">
                    <a:lumMod val="65000"/>
                  </a:schemeClr>
                </a:solidFill>
              </a:rPr>
              <a:t>Сопротивляющийся</a:t>
            </a:r>
            <a:r>
              <a:rPr lang="en-US" b="1" dirty="0" smtClean="0">
                <a:solidFill>
                  <a:schemeClr val="bg1">
                    <a:lumMod val="65000"/>
                  </a:schemeClr>
                </a:solidFill>
              </a:rPr>
              <a:t> / Resistant</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потенциальном воздействии, однако имеет возражения против любых изменений, причиной которых могут быть работы по проекту или его конечные результаты. Эти заинтересованные стороны не будут поддерживать работы или конечные результаты проекта.</a:t>
            </a:r>
          </a:p>
          <a:p>
            <a:r>
              <a:rPr lang="ru-RU" b="1" dirty="0" smtClean="0">
                <a:solidFill>
                  <a:schemeClr val="bg1">
                    <a:lumMod val="65000"/>
                  </a:schemeClr>
                </a:solidFill>
              </a:rPr>
              <a:t>Нейтральный</a:t>
            </a:r>
            <a:r>
              <a:rPr lang="en-US" b="1" dirty="0" smtClean="0">
                <a:solidFill>
                  <a:schemeClr val="bg1">
                    <a:lumMod val="65000"/>
                  </a:schemeClr>
                </a:solidFill>
              </a:rPr>
              <a:t> / Neutral</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но не поддерживает изменения, равно как и не возражает против них.</a:t>
            </a:r>
          </a:p>
          <a:p>
            <a:r>
              <a:rPr lang="ru-RU" b="1" dirty="0" smtClean="0">
                <a:solidFill>
                  <a:schemeClr val="bg1">
                    <a:lumMod val="65000"/>
                  </a:schemeClr>
                </a:solidFill>
              </a:rPr>
              <a:t>Поддерживающий</a:t>
            </a:r>
            <a:r>
              <a:rPr lang="en-US" b="1" dirty="0" smtClean="0">
                <a:solidFill>
                  <a:schemeClr val="bg1">
                    <a:lumMod val="65000"/>
                  </a:schemeClr>
                </a:solidFill>
              </a:rPr>
              <a:t> / Supportive</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потенциальных воздействиях и поддерживает его работы и конечные результаты.</a:t>
            </a:r>
          </a:p>
          <a:p>
            <a:r>
              <a:rPr lang="ru-RU" b="1" dirty="0" smtClean="0">
                <a:solidFill>
                  <a:schemeClr val="bg1">
                    <a:lumMod val="65000"/>
                  </a:schemeClr>
                </a:solidFill>
              </a:rPr>
              <a:t>Лидирующий</a:t>
            </a:r>
            <a:r>
              <a:rPr lang="en-US" b="1" dirty="0" smtClean="0">
                <a:solidFill>
                  <a:schemeClr val="bg1">
                    <a:lumMod val="65000"/>
                  </a:schemeClr>
                </a:solidFill>
              </a:rPr>
              <a:t> / Leading</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потенциальных воздействиях и активно вовлечен в обеспечение успеха проекта.</a:t>
            </a:r>
          </a:p>
          <a:p>
            <a:pPr marL="0" indent="0">
              <a:buNone/>
            </a:pPr>
            <a:endParaRPr lang="en-US" dirty="0"/>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
        <p:nvSpPr>
          <p:cNvPr id="5" name="Номер слайда 4"/>
          <p:cNvSpPr>
            <a:spLocks noGrp="1"/>
          </p:cNvSpPr>
          <p:nvPr>
            <p:ph type="sldNum" sz="quarter" idx="12"/>
          </p:nvPr>
        </p:nvSpPr>
        <p:spPr/>
        <p:txBody>
          <a:bodyPr/>
          <a:lstStyle/>
          <a:p>
            <a:fld id="{722D506E-8AB4-4D47-A18C-48C2F3230E94}" type="slidenum">
              <a:rPr lang="uk-UA" smtClean="0"/>
              <a:t>11</a:t>
            </a:fld>
            <a:endParaRPr lang="uk-UA"/>
          </a:p>
        </p:txBody>
      </p:sp>
    </p:spTree>
    <p:extLst>
      <p:ext uri="{BB962C8B-B14F-4D97-AF65-F5344CB8AC3E}">
        <p14:creationId xmlns:p14="http://schemas.microsoft.com/office/powerpoint/2010/main" val="2792430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Уровни вовлеченности</a:t>
            </a:r>
            <a:endParaRPr lang="en-US" dirty="0"/>
          </a:p>
        </p:txBody>
      </p:sp>
      <p:sp>
        <p:nvSpPr>
          <p:cNvPr id="3" name="Объект 2"/>
          <p:cNvSpPr>
            <a:spLocks noGrp="1"/>
          </p:cNvSpPr>
          <p:nvPr>
            <p:ph idx="1"/>
          </p:nvPr>
        </p:nvSpPr>
        <p:spPr/>
        <p:txBody>
          <a:bodyPr/>
          <a:lstStyle/>
          <a:p>
            <a:r>
              <a:rPr lang="ru-RU" b="1" dirty="0" smtClean="0">
                <a:solidFill>
                  <a:schemeClr val="bg1">
                    <a:lumMod val="65000"/>
                  </a:schemeClr>
                </a:solidFill>
              </a:rPr>
              <a:t>Неосведомленный</a:t>
            </a:r>
            <a:r>
              <a:rPr lang="ru-RU" dirty="0">
                <a:solidFill>
                  <a:schemeClr val="bg1">
                    <a:lumMod val="65000"/>
                  </a:schemeClr>
                </a:solidFill>
              </a:rPr>
              <a:t> </a:t>
            </a:r>
            <a:r>
              <a:rPr lang="en-US" b="1" dirty="0" smtClean="0">
                <a:solidFill>
                  <a:schemeClr val="bg1">
                    <a:lumMod val="65000"/>
                  </a:schemeClr>
                </a:solidFill>
              </a:rPr>
              <a:t>/ Unaware</a:t>
            </a:r>
            <a:r>
              <a:rPr lang="ru-RU" b="1" dirty="0" smtClean="0">
                <a:solidFill>
                  <a:schemeClr val="bg1">
                    <a:lumMod val="65000"/>
                  </a:schemeClr>
                </a:solidFill>
              </a:rPr>
              <a:t> </a:t>
            </a:r>
            <a:r>
              <a:rPr lang="ru-RU" dirty="0" smtClean="0">
                <a:solidFill>
                  <a:schemeClr val="bg1">
                    <a:lumMod val="65000"/>
                  </a:schemeClr>
                </a:solidFill>
              </a:rPr>
              <a:t>– не </a:t>
            </a:r>
            <a:r>
              <a:rPr lang="ru-RU" dirty="0">
                <a:solidFill>
                  <a:schemeClr val="bg1">
                    <a:lumMod val="65000"/>
                  </a:schemeClr>
                </a:solidFill>
              </a:rPr>
              <a:t>осведомлен о проекте и потенциальных воздействиях.</a:t>
            </a:r>
          </a:p>
          <a:p>
            <a:r>
              <a:rPr lang="ru-RU" b="1" dirty="0" smtClean="0">
                <a:solidFill>
                  <a:srgbClr val="0F79C1"/>
                </a:solidFill>
              </a:rPr>
              <a:t>Сопротивляющийся</a:t>
            </a:r>
            <a:r>
              <a:rPr lang="en-US" b="1" dirty="0" smtClean="0">
                <a:solidFill>
                  <a:srgbClr val="0F79C1"/>
                </a:solidFill>
              </a:rPr>
              <a:t> / Resistant</a:t>
            </a:r>
            <a:r>
              <a:rPr lang="ru-RU" b="1" dirty="0"/>
              <a:t> </a:t>
            </a:r>
            <a:r>
              <a:rPr lang="ru-RU" dirty="0"/>
              <a:t>– </a:t>
            </a:r>
            <a:r>
              <a:rPr lang="ru-RU" dirty="0" smtClean="0"/>
              <a:t>осведомлен </a:t>
            </a:r>
            <a:r>
              <a:rPr lang="ru-RU" dirty="0"/>
              <a:t>о проекте и его потенциальном воздействии, однако имеет возражения против любых изменений, причиной которых могут быть работы по проекту или его конечные результаты. Эти заинтересованные стороны не будут поддерживать работы или конечные результаты проекта.</a:t>
            </a:r>
          </a:p>
          <a:p>
            <a:r>
              <a:rPr lang="ru-RU" b="1" dirty="0" smtClean="0">
                <a:solidFill>
                  <a:schemeClr val="bg1">
                    <a:lumMod val="65000"/>
                  </a:schemeClr>
                </a:solidFill>
              </a:rPr>
              <a:t>Нейтральный</a:t>
            </a:r>
            <a:r>
              <a:rPr lang="en-US" b="1" dirty="0" smtClean="0">
                <a:solidFill>
                  <a:schemeClr val="bg1">
                    <a:lumMod val="65000"/>
                  </a:schemeClr>
                </a:solidFill>
              </a:rPr>
              <a:t> / Neutral</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но не поддерживает изменения, равно как и не возражает против них.</a:t>
            </a:r>
          </a:p>
          <a:p>
            <a:r>
              <a:rPr lang="ru-RU" b="1" dirty="0" smtClean="0">
                <a:solidFill>
                  <a:schemeClr val="bg1">
                    <a:lumMod val="65000"/>
                  </a:schemeClr>
                </a:solidFill>
              </a:rPr>
              <a:t>Поддерживающий</a:t>
            </a:r>
            <a:r>
              <a:rPr lang="en-US" b="1" dirty="0" smtClean="0">
                <a:solidFill>
                  <a:schemeClr val="bg1">
                    <a:lumMod val="65000"/>
                  </a:schemeClr>
                </a:solidFill>
              </a:rPr>
              <a:t> / Supportive</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потенциальных воздействиях и поддерживает его работы и конечные результаты.</a:t>
            </a:r>
          </a:p>
          <a:p>
            <a:r>
              <a:rPr lang="ru-RU" b="1" dirty="0" smtClean="0">
                <a:solidFill>
                  <a:schemeClr val="bg1">
                    <a:lumMod val="65000"/>
                  </a:schemeClr>
                </a:solidFill>
              </a:rPr>
              <a:t>Лидирующий</a:t>
            </a:r>
            <a:r>
              <a:rPr lang="en-US" b="1" dirty="0" smtClean="0">
                <a:solidFill>
                  <a:schemeClr val="bg1">
                    <a:lumMod val="65000"/>
                  </a:schemeClr>
                </a:solidFill>
              </a:rPr>
              <a:t> / Leading</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потенциальных воздействиях и активно вовлечен в обеспечение успеха проекта.</a:t>
            </a:r>
          </a:p>
          <a:p>
            <a:pPr marL="0" indent="0">
              <a:buNone/>
            </a:pPr>
            <a:endParaRPr lang="en-US" dirty="0"/>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
        <p:nvSpPr>
          <p:cNvPr id="5" name="Номер слайда 4"/>
          <p:cNvSpPr>
            <a:spLocks noGrp="1"/>
          </p:cNvSpPr>
          <p:nvPr>
            <p:ph type="sldNum" sz="quarter" idx="12"/>
          </p:nvPr>
        </p:nvSpPr>
        <p:spPr/>
        <p:txBody>
          <a:bodyPr/>
          <a:lstStyle/>
          <a:p>
            <a:fld id="{722D506E-8AB4-4D47-A18C-48C2F3230E94}" type="slidenum">
              <a:rPr lang="uk-UA" smtClean="0"/>
              <a:t>12</a:t>
            </a:fld>
            <a:endParaRPr lang="uk-UA"/>
          </a:p>
        </p:txBody>
      </p:sp>
    </p:spTree>
    <p:extLst>
      <p:ext uri="{BB962C8B-B14F-4D97-AF65-F5344CB8AC3E}">
        <p14:creationId xmlns:p14="http://schemas.microsoft.com/office/powerpoint/2010/main" val="4025296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Уровни вовлеченности</a:t>
            </a:r>
            <a:endParaRPr lang="en-US" dirty="0"/>
          </a:p>
        </p:txBody>
      </p:sp>
      <p:sp>
        <p:nvSpPr>
          <p:cNvPr id="3" name="Объект 2"/>
          <p:cNvSpPr>
            <a:spLocks noGrp="1"/>
          </p:cNvSpPr>
          <p:nvPr>
            <p:ph idx="1"/>
          </p:nvPr>
        </p:nvSpPr>
        <p:spPr/>
        <p:txBody>
          <a:bodyPr/>
          <a:lstStyle/>
          <a:p>
            <a:r>
              <a:rPr lang="ru-RU" b="1" dirty="0" smtClean="0">
                <a:solidFill>
                  <a:schemeClr val="bg1">
                    <a:lumMod val="65000"/>
                  </a:schemeClr>
                </a:solidFill>
              </a:rPr>
              <a:t>Неосведомленный</a:t>
            </a:r>
            <a:r>
              <a:rPr lang="ru-RU" dirty="0">
                <a:solidFill>
                  <a:schemeClr val="bg1">
                    <a:lumMod val="65000"/>
                  </a:schemeClr>
                </a:solidFill>
              </a:rPr>
              <a:t> </a:t>
            </a:r>
            <a:r>
              <a:rPr lang="en-US" b="1" dirty="0" smtClean="0">
                <a:solidFill>
                  <a:schemeClr val="bg1">
                    <a:lumMod val="65000"/>
                  </a:schemeClr>
                </a:solidFill>
              </a:rPr>
              <a:t>/ Unaware</a:t>
            </a:r>
            <a:r>
              <a:rPr lang="ru-RU" b="1" dirty="0" smtClean="0">
                <a:solidFill>
                  <a:schemeClr val="bg1">
                    <a:lumMod val="65000"/>
                  </a:schemeClr>
                </a:solidFill>
              </a:rPr>
              <a:t> </a:t>
            </a:r>
            <a:r>
              <a:rPr lang="ru-RU" dirty="0" smtClean="0">
                <a:solidFill>
                  <a:schemeClr val="bg1">
                    <a:lumMod val="65000"/>
                  </a:schemeClr>
                </a:solidFill>
              </a:rPr>
              <a:t>– не </a:t>
            </a:r>
            <a:r>
              <a:rPr lang="ru-RU" dirty="0">
                <a:solidFill>
                  <a:schemeClr val="bg1">
                    <a:lumMod val="65000"/>
                  </a:schemeClr>
                </a:solidFill>
              </a:rPr>
              <a:t>осведомлен о проекте и потенциальных воздействиях.</a:t>
            </a:r>
          </a:p>
          <a:p>
            <a:r>
              <a:rPr lang="ru-RU" b="1" dirty="0" smtClean="0">
                <a:solidFill>
                  <a:schemeClr val="bg1">
                    <a:lumMod val="65000"/>
                  </a:schemeClr>
                </a:solidFill>
              </a:rPr>
              <a:t>Сопротивляющийся</a:t>
            </a:r>
            <a:r>
              <a:rPr lang="en-US" b="1" dirty="0" smtClean="0">
                <a:solidFill>
                  <a:schemeClr val="bg1">
                    <a:lumMod val="65000"/>
                  </a:schemeClr>
                </a:solidFill>
              </a:rPr>
              <a:t> / Resistant</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потенциальном воздействии, однако имеет возражения против любых изменений, причиной которых могут быть работы по проекту или его конечные результаты. Эти заинтересованные стороны не будут поддерживать работы или конечные результаты проекта.</a:t>
            </a:r>
          </a:p>
          <a:p>
            <a:r>
              <a:rPr lang="ru-RU" b="1" dirty="0" smtClean="0">
                <a:solidFill>
                  <a:srgbClr val="0F79C1"/>
                </a:solidFill>
              </a:rPr>
              <a:t>Нейтральный</a:t>
            </a:r>
            <a:r>
              <a:rPr lang="en-US" b="1" dirty="0" smtClean="0">
                <a:solidFill>
                  <a:srgbClr val="0F79C1"/>
                </a:solidFill>
              </a:rPr>
              <a:t> / Neutral</a:t>
            </a:r>
            <a:r>
              <a:rPr lang="ru-RU" b="1" dirty="0"/>
              <a:t> </a:t>
            </a:r>
            <a:r>
              <a:rPr lang="ru-RU" dirty="0"/>
              <a:t>– </a:t>
            </a:r>
            <a:r>
              <a:rPr lang="ru-RU" dirty="0" smtClean="0"/>
              <a:t>осведомлен </a:t>
            </a:r>
            <a:r>
              <a:rPr lang="ru-RU" dirty="0"/>
              <a:t>о проекте, но не поддерживает изменения, равно как и не возражает против них.</a:t>
            </a:r>
          </a:p>
          <a:p>
            <a:r>
              <a:rPr lang="ru-RU" b="1" dirty="0" smtClean="0">
                <a:solidFill>
                  <a:schemeClr val="bg1">
                    <a:lumMod val="65000"/>
                  </a:schemeClr>
                </a:solidFill>
              </a:rPr>
              <a:t>Поддерживающий</a:t>
            </a:r>
            <a:r>
              <a:rPr lang="en-US" b="1" dirty="0" smtClean="0">
                <a:solidFill>
                  <a:schemeClr val="bg1">
                    <a:lumMod val="65000"/>
                  </a:schemeClr>
                </a:solidFill>
              </a:rPr>
              <a:t> / Supportive</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потенциальных воздействиях и поддерживает его работы и конечные результаты.</a:t>
            </a:r>
          </a:p>
          <a:p>
            <a:r>
              <a:rPr lang="ru-RU" b="1" dirty="0" smtClean="0">
                <a:solidFill>
                  <a:schemeClr val="bg1">
                    <a:lumMod val="65000"/>
                  </a:schemeClr>
                </a:solidFill>
              </a:rPr>
              <a:t>Лидирующий</a:t>
            </a:r>
            <a:r>
              <a:rPr lang="en-US" b="1" dirty="0" smtClean="0">
                <a:solidFill>
                  <a:schemeClr val="bg1">
                    <a:lumMod val="65000"/>
                  </a:schemeClr>
                </a:solidFill>
              </a:rPr>
              <a:t> / Leading</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потенциальных воздействиях и активно вовлечен в обеспечение успеха проекта.</a:t>
            </a:r>
          </a:p>
          <a:p>
            <a:pPr marL="0" indent="0">
              <a:buNone/>
            </a:pPr>
            <a:endParaRPr lang="en-US" dirty="0"/>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
        <p:nvSpPr>
          <p:cNvPr id="5" name="Номер слайда 4"/>
          <p:cNvSpPr>
            <a:spLocks noGrp="1"/>
          </p:cNvSpPr>
          <p:nvPr>
            <p:ph type="sldNum" sz="quarter" idx="12"/>
          </p:nvPr>
        </p:nvSpPr>
        <p:spPr/>
        <p:txBody>
          <a:bodyPr/>
          <a:lstStyle/>
          <a:p>
            <a:fld id="{722D506E-8AB4-4D47-A18C-48C2F3230E94}" type="slidenum">
              <a:rPr lang="uk-UA" smtClean="0"/>
              <a:t>13</a:t>
            </a:fld>
            <a:endParaRPr lang="uk-UA"/>
          </a:p>
        </p:txBody>
      </p:sp>
    </p:spTree>
    <p:extLst>
      <p:ext uri="{BB962C8B-B14F-4D97-AF65-F5344CB8AC3E}">
        <p14:creationId xmlns:p14="http://schemas.microsoft.com/office/powerpoint/2010/main" val="1872516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Уровни вовлеченности</a:t>
            </a:r>
            <a:endParaRPr lang="en-US" dirty="0"/>
          </a:p>
        </p:txBody>
      </p:sp>
      <p:sp>
        <p:nvSpPr>
          <p:cNvPr id="3" name="Объект 2"/>
          <p:cNvSpPr>
            <a:spLocks noGrp="1"/>
          </p:cNvSpPr>
          <p:nvPr>
            <p:ph idx="1"/>
          </p:nvPr>
        </p:nvSpPr>
        <p:spPr/>
        <p:txBody>
          <a:bodyPr/>
          <a:lstStyle/>
          <a:p>
            <a:r>
              <a:rPr lang="ru-RU" b="1" dirty="0" smtClean="0">
                <a:solidFill>
                  <a:schemeClr val="bg1">
                    <a:lumMod val="65000"/>
                  </a:schemeClr>
                </a:solidFill>
              </a:rPr>
              <a:t>Неосведомленный</a:t>
            </a:r>
            <a:r>
              <a:rPr lang="ru-RU" dirty="0">
                <a:solidFill>
                  <a:schemeClr val="bg1">
                    <a:lumMod val="65000"/>
                  </a:schemeClr>
                </a:solidFill>
              </a:rPr>
              <a:t> </a:t>
            </a:r>
            <a:r>
              <a:rPr lang="en-US" b="1" dirty="0" smtClean="0">
                <a:solidFill>
                  <a:schemeClr val="bg1">
                    <a:lumMod val="65000"/>
                  </a:schemeClr>
                </a:solidFill>
              </a:rPr>
              <a:t>/ Unaware</a:t>
            </a:r>
            <a:r>
              <a:rPr lang="ru-RU" b="1" dirty="0" smtClean="0">
                <a:solidFill>
                  <a:schemeClr val="bg1">
                    <a:lumMod val="65000"/>
                  </a:schemeClr>
                </a:solidFill>
              </a:rPr>
              <a:t> </a:t>
            </a:r>
            <a:r>
              <a:rPr lang="ru-RU" dirty="0" smtClean="0">
                <a:solidFill>
                  <a:schemeClr val="bg1">
                    <a:lumMod val="65000"/>
                  </a:schemeClr>
                </a:solidFill>
              </a:rPr>
              <a:t>– не </a:t>
            </a:r>
            <a:r>
              <a:rPr lang="ru-RU" dirty="0">
                <a:solidFill>
                  <a:schemeClr val="bg1">
                    <a:lumMod val="65000"/>
                  </a:schemeClr>
                </a:solidFill>
              </a:rPr>
              <a:t>осведомлен о проекте и потенциальных воздействиях.</a:t>
            </a:r>
          </a:p>
          <a:p>
            <a:r>
              <a:rPr lang="ru-RU" b="1" dirty="0" smtClean="0">
                <a:solidFill>
                  <a:schemeClr val="bg1">
                    <a:lumMod val="65000"/>
                  </a:schemeClr>
                </a:solidFill>
              </a:rPr>
              <a:t>Сопротивляющийся</a:t>
            </a:r>
            <a:r>
              <a:rPr lang="en-US" b="1" dirty="0" smtClean="0">
                <a:solidFill>
                  <a:schemeClr val="bg1">
                    <a:lumMod val="65000"/>
                  </a:schemeClr>
                </a:solidFill>
              </a:rPr>
              <a:t> / Resistant</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потенциальном воздействии, однако имеет возражения против любых изменений, причиной которых могут быть работы по проекту или его конечные результаты. Эти заинтересованные стороны не будут поддерживать работы или конечные результаты проекта.</a:t>
            </a:r>
          </a:p>
          <a:p>
            <a:r>
              <a:rPr lang="ru-RU" b="1" dirty="0" smtClean="0">
                <a:solidFill>
                  <a:schemeClr val="bg1">
                    <a:lumMod val="65000"/>
                  </a:schemeClr>
                </a:solidFill>
              </a:rPr>
              <a:t>Нейтральный</a:t>
            </a:r>
            <a:r>
              <a:rPr lang="en-US" b="1" dirty="0" smtClean="0">
                <a:solidFill>
                  <a:schemeClr val="bg1">
                    <a:lumMod val="65000"/>
                  </a:schemeClr>
                </a:solidFill>
              </a:rPr>
              <a:t> / Neutral</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но не поддерживает изменения, равно как и не возражает против них.</a:t>
            </a:r>
          </a:p>
          <a:p>
            <a:r>
              <a:rPr lang="ru-RU" b="1" dirty="0" smtClean="0">
                <a:solidFill>
                  <a:srgbClr val="0F79C1"/>
                </a:solidFill>
              </a:rPr>
              <a:t>Поддерживающий</a:t>
            </a:r>
            <a:r>
              <a:rPr lang="en-US" b="1" dirty="0" smtClean="0">
                <a:solidFill>
                  <a:srgbClr val="0F79C1"/>
                </a:solidFill>
              </a:rPr>
              <a:t> / Supportive</a:t>
            </a:r>
            <a:r>
              <a:rPr lang="ru-RU" b="1" dirty="0"/>
              <a:t> </a:t>
            </a:r>
            <a:r>
              <a:rPr lang="ru-RU" dirty="0"/>
              <a:t>– </a:t>
            </a:r>
            <a:r>
              <a:rPr lang="ru-RU" dirty="0" smtClean="0"/>
              <a:t>осведомлен </a:t>
            </a:r>
            <a:r>
              <a:rPr lang="ru-RU" dirty="0"/>
              <a:t>о проекте и его потенциальных воздействиях и поддерживает его работы и конечные результаты.</a:t>
            </a:r>
          </a:p>
          <a:p>
            <a:r>
              <a:rPr lang="ru-RU" b="1" dirty="0" smtClean="0">
                <a:solidFill>
                  <a:schemeClr val="bg1">
                    <a:lumMod val="65000"/>
                  </a:schemeClr>
                </a:solidFill>
              </a:rPr>
              <a:t>Лидирующий</a:t>
            </a:r>
            <a:r>
              <a:rPr lang="en-US" b="1" dirty="0" smtClean="0">
                <a:solidFill>
                  <a:schemeClr val="bg1">
                    <a:lumMod val="65000"/>
                  </a:schemeClr>
                </a:solidFill>
              </a:rPr>
              <a:t> / Leading</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потенциальных воздействиях и активно вовлечен в обеспечение успеха проекта.</a:t>
            </a:r>
          </a:p>
          <a:p>
            <a:pPr marL="0" indent="0">
              <a:buNone/>
            </a:pPr>
            <a:endParaRPr lang="en-US" dirty="0"/>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
        <p:nvSpPr>
          <p:cNvPr id="5" name="Номер слайда 4"/>
          <p:cNvSpPr>
            <a:spLocks noGrp="1"/>
          </p:cNvSpPr>
          <p:nvPr>
            <p:ph type="sldNum" sz="quarter" idx="12"/>
          </p:nvPr>
        </p:nvSpPr>
        <p:spPr/>
        <p:txBody>
          <a:bodyPr/>
          <a:lstStyle/>
          <a:p>
            <a:fld id="{722D506E-8AB4-4D47-A18C-48C2F3230E94}" type="slidenum">
              <a:rPr lang="uk-UA" smtClean="0"/>
              <a:t>14</a:t>
            </a:fld>
            <a:endParaRPr lang="uk-UA"/>
          </a:p>
        </p:txBody>
      </p:sp>
    </p:spTree>
    <p:extLst>
      <p:ext uri="{BB962C8B-B14F-4D97-AF65-F5344CB8AC3E}">
        <p14:creationId xmlns:p14="http://schemas.microsoft.com/office/powerpoint/2010/main" val="2293714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Уровни вовлеченности</a:t>
            </a:r>
            <a:endParaRPr lang="en-US" dirty="0"/>
          </a:p>
        </p:txBody>
      </p:sp>
      <p:sp>
        <p:nvSpPr>
          <p:cNvPr id="3" name="Объект 2"/>
          <p:cNvSpPr>
            <a:spLocks noGrp="1"/>
          </p:cNvSpPr>
          <p:nvPr>
            <p:ph idx="1"/>
          </p:nvPr>
        </p:nvSpPr>
        <p:spPr/>
        <p:txBody>
          <a:bodyPr/>
          <a:lstStyle/>
          <a:p>
            <a:r>
              <a:rPr lang="ru-RU" b="1" dirty="0" smtClean="0">
                <a:solidFill>
                  <a:schemeClr val="bg1">
                    <a:lumMod val="65000"/>
                  </a:schemeClr>
                </a:solidFill>
              </a:rPr>
              <a:t>Неосведомленный</a:t>
            </a:r>
            <a:r>
              <a:rPr lang="ru-RU" dirty="0">
                <a:solidFill>
                  <a:schemeClr val="bg1">
                    <a:lumMod val="65000"/>
                  </a:schemeClr>
                </a:solidFill>
              </a:rPr>
              <a:t> </a:t>
            </a:r>
            <a:r>
              <a:rPr lang="en-US" b="1" dirty="0" smtClean="0">
                <a:solidFill>
                  <a:schemeClr val="bg1">
                    <a:lumMod val="65000"/>
                  </a:schemeClr>
                </a:solidFill>
              </a:rPr>
              <a:t>/ Unaware</a:t>
            </a:r>
            <a:r>
              <a:rPr lang="ru-RU" b="1" dirty="0" smtClean="0">
                <a:solidFill>
                  <a:schemeClr val="bg1">
                    <a:lumMod val="65000"/>
                  </a:schemeClr>
                </a:solidFill>
              </a:rPr>
              <a:t> </a:t>
            </a:r>
            <a:r>
              <a:rPr lang="ru-RU" dirty="0" smtClean="0">
                <a:solidFill>
                  <a:schemeClr val="bg1">
                    <a:lumMod val="65000"/>
                  </a:schemeClr>
                </a:solidFill>
              </a:rPr>
              <a:t>– не </a:t>
            </a:r>
            <a:r>
              <a:rPr lang="ru-RU" dirty="0">
                <a:solidFill>
                  <a:schemeClr val="bg1">
                    <a:lumMod val="65000"/>
                  </a:schemeClr>
                </a:solidFill>
              </a:rPr>
              <a:t>осведомлен о проекте и потенциальных воздействиях.</a:t>
            </a:r>
          </a:p>
          <a:p>
            <a:r>
              <a:rPr lang="ru-RU" b="1" dirty="0" smtClean="0">
                <a:solidFill>
                  <a:schemeClr val="bg1">
                    <a:lumMod val="65000"/>
                  </a:schemeClr>
                </a:solidFill>
              </a:rPr>
              <a:t>Сопротивляющийся</a:t>
            </a:r>
            <a:r>
              <a:rPr lang="en-US" b="1" dirty="0" smtClean="0">
                <a:solidFill>
                  <a:schemeClr val="bg1">
                    <a:lumMod val="65000"/>
                  </a:schemeClr>
                </a:solidFill>
              </a:rPr>
              <a:t> / Resistant</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потенциальном воздействии, однако имеет возражения против любых изменений, причиной которых могут быть работы по проекту или его конечные результаты. Эти заинтересованные стороны не будут поддерживать работы или конечные результаты проекта.</a:t>
            </a:r>
          </a:p>
          <a:p>
            <a:r>
              <a:rPr lang="ru-RU" b="1" dirty="0" smtClean="0">
                <a:solidFill>
                  <a:schemeClr val="bg1">
                    <a:lumMod val="65000"/>
                  </a:schemeClr>
                </a:solidFill>
              </a:rPr>
              <a:t>Нейтральный</a:t>
            </a:r>
            <a:r>
              <a:rPr lang="en-US" b="1" dirty="0" smtClean="0">
                <a:solidFill>
                  <a:schemeClr val="bg1">
                    <a:lumMod val="65000"/>
                  </a:schemeClr>
                </a:solidFill>
              </a:rPr>
              <a:t> / Neutral</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но не поддерживает изменения, равно как и не возражает против них.</a:t>
            </a:r>
          </a:p>
          <a:p>
            <a:r>
              <a:rPr lang="ru-RU" b="1" dirty="0" smtClean="0">
                <a:solidFill>
                  <a:schemeClr val="bg1">
                    <a:lumMod val="65000"/>
                  </a:schemeClr>
                </a:solidFill>
              </a:rPr>
              <a:t>Поддерживающий</a:t>
            </a:r>
            <a:r>
              <a:rPr lang="en-US" b="1" dirty="0" smtClean="0">
                <a:solidFill>
                  <a:schemeClr val="bg1">
                    <a:lumMod val="65000"/>
                  </a:schemeClr>
                </a:solidFill>
              </a:rPr>
              <a:t> / Supportive</a:t>
            </a:r>
            <a:r>
              <a:rPr lang="ru-RU" b="1" dirty="0">
                <a:solidFill>
                  <a:schemeClr val="bg1">
                    <a:lumMod val="65000"/>
                  </a:schemeClr>
                </a:solidFill>
              </a:rPr>
              <a:t> </a:t>
            </a:r>
            <a:r>
              <a:rPr lang="ru-RU" dirty="0">
                <a:solidFill>
                  <a:schemeClr val="bg1">
                    <a:lumMod val="65000"/>
                  </a:schemeClr>
                </a:solidFill>
              </a:rPr>
              <a:t>– </a:t>
            </a:r>
            <a:r>
              <a:rPr lang="ru-RU" dirty="0" smtClean="0">
                <a:solidFill>
                  <a:schemeClr val="bg1">
                    <a:lumMod val="65000"/>
                  </a:schemeClr>
                </a:solidFill>
              </a:rPr>
              <a:t>осведомлен </a:t>
            </a:r>
            <a:r>
              <a:rPr lang="ru-RU" dirty="0">
                <a:solidFill>
                  <a:schemeClr val="bg1">
                    <a:lumMod val="65000"/>
                  </a:schemeClr>
                </a:solidFill>
              </a:rPr>
              <a:t>о проекте и его потенциальных воздействиях и поддерживает его работы и конечные результаты.</a:t>
            </a:r>
          </a:p>
          <a:p>
            <a:r>
              <a:rPr lang="ru-RU" b="1" dirty="0" smtClean="0">
                <a:solidFill>
                  <a:srgbClr val="0F79C1"/>
                </a:solidFill>
              </a:rPr>
              <a:t>Лидирующий</a:t>
            </a:r>
            <a:r>
              <a:rPr lang="en-US" b="1" dirty="0" smtClean="0">
                <a:solidFill>
                  <a:srgbClr val="0F79C1"/>
                </a:solidFill>
              </a:rPr>
              <a:t> / Leading</a:t>
            </a:r>
            <a:r>
              <a:rPr lang="ru-RU" b="1" dirty="0"/>
              <a:t> </a:t>
            </a:r>
            <a:r>
              <a:rPr lang="ru-RU" dirty="0"/>
              <a:t>– </a:t>
            </a:r>
            <a:r>
              <a:rPr lang="ru-RU" dirty="0" smtClean="0"/>
              <a:t>осведомлен </a:t>
            </a:r>
            <a:r>
              <a:rPr lang="ru-RU" dirty="0"/>
              <a:t>о проекте, потенциальных воздействиях и активно вовлечен в обеспечение успеха проекта.</a:t>
            </a:r>
          </a:p>
          <a:p>
            <a:pPr marL="0" indent="0">
              <a:buNone/>
            </a:pPr>
            <a:endParaRPr lang="en-US" dirty="0"/>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
        <p:nvSpPr>
          <p:cNvPr id="5" name="Номер слайда 4"/>
          <p:cNvSpPr>
            <a:spLocks noGrp="1"/>
          </p:cNvSpPr>
          <p:nvPr>
            <p:ph type="sldNum" sz="quarter" idx="12"/>
          </p:nvPr>
        </p:nvSpPr>
        <p:spPr/>
        <p:txBody>
          <a:bodyPr/>
          <a:lstStyle/>
          <a:p>
            <a:fld id="{722D506E-8AB4-4D47-A18C-48C2F3230E94}" type="slidenum">
              <a:rPr lang="uk-UA" smtClean="0"/>
              <a:t>15</a:t>
            </a:fld>
            <a:endParaRPr lang="uk-UA"/>
          </a:p>
        </p:txBody>
      </p:sp>
    </p:spTree>
    <p:extLst>
      <p:ext uri="{BB962C8B-B14F-4D97-AF65-F5344CB8AC3E}">
        <p14:creationId xmlns:p14="http://schemas.microsoft.com/office/powerpoint/2010/main" val="1153548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Матрица </a:t>
            </a:r>
            <a:r>
              <a:rPr lang="en-US" dirty="0"/>
              <a:t>‘</a:t>
            </a:r>
            <a:r>
              <a:rPr lang="ru-RU" dirty="0"/>
              <a:t>Интерес-влияние</a:t>
            </a:r>
            <a:r>
              <a:rPr lang="en-US" dirty="0"/>
              <a:t>’</a:t>
            </a:r>
            <a:r>
              <a:rPr lang="ru-RU" dirty="0"/>
              <a:t> </a:t>
            </a:r>
            <a:r>
              <a:rPr lang="en-US" dirty="0"/>
              <a:t>/</a:t>
            </a:r>
            <a:r>
              <a:rPr lang="ru-RU" dirty="0"/>
              <a:t/>
            </a:r>
            <a:br>
              <a:rPr lang="ru-RU" dirty="0"/>
            </a:br>
            <a:r>
              <a:rPr lang="en-US" dirty="0"/>
              <a:t>Power-Interest Matrix</a:t>
            </a:r>
          </a:p>
        </p:txBody>
      </p:sp>
      <p:sp>
        <p:nvSpPr>
          <p:cNvPr id="3" name="Номер слайда 2"/>
          <p:cNvSpPr>
            <a:spLocks noGrp="1"/>
          </p:cNvSpPr>
          <p:nvPr>
            <p:ph type="sldNum" sz="quarter" idx="12"/>
          </p:nvPr>
        </p:nvSpPr>
        <p:spPr/>
        <p:txBody>
          <a:bodyPr/>
          <a:lstStyle/>
          <a:p>
            <a:fld id="{722D506E-8AB4-4D47-A18C-48C2F3230E94}" type="slidenum">
              <a:rPr lang="uk-UA" smtClean="0"/>
              <a:t>16</a:t>
            </a:fld>
            <a:endParaRPr lang="uk-UA"/>
          </a:p>
        </p:txBody>
      </p:sp>
      <p:sp>
        <p:nvSpPr>
          <p:cNvPr id="10" name="Нижний колонтитул 9"/>
          <p:cNvSpPr>
            <a:spLocks noGrp="1"/>
          </p:cNvSpPr>
          <p:nvPr>
            <p:ph type="ftr" sz="quarter" idx="11"/>
          </p:nvPr>
        </p:nvSpPr>
        <p:spPr/>
        <p:txBody>
          <a:bodyPr/>
          <a:lstStyle/>
          <a:p>
            <a:r>
              <a:rPr lang="en-US" smtClean="0"/>
              <a:t>Business Analysis - Hillel course</a:t>
            </a:r>
            <a:endParaRPr lang="uk-UA" dirty="0"/>
          </a:p>
        </p:txBody>
      </p:sp>
      <p:pic>
        <p:nvPicPr>
          <p:cNvPr id="2050" name="Picture 2" descr="Stakeholder mapping"/>
          <p:cNvPicPr>
            <a:picLocks noChangeAspect="1" noChangeArrowheads="1"/>
          </p:cNvPicPr>
          <p:nvPr/>
        </p:nvPicPr>
        <p:blipFill rotWithShape="1">
          <a:blip r:embed="rId2">
            <a:extLst>
              <a:ext uri="{28A0092B-C50C-407E-A947-70E740481C1C}">
                <a14:useLocalDpi xmlns:a14="http://schemas.microsoft.com/office/drawing/2010/main" val="0"/>
              </a:ext>
            </a:extLst>
          </a:blip>
          <a:srcRect l="9376" b="16238"/>
          <a:stretch/>
        </p:blipFill>
        <p:spPr bwMode="auto">
          <a:xfrm>
            <a:off x="2823094" y="1627801"/>
            <a:ext cx="6568329" cy="4553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6734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
        <p:nvSpPr>
          <p:cNvPr id="5" name="Номер слайда 4"/>
          <p:cNvSpPr>
            <a:spLocks noGrp="1"/>
          </p:cNvSpPr>
          <p:nvPr>
            <p:ph type="sldNum" sz="quarter" idx="12"/>
          </p:nvPr>
        </p:nvSpPr>
        <p:spPr/>
        <p:txBody>
          <a:bodyPr/>
          <a:lstStyle/>
          <a:p>
            <a:fld id="{722D506E-8AB4-4D47-A18C-48C2F3230E94}" type="slidenum">
              <a:rPr lang="uk-UA" smtClean="0"/>
              <a:t>17</a:t>
            </a:fld>
            <a:endParaRPr lang="uk-UA"/>
          </a:p>
        </p:txBody>
      </p:sp>
      <p:pic>
        <p:nvPicPr>
          <p:cNvPr id="1030" name="Picture 6" descr="Example Stakeholder Power/Interest Gri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983" y="97717"/>
            <a:ext cx="6826138" cy="6205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036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RACI matrix</a:t>
            </a:r>
            <a:endParaRPr lang="uk-UA" dirty="0"/>
          </a:p>
        </p:txBody>
      </p:sp>
      <p:sp>
        <p:nvSpPr>
          <p:cNvPr id="3" name="Объект 2"/>
          <p:cNvSpPr>
            <a:spLocks noGrp="1"/>
          </p:cNvSpPr>
          <p:nvPr>
            <p:ph idx="1"/>
          </p:nvPr>
        </p:nvSpPr>
        <p:spPr/>
        <p:txBody>
          <a:bodyPr/>
          <a:lstStyle/>
          <a:p>
            <a:r>
              <a:rPr lang="en-US" b="1" dirty="0">
                <a:solidFill>
                  <a:srgbClr val="0F79C1"/>
                </a:solidFill>
              </a:rPr>
              <a:t>R – Responsible </a:t>
            </a:r>
            <a:r>
              <a:rPr lang="en-US" dirty="0"/>
              <a:t>(</a:t>
            </a:r>
            <a:r>
              <a:rPr lang="ru-RU" dirty="0"/>
              <a:t>тот, кто исполняет задачу</a:t>
            </a:r>
            <a:r>
              <a:rPr lang="uk-UA" dirty="0"/>
              <a:t>);</a:t>
            </a:r>
          </a:p>
          <a:p>
            <a:r>
              <a:rPr lang="en-US" b="1" dirty="0">
                <a:solidFill>
                  <a:schemeClr val="bg1">
                    <a:lumMod val="65000"/>
                  </a:schemeClr>
                </a:solidFill>
              </a:rPr>
              <a:t>A – Accountable </a:t>
            </a:r>
            <a:r>
              <a:rPr lang="en-US" dirty="0">
                <a:solidFill>
                  <a:schemeClr val="bg1">
                    <a:lumMod val="65000"/>
                  </a:schemeClr>
                </a:solidFill>
              </a:rPr>
              <a:t>(</a:t>
            </a:r>
            <a:r>
              <a:rPr lang="ru-RU" dirty="0">
                <a:solidFill>
                  <a:schemeClr val="bg1">
                    <a:lumMod val="65000"/>
                  </a:schemeClr>
                </a:solidFill>
              </a:rPr>
              <a:t>человек, принимающий окончательное решение и </a:t>
            </a:r>
            <a:r>
              <a:rPr lang="uk-UA" dirty="0">
                <a:solidFill>
                  <a:schemeClr val="bg1">
                    <a:lumMod val="65000"/>
                  </a:schemeClr>
                </a:solidFill>
              </a:rPr>
              <a:t>несущий ответственность за него);</a:t>
            </a:r>
          </a:p>
          <a:p>
            <a:r>
              <a:rPr lang="en-US" b="1" dirty="0">
                <a:solidFill>
                  <a:schemeClr val="bg1">
                    <a:lumMod val="65000"/>
                  </a:schemeClr>
                </a:solidFill>
              </a:rPr>
              <a:t>C – Consulted </a:t>
            </a:r>
            <a:r>
              <a:rPr lang="en-US" dirty="0">
                <a:solidFill>
                  <a:schemeClr val="bg1">
                    <a:lumMod val="65000"/>
                  </a:schemeClr>
                </a:solidFill>
              </a:rPr>
              <a:t>before doing (</a:t>
            </a:r>
            <a:r>
              <a:rPr lang="uk-UA" dirty="0">
                <a:solidFill>
                  <a:schemeClr val="bg1">
                    <a:lumMod val="65000"/>
                  </a:schemeClr>
                </a:solidFill>
              </a:rPr>
              <a:t>консультирует до исполнения по поводу решения и действий, которые стоит предпринимать);</a:t>
            </a:r>
          </a:p>
          <a:p>
            <a:r>
              <a:rPr lang="en-US" b="1" dirty="0">
                <a:solidFill>
                  <a:schemeClr val="bg1">
                    <a:lumMod val="65000"/>
                  </a:schemeClr>
                </a:solidFill>
              </a:rPr>
              <a:t>I – Informed </a:t>
            </a:r>
            <a:r>
              <a:rPr lang="en-US" dirty="0">
                <a:solidFill>
                  <a:schemeClr val="bg1">
                    <a:lumMod val="65000"/>
                  </a:schemeClr>
                </a:solidFill>
              </a:rPr>
              <a:t>after doing (</a:t>
            </a:r>
            <a:r>
              <a:rPr lang="ru-RU" dirty="0">
                <a:solidFill>
                  <a:schemeClr val="bg1">
                    <a:lumMod val="65000"/>
                  </a:schemeClr>
                </a:solidFill>
              </a:rPr>
              <a:t>тот, кого нужно оповестить о принятом решении или действии</a:t>
            </a:r>
            <a:r>
              <a:rPr lang="uk-UA" dirty="0">
                <a:solidFill>
                  <a:schemeClr val="bg1">
                    <a:lumMod val="65000"/>
                  </a:schemeClr>
                </a:solidFill>
              </a:rPr>
              <a:t>).</a:t>
            </a:r>
          </a:p>
          <a:p>
            <a:pPr marL="0" indent="0">
              <a:buNone/>
            </a:pPr>
            <a:endParaRPr lang="uk-UA" dirty="0"/>
          </a:p>
        </p:txBody>
      </p:sp>
      <p:sp>
        <p:nvSpPr>
          <p:cNvPr id="4" name="Номер слайда 3"/>
          <p:cNvSpPr>
            <a:spLocks noGrp="1"/>
          </p:cNvSpPr>
          <p:nvPr>
            <p:ph type="sldNum" sz="quarter" idx="12"/>
          </p:nvPr>
        </p:nvSpPr>
        <p:spPr/>
        <p:txBody>
          <a:bodyPr/>
          <a:lstStyle/>
          <a:p>
            <a:fld id="{722D506E-8AB4-4D47-A18C-48C2F3230E94}" type="slidenum">
              <a:rPr lang="uk-UA" smtClean="0"/>
              <a:t>18</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5349749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RACI matrix</a:t>
            </a:r>
            <a:endParaRPr lang="uk-UA" dirty="0"/>
          </a:p>
        </p:txBody>
      </p:sp>
      <p:sp>
        <p:nvSpPr>
          <p:cNvPr id="3" name="Объект 2"/>
          <p:cNvSpPr>
            <a:spLocks noGrp="1"/>
          </p:cNvSpPr>
          <p:nvPr>
            <p:ph idx="1"/>
          </p:nvPr>
        </p:nvSpPr>
        <p:spPr/>
        <p:txBody>
          <a:bodyPr/>
          <a:lstStyle/>
          <a:p>
            <a:r>
              <a:rPr lang="en-US" b="1" dirty="0">
                <a:solidFill>
                  <a:schemeClr val="bg1">
                    <a:lumMod val="65000"/>
                  </a:schemeClr>
                </a:solidFill>
              </a:rPr>
              <a:t>R – Responsible </a:t>
            </a:r>
            <a:r>
              <a:rPr lang="en-US" dirty="0">
                <a:solidFill>
                  <a:schemeClr val="bg1">
                    <a:lumMod val="65000"/>
                  </a:schemeClr>
                </a:solidFill>
              </a:rPr>
              <a:t>(</a:t>
            </a:r>
            <a:r>
              <a:rPr lang="ru-RU" dirty="0">
                <a:solidFill>
                  <a:schemeClr val="bg1">
                    <a:lumMod val="65000"/>
                  </a:schemeClr>
                </a:solidFill>
              </a:rPr>
              <a:t>тот, кто исполняет задачу</a:t>
            </a:r>
            <a:r>
              <a:rPr lang="uk-UA" dirty="0">
                <a:solidFill>
                  <a:schemeClr val="bg1">
                    <a:lumMod val="65000"/>
                  </a:schemeClr>
                </a:solidFill>
              </a:rPr>
              <a:t>);</a:t>
            </a:r>
          </a:p>
          <a:p>
            <a:r>
              <a:rPr lang="en-US" b="1" dirty="0">
                <a:solidFill>
                  <a:srgbClr val="0F79C1"/>
                </a:solidFill>
              </a:rPr>
              <a:t>A – Accountable </a:t>
            </a:r>
            <a:r>
              <a:rPr lang="en-US" dirty="0"/>
              <a:t>(</a:t>
            </a:r>
            <a:r>
              <a:rPr lang="ru-RU" dirty="0"/>
              <a:t>человек, принимающий окончательное решение и </a:t>
            </a:r>
            <a:r>
              <a:rPr lang="uk-UA" dirty="0"/>
              <a:t>несущий ответственность за него);</a:t>
            </a:r>
          </a:p>
          <a:p>
            <a:r>
              <a:rPr lang="en-US" b="1" dirty="0">
                <a:solidFill>
                  <a:schemeClr val="bg1">
                    <a:lumMod val="65000"/>
                  </a:schemeClr>
                </a:solidFill>
              </a:rPr>
              <a:t>C – Consulted </a:t>
            </a:r>
            <a:r>
              <a:rPr lang="en-US" dirty="0">
                <a:solidFill>
                  <a:schemeClr val="bg1">
                    <a:lumMod val="65000"/>
                  </a:schemeClr>
                </a:solidFill>
              </a:rPr>
              <a:t>before doing (</a:t>
            </a:r>
            <a:r>
              <a:rPr lang="uk-UA" dirty="0">
                <a:solidFill>
                  <a:schemeClr val="bg1">
                    <a:lumMod val="65000"/>
                  </a:schemeClr>
                </a:solidFill>
              </a:rPr>
              <a:t>консультирует до исполнения по поводу решения и действий, которые стоит предпринимать);</a:t>
            </a:r>
          </a:p>
          <a:p>
            <a:r>
              <a:rPr lang="en-US" b="1" dirty="0">
                <a:solidFill>
                  <a:schemeClr val="bg1">
                    <a:lumMod val="65000"/>
                  </a:schemeClr>
                </a:solidFill>
              </a:rPr>
              <a:t>I – Informed </a:t>
            </a:r>
            <a:r>
              <a:rPr lang="en-US" dirty="0">
                <a:solidFill>
                  <a:schemeClr val="bg1">
                    <a:lumMod val="65000"/>
                  </a:schemeClr>
                </a:solidFill>
              </a:rPr>
              <a:t>after doing (</a:t>
            </a:r>
            <a:r>
              <a:rPr lang="ru-RU" dirty="0">
                <a:solidFill>
                  <a:schemeClr val="bg1">
                    <a:lumMod val="65000"/>
                  </a:schemeClr>
                </a:solidFill>
              </a:rPr>
              <a:t>тот, кого нужно оповестить о принятом решении или действии</a:t>
            </a:r>
            <a:r>
              <a:rPr lang="uk-UA" dirty="0">
                <a:solidFill>
                  <a:schemeClr val="bg1">
                    <a:lumMod val="65000"/>
                  </a:schemeClr>
                </a:solidFill>
              </a:rPr>
              <a:t>).</a:t>
            </a:r>
          </a:p>
          <a:p>
            <a:pPr marL="0" indent="0">
              <a:buNone/>
            </a:pPr>
            <a:endParaRPr lang="uk-UA" dirty="0"/>
          </a:p>
        </p:txBody>
      </p:sp>
      <p:sp>
        <p:nvSpPr>
          <p:cNvPr id="4" name="Номер слайда 3"/>
          <p:cNvSpPr>
            <a:spLocks noGrp="1"/>
          </p:cNvSpPr>
          <p:nvPr>
            <p:ph type="sldNum" sz="quarter" idx="12"/>
          </p:nvPr>
        </p:nvSpPr>
        <p:spPr/>
        <p:txBody>
          <a:bodyPr/>
          <a:lstStyle/>
          <a:p>
            <a:fld id="{722D506E-8AB4-4D47-A18C-48C2F3230E94}" type="slidenum">
              <a:rPr lang="uk-UA" smtClean="0"/>
              <a:t>19</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7512746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RACI matrix</a:t>
            </a:r>
            <a:endParaRPr lang="uk-UA" dirty="0"/>
          </a:p>
        </p:txBody>
      </p:sp>
      <p:sp>
        <p:nvSpPr>
          <p:cNvPr id="3" name="Объект 2"/>
          <p:cNvSpPr>
            <a:spLocks noGrp="1"/>
          </p:cNvSpPr>
          <p:nvPr>
            <p:ph idx="1"/>
          </p:nvPr>
        </p:nvSpPr>
        <p:spPr/>
        <p:txBody>
          <a:bodyPr/>
          <a:lstStyle/>
          <a:p>
            <a:r>
              <a:rPr lang="en-US" b="1" dirty="0">
                <a:solidFill>
                  <a:schemeClr val="bg1">
                    <a:lumMod val="65000"/>
                  </a:schemeClr>
                </a:solidFill>
              </a:rPr>
              <a:t>R – Responsible </a:t>
            </a:r>
            <a:r>
              <a:rPr lang="en-US" dirty="0">
                <a:solidFill>
                  <a:schemeClr val="bg1">
                    <a:lumMod val="65000"/>
                  </a:schemeClr>
                </a:solidFill>
              </a:rPr>
              <a:t>(</a:t>
            </a:r>
            <a:r>
              <a:rPr lang="ru-RU" dirty="0">
                <a:solidFill>
                  <a:schemeClr val="bg1">
                    <a:lumMod val="65000"/>
                  </a:schemeClr>
                </a:solidFill>
              </a:rPr>
              <a:t>тот, кто исполняет задачу</a:t>
            </a:r>
            <a:r>
              <a:rPr lang="uk-UA" dirty="0">
                <a:solidFill>
                  <a:schemeClr val="bg1">
                    <a:lumMod val="65000"/>
                  </a:schemeClr>
                </a:solidFill>
              </a:rPr>
              <a:t>);</a:t>
            </a:r>
          </a:p>
          <a:p>
            <a:r>
              <a:rPr lang="en-US" b="1" dirty="0">
                <a:solidFill>
                  <a:schemeClr val="bg1">
                    <a:lumMod val="65000"/>
                  </a:schemeClr>
                </a:solidFill>
              </a:rPr>
              <a:t>A – Accountable </a:t>
            </a:r>
            <a:r>
              <a:rPr lang="en-US" dirty="0">
                <a:solidFill>
                  <a:schemeClr val="bg1">
                    <a:lumMod val="65000"/>
                  </a:schemeClr>
                </a:solidFill>
              </a:rPr>
              <a:t>(</a:t>
            </a:r>
            <a:r>
              <a:rPr lang="ru-RU" dirty="0">
                <a:solidFill>
                  <a:schemeClr val="bg1">
                    <a:lumMod val="65000"/>
                  </a:schemeClr>
                </a:solidFill>
              </a:rPr>
              <a:t>человек, принимающий окончательное решение и </a:t>
            </a:r>
            <a:r>
              <a:rPr lang="uk-UA" dirty="0">
                <a:solidFill>
                  <a:schemeClr val="bg1">
                    <a:lumMod val="65000"/>
                  </a:schemeClr>
                </a:solidFill>
              </a:rPr>
              <a:t>несущий ответственность за него);</a:t>
            </a:r>
          </a:p>
          <a:p>
            <a:r>
              <a:rPr lang="en-US" b="1" dirty="0">
                <a:solidFill>
                  <a:srgbClr val="0F79C1"/>
                </a:solidFill>
              </a:rPr>
              <a:t>C – Consulted </a:t>
            </a:r>
            <a:r>
              <a:rPr lang="en-US" dirty="0">
                <a:solidFill>
                  <a:srgbClr val="0F79C1"/>
                </a:solidFill>
              </a:rPr>
              <a:t>before doing </a:t>
            </a:r>
            <a:r>
              <a:rPr lang="en-US" dirty="0"/>
              <a:t>(</a:t>
            </a:r>
            <a:r>
              <a:rPr lang="uk-UA" dirty="0"/>
              <a:t>консультирует до исполнения по поводу решения и действий, которые стоит предпринимать);</a:t>
            </a:r>
          </a:p>
          <a:p>
            <a:r>
              <a:rPr lang="en-US" b="1" dirty="0">
                <a:solidFill>
                  <a:schemeClr val="bg1">
                    <a:lumMod val="65000"/>
                  </a:schemeClr>
                </a:solidFill>
              </a:rPr>
              <a:t>I – Informed </a:t>
            </a:r>
            <a:r>
              <a:rPr lang="en-US" dirty="0">
                <a:solidFill>
                  <a:schemeClr val="bg1">
                    <a:lumMod val="65000"/>
                  </a:schemeClr>
                </a:solidFill>
              </a:rPr>
              <a:t>after doing (</a:t>
            </a:r>
            <a:r>
              <a:rPr lang="ru-RU" dirty="0">
                <a:solidFill>
                  <a:schemeClr val="bg1">
                    <a:lumMod val="65000"/>
                  </a:schemeClr>
                </a:solidFill>
              </a:rPr>
              <a:t>тот, кого нужно оповестить о принятом решении или действии</a:t>
            </a:r>
            <a:r>
              <a:rPr lang="uk-UA" dirty="0">
                <a:solidFill>
                  <a:schemeClr val="bg1">
                    <a:lumMod val="65000"/>
                  </a:schemeClr>
                </a:solidFill>
              </a:rPr>
              <a:t>).</a:t>
            </a:r>
          </a:p>
          <a:p>
            <a:pPr marL="0" indent="0">
              <a:buNone/>
            </a:pPr>
            <a:endParaRPr lang="uk-UA" dirty="0"/>
          </a:p>
        </p:txBody>
      </p:sp>
      <p:sp>
        <p:nvSpPr>
          <p:cNvPr id="4" name="Номер слайда 3"/>
          <p:cNvSpPr>
            <a:spLocks noGrp="1"/>
          </p:cNvSpPr>
          <p:nvPr>
            <p:ph type="sldNum" sz="quarter" idx="12"/>
          </p:nvPr>
        </p:nvSpPr>
        <p:spPr/>
        <p:txBody>
          <a:bodyPr/>
          <a:lstStyle/>
          <a:p>
            <a:fld id="{722D506E-8AB4-4D47-A18C-48C2F3230E94}" type="slidenum">
              <a:rPr lang="uk-UA" smtClean="0"/>
              <a:t>20</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17528409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RACI matrix</a:t>
            </a:r>
            <a:endParaRPr lang="uk-UA" dirty="0"/>
          </a:p>
        </p:txBody>
      </p:sp>
      <p:sp>
        <p:nvSpPr>
          <p:cNvPr id="3" name="Объект 2"/>
          <p:cNvSpPr>
            <a:spLocks noGrp="1"/>
          </p:cNvSpPr>
          <p:nvPr>
            <p:ph idx="1"/>
          </p:nvPr>
        </p:nvSpPr>
        <p:spPr/>
        <p:txBody>
          <a:bodyPr/>
          <a:lstStyle/>
          <a:p>
            <a:r>
              <a:rPr lang="en-US" b="1" dirty="0">
                <a:solidFill>
                  <a:schemeClr val="bg1">
                    <a:lumMod val="65000"/>
                  </a:schemeClr>
                </a:solidFill>
              </a:rPr>
              <a:t>R – Responsible </a:t>
            </a:r>
            <a:r>
              <a:rPr lang="en-US" dirty="0">
                <a:solidFill>
                  <a:schemeClr val="bg1">
                    <a:lumMod val="65000"/>
                  </a:schemeClr>
                </a:solidFill>
              </a:rPr>
              <a:t>(</a:t>
            </a:r>
            <a:r>
              <a:rPr lang="ru-RU" dirty="0">
                <a:solidFill>
                  <a:schemeClr val="bg1">
                    <a:lumMod val="65000"/>
                  </a:schemeClr>
                </a:solidFill>
              </a:rPr>
              <a:t>тот, кто исполняет задачу</a:t>
            </a:r>
            <a:r>
              <a:rPr lang="uk-UA" dirty="0">
                <a:solidFill>
                  <a:schemeClr val="bg1">
                    <a:lumMod val="65000"/>
                  </a:schemeClr>
                </a:solidFill>
              </a:rPr>
              <a:t>);</a:t>
            </a:r>
          </a:p>
          <a:p>
            <a:r>
              <a:rPr lang="en-US" b="1" dirty="0">
                <a:solidFill>
                  <a:schemeClr val="bg1">
                    <a:lumMod val="65000"/>
                  </a:schemeClr>
                </a:solidFill>
              </a:rPr>
              <a:t>A – Accountable </a:t>
            </a:r>
            <a:r>
              <a:rPr lang="en-US" dirty="0">
                <a:solidFill>
                  <a:schemeClr val="bg1">
                    <a:lumMod val="65000"/>
                  </a:schemeClr>
                </a:solidFill>
              </a:rPr>
              <a:t>(</a:t>
            </a:r>
            <a:r>
              <a:rPr lang="ru-RU" dirty="0">
                <a:solidFill>
                  <a:schemeClr val="bg1">
                    <a:lumMod val="65000"/>
                  </a:schemeClr>
                </a:solidFill>
              </a:rPr>
              <a:t>человек, принимающий окончательное решение и </a:t>
            </a:r>
            <a:r>
              <a:rPr lang="uk-UA" dirty="0">
                <a:solidFill>
                  <a:schemeClr val="bg1">
                    <a:lumMod val="65000"/>
                  </a:schemeClr>
                </a:solidFill>
              </a:rPr>
              <a:t>несущий ответственность за него);</a:t>
            </a:r>
          </a:p>
          <a:p>
            <a:r>
              <a:rPr lang="en-US" b="1" dirty="0">
                <a:solidFill>
                  <a:schemeClr val="bg1">
                    <a:lumMod val="65000"/>
                  </a:schemeClr>
                </a:solidFill>
              </a:rPr>
              <a:t>C – Consulted </a:t>
            </a:r>
            <a:r>
              <a:rPr lang="en-US" dirty="0">
                <a:solidFill>
                  <a:schemeClr val="bg1">
                    <a:lumMod val="65000"/>
                  </a:schemeClr>
                </a:solidFill>
              </a:rPr>
              <a:t>before doing (</a:t>
            </a:r>
            <a:r>
              <a:rPr lang="uk-UA" dirty="0">
                <a:solidFill>
                  <a:schemeClr val="bg1">
                    <a:lumMod val="65000"/>
                  </a:schemeClr>
                </a:solidFill>
              </a:rPr>
              <a:t>консультирует до исполнения по поводу решения и действий, которые стоит предпринимать);</a:t>
            </a:r>
          </a:p>
          <a:p>
            <a:r>
              <a:rPr lang="en-US" b="1" dirty="0">
                <a:solidFill>
                  <a:srgbClr val="0F79C1"/>
                </a:solidFill>
              </a:rPr>
              <a:t>I – Informed </a:t>
            </a:r>
            <a:r>
              <a:rPr lang="en-US" dirty="0">
                <a:solidFill>
                  <a:srgbClr val="0F79C1"/>
                </a:solidFill>
              </a:rPr>
              <a:t>after doing </a:t>
            </a:r>
            <a:r>
              <a:rPr lang="en-US" dirty="0"/>
              <a:t>(</a:t>
            </a:r>
            <a:r>
              <a:rPr lang="ru-RU" dirty="0"/>
              <a:t>тот, кого нужно оповестить о принятом решении или действии</a:t>
            </a:r>
            <a:r>
              <a:rPr lang="uk-UA" dirty="0"/>
              <a:t>).</a:t>
            </a:r>
          </a:p>
          <a:p>
            <a:pPr marL="0" indent="0">
              <a:buNone/>
            </a:pPr>
            <a:endParaRPr lang="uk-UA" dirty="0"/>
          </a:p>
        </p:txBody>
      </p:sp>
      <p:sp>
        <p:nvSpPr>
          <p:cNvPr id="4" name="Номер слайда 3"/>
          <p:cNvSpPr>
            <a:spLocks noGrp="1"/>
          </p:cNvSpPr>
          <p:nvPr>
            <p:ph type="sldNum" sz="quarter" idx="12"/>
          </p:nvPr>
        </p:nvSpPr>
        <p:spPr/>
        <p:txBody>
          <a:bodyPr/>
          <a:lstStyle/>
          <a:p>
            <a:fld id="{722D506E-8AB4-4D47-A18C-48C2F3230E94}" type="slidenum">
              <a:rPr lang="uk-UA" smtClean="0"/>
              <a:t>21</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3787214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3C05D-85D5-4D0E-BD25-DC59C30F8466}"/>
              </a:ext>
            </a:extLst>
          </p:cNvPr>
          <p:cNvSpPr>
            <a:spLocks noGrp="1"/>
          </p:cNvSpPr>
          <p:nvPr>
            <p:ph type="title"/>
          </p:nvPr>
        </p:nvSpPr>
        <p:spPr/>
        <p:txBody>
          <a:bodyPr>
            <a:normAutofit/>
          </a:bodyPr>
          <a:lstStyle/>
          <a:p>
            <a:r>
              <a:rPr lang="ru-RU" dirty="0"/>
              <a:t>Пример матрицы </a:t>
            </a:r>
            <a:r>
              <a:rPr lang="en-US" dirty="0"/>
              <a:t>RACI</a:t>
            </a:r>
          </a:p>
        </p:txBody>
      </p:sp>
      <p:pic>
        <p:nvPicPr>
          <p:cNvPr id="8" name="Content Placeholder 7">
            <a:extLst>
              <a:ext uri="{FF2B5EF4-FFF2-40B4-BE49-F238E27FC236}">
                <a16:creationId xmlns:a16="http://schemas.microsoft.com/office/drawing/2014/main" id="{D3466837-0ED8-4680-9CB7-0A974DD861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8672" y="2066323"/>
            <a:ext cx="8980199" cy="3876453"/>
          </a:xfrm>
        </p:spPr>
      </p:pic>
      <p:sp>
        <p:nvSpPr>
          <p:cNvPr id="3" name="Номер слайда 2"/>
          <p:cNvSpPr>
            <a:spLocks noGrp="1"/>
          </p:cNvSpPr>
          <p:nvPr>
            <p:ph type="sldNum" sz="quarter" idx="12"/>
          </p:nvPr>
        </p:nvSpPr>
        <p:spPr/>
        <p:txBody>
          <a:bodyPr/>
          <a:lstStyle/>
          <a:p>
            <a:fld id="{722D506E-8AB4-4D47-A18C-48C2F3230E94}" type="slidenum">
              <a:rPr lang="uk-UA" smtClean="0"/>
              <a:t>22</a:t>
            </a:fld>
            <a:endParaRPr lang="uk-UA"/>
          </a:p>
        </p:txBody>
      </p:sp>
      <p:sp>
        <p:nvSpPr>
          <p:cNvPr id="4" name="Нижний колонтитул 3"/>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18798600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Распространенные ошибки </a:t>
            </a:r>
            <a:r>
              <a:rPr lang="ru-RU" dirty="0"/>
              <a:t>матрицы </a:t>
            </a:r>
            <a:r>
              <a:rPr lang="en-US" dirty="0"/>
              <a:t>RACI</a:t>
            </a:r>
          </a:p>
        </p:txBody>
      </p:sp>
      <p:sp>
        <p:nvSpPr>
          <p:cNvPr id="3" name="Объект 2"/>
          <p:cNvSpPr>
            <a:spLocks noGrp="1"/>
          </p:cNvSpPr>
          <p:nvPr>
            <p:ph idx="1"/>
          </p:nvPr>
        </p:nvSpPr>
        <p:spPr/>
        <p:txBody>
          <a:bodyPr/>
          <a:lstStyle/>
          <a:p>
            <a:r>
              <a:rPr lang="ru-RU" dirty="0" smtClean="0"/>
              <a:t>Излишне «ответственный» клиент</a:t>
            </a:r>
          </a:p>
          <a:p>
            <a:r>
              <a:rPr lang="ru-RU" dirty="0"/>
              <a:t>Отсутствие </a:t>
            </a:r>
            <a:r>
              <a:rPr lang="ru-RU" dirty="0" smtClean="0"/>
              <a:t>исполнителя</a:t>
            </a:r>
            <a:endParaRPr lang="ru-RU" b="1" dirty="0" smtClean="0"/>
          </a:p>
          <a:p>
            <a:r>
              <a:rPr lang="ru-RU" dirty="0" smtClean="0"/>
              <a:t>Отсутствие ответственного</a:t>
            </a:r>
          </a:p>
          <a:p>
            <a:r>
              <a:rPr lang="ru-RU" dirty="0" smtClean="0"/>
              <a:t>Несколько ответственных</a:t>
            </a:r>
          </a:p>
          <a:p>
            <a:r>
              <a:rPr lang="ru-RU" dirty="0" smtClean="0"/>
              <a:t>Использование всех букв разом</a:t>
            </a:r>
          </a:p>
          <a:p>
            <a:r>
              <a:rPr lang="ru-RU" dirty="0" smtClean="0"/>
              <a:t>Список функций системы вместо задач</a:t>
            </a:r>
            <a:endParaRPr lang="en-US" dirty="0"/>
          </a:p>
        </p:txBody>
      </p:sp>
      <p:sp>
        <p:nvSpPr>
          <p:cNvPr id="4" name="Номер слайда 3"/>
          <p:cNvSpPr>
            <a:spLocks noGrp="1"/>
          </p:cNvSpPr>
          <p:nvPr>
            <p:ph type="sldNum" sz="quarter" idx="12"/>
          </p:nvPr>
        </p:nvSpPr>
        <p:spPr/>
        <p:txBody>
          <a:bodyPr/>
          <a:lstStyle/>
          <a:p>
            <a:fld id="{722D506E-8AB4-4D47-A18C-48C2F3230E94}" type="slidenum">
              <a:rPr lang="uk-UA" smtClean="0"/>
              <a:t>23</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3046332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Вариации матрицы </a:t>
            </a:r>
            <a:r>
              <a:rPr lang="en-US" dirty="0"/>
              <a:t>RACI</a:t>
            </a:r>
          </a:p>
        </p:txBody>
      </p:sp>
      <p:sp>
        <p:nvSpPr>
          <p:cNvPr id="3" name="Объект 2"/>
          <p:cNvSpPr>
            <a:spLocks noGrp="1"/>
          </p:cNvSpPr>
          <p:nvPr>
            <p:ph idx="1"/>
          </p:nvPr>
        </p:nvSpPr>
        <p:spPr/>
        <p:txBody>
          <a:bodyPr>
            <a:normAutofit fontScale="92500" lnSpcReduction="10000"/>
          </a:bodyPr>
          <a:lstStyle/>
          <a:p>
            <a:r>
              <a:rPr lang="ru-RU" dirty="0" smtClean="0">
                <a:solidFill>
                  <a:srgbClr val="0F79C1"/>
                </a:solidFill>
              </a:rPr>
              <a:t>RA</a:t>
            </a:r>
            <a:r>
              <a:rPr lang="ru-RU" b="1" dirty="0" smtClean="0">
                <a:solidFill>
                  <a:srgbClr val="0F79C1"/>
                </a:solidFill>
              </a:rPr>
              <a:t>S</a:t>
            </a:r>
            <a:r>
              <a:rPr lang="ru-RU" dirty="0" smtClean="0">
                <a:solidFill>
                  <a:srgbClr val="0F79C1"/>
                </a:solidFill>
              </a:rPr>
              <a:t>CI</a:t>
            </a:r>
            <a:endParaRPr lang="ru-RU" dirty="0">
              <a:solidFill>
                <a:srgbClr val="0F79C1"/>
              </a:solidFill>
            </a:endParaRPr>
          </a:p>
          <a:p>
            <a:pPr lvl="1"/>
            <a:r>
              <a:rPr lang="ru-RU" dirty="0" smtClean="0"/>
              <a:t>S </a:t>
            </a:r>
            <a:r>
              <a:rPr lang="ru-RU" dirty="0"/>
              <a:t>означает </a:t>
            </a:r>
            <a:r>
              <a:rPr lang="ru-RU" dirty="0" err="1"/>
              <a:t>Support</a:t>
            </a:r>
            <a:r>
              <a:rPr lang="ru-RU" dirty="0"/>
              <a:t> — «Поддерживающий», или «Помогающий</a:t>
            </a:r>
            <a:r>
              <a:rPr lang="ru-RU" dirty="0" smtClean="0"/>
              <a:t>», </a:t>
            </a:r>
            <a:r>
              <a:rPr lang="ru-RU" dirty="0"/>
              <a:t>тот, кто будет помогать ответственному (R) выполнять задачу.</a:t>
            </a:r>
            <a:r>
              <a:rPr lang="ru-RU" dirty="0" smtClean="0"/>
              <a:t> </a:t>
            </a:r>
            <a:r>
              <a:rPr lang="ru-RU" dirty="0"/>
              <a:t>В отличие от «Консультирующего», обращение к которому отдается на усмотрение «Ответственного», «Поддерживающий» должен в любом случае оказать помощь в выполнении задачи.</a:t>
            </a:r>
          </a:p>
          <a:p>
            <a:r>
              <a:rPr lang="ru-RU" dirty="0" smtClean="0">
                <a:solidFill>
                  <a:schemeClr val="bg1">
                    <a:lumMod val="65000"/>
                  </a:schemeClr>
                </a:solidFill>
              </a:rPr>
              <a:t>RACI</a:t>
            </a:r>
            <a:r>
              <a:rPr lang="ru-RU" b="1" dirty="0" smtClean="0">
                <a:solidFill>
                  <a:schemeClr val="bg1">
                    <a:lumMod val="65000"/>
                  </a:schemeClr>
                </a:solidFill>
              </a:rPr>
              <a:t>O (</a:t>
            </a:r>
            <a:r>
              <a:rPr lang="en-US" b="1" dirty="0" smtClean="0">
                <a:solidFill>
                  <a:schemeClr val="bg1">
                    <a:lumMod val="65000"/>
                  </a:schemeClr>
                </a:solidFill>
              </a:rPr>
              <a:t>CAIRO</a:t>
            </a:r>
            <a:r>
              <a:rPr lang="ru-RU" b="1" dirty="0" smtClean="0">
                <a:solidFill>
                  <a:schemeClr val="bg1">
                    <a:lumMod val="65000"/>
                  </a:schemeClr>
                </a:solidFill>
              </a:rPr>
              <a:t>)</a:t>
            </a:r>
            <a:endParaRPr lang="ru-RU" dirty="0">
              <a:solidFill>
                <a:schemeClr val="bg1">
                  <a:lumMod val="65000"/>
                </a:schemeClr>
              </a:solidFill>
            </a:endParaRPr>
          </a:p>
          <a:p>
            <a:pPr lvl="1"/>
            <a:r>
              <a:rPr lang="ru-RU" dirty="0">
                <a:solidFill>
                  <a:schemeClr val="bg1">
                    <a:lumMod val="65000"/>
                  </a:schemeClr>
                </a:solidFill>
              </a:rPr>
              <a:t>O — от англ. </a:t>
            </a:r>
            <a:r>
              <a:rPr lang="ru-RU" dirty="0" err="1" smtClean="0">
                <a:solidFill>
                  <a:schemeClr val="bg1">
                    <a:lumMod val="65000"/>
                  </a:schemeClr>
                </a:solidFill>
              </a:rPr>
              <a:t>Omitted</a:t>
            </a:r>
            <a:r>
              <a:rPr lang="ru-RU" dirty="0" smtClean="0">
                <a:solidFill>
                  <a:schemeClr val="bg1">
                    <a:lumMod val="65000"/>
                  </a:schemeClr>
                </a:solidFill>
              </a:rPr>
              <a:t> / </a:t>
            </a:r>
            <a:r>
              <a:rPr lang="en-US" dirty="0" smtClean="0">
                <a:solidFill>
                  <a:schemeClr val="bg1">
                    <a:lumMod val="65000"/>
                  </a:schemeClr>
                </a:solidFill>
              </a:rPr>
              <a:t>Out </a:t>
            </a:r>
            <a:r>
              <a:rPr lang="en-US" dirty="0">
                <a:solidFill>
                  <a:schemeClr val="bg1">
                    <a:lumMod val="65000"/>
                  </a:schemeClr>
                </a:solidFill>
              </a:rPr>
              <a:t>of the </a:t>
            </a:r>
            <a:r>
              <a:rPr lang="en-US" dirty="0" smtClean="0">
                <a:solidFill>
                  <a:schemeClr val="bg1">
                    <a:lumMod val="65000"/>
                  </a:schemeClr>
                </a:solidFill>
              </a:rPr>
              <a:t>loop</a:t>
            </a:r>
            <a:r>
              <a:rPr lang="ru-RU" dirty="0" smtClean="0">
                <a:solidFill>
                  <a:schemeClr val="bg1">
                    <a:lumMod val="65000"/>
                  </a:schemeClr>
                </a:solidFill>
              </a:rPr>
              <a:t> </a:t>
            </a:r>
            <a:r>
              <a:rPr lang="ru-RU" dirty="0">
                <a:solidFill>
                  <a:schemeClr val="bg1">
                    <a:lumMod val="65000"/>
                  </a:schemeClr>
                </a:solidFill>
              </a:rPr>
              <a:t>— означает «Исключающий». Это подразделение, не принимающее участия в процессе. Оно используется, чтобы четко ограничить количество участников и обозначить подразделения, которые не должны вмешиваться в процесс.</a:t>
            </a:r>
          </a:p>
          <a:p>
            <a:r>
              <a:rPr lang="ru-RU" dirty="0">
                <a:solidFill>
                  <a:schemeClr val="bg1">
                    <a:lumMod val="65000"/>
                  </a:schemeClr>
                </a:solidFill>
              </a:rPr>
              <a:t>RACI</a:t>
            </a:r>
            <a:r>
              <a:rPr lang="ru-RU" b="1" dirty="0">
                <a:solidFill>
                  <a:schemeClr val="bg1">
                    <a:lumMod val="65000"/>
                  </a:schemeClr>
                </a:solidFill>
              </a:rPr>
              <a:t>-VS</a:t>
            </a:r>
            <a:endParaRPr lang="ru-RU" dirty="0">
              <a:solidFill>
                <a:schemeClr val="bg1">
                  <a:lumMod val="65000"/>
                </a:schemeClr>
              </a:solidFill>
            </a:endParaRPr>
          </a:p>
          <a:p>
            <a:pPr lvl="1"/>
            <a:r>
              <a:rPr lang="ru-RU" dirty="0">
                <a:solidFill>
                  <a:schemeClr val="bg1">
                    <a:lumMod val="65000"/>
                  </a:schemeClr>
                </a:solidFill>
              </a:rPr>
              <a:t>V и S составляют аббревиатуру — </a:t>
            </a:r>
            <a:r>
              <a:rPr lang="ru-RU" dirty="0" err="1">
                <a:solidFill>
                  <a:schemeClr val="bg1">
                    <a:lumMod val="65000"/>
                  </a:schemeClr>
                </a:solidFill>
              </a:rPr>
              <a:t>Verifier</a:t>
            </a:r>
            <a:r>
              <a:rPr lang="ru-RU" dirty="0">
                <a:solidFill>
                  <a:schemeClr val="bg1">
                    <a:lumMod val="65000"/>
                  </a:schemeClr>
                </a:solidFill>
              </a:rPr>
              <a:t> («Проверяющий») и </a:t>
            </a:r>
            <a:r>
              <a:rPr lang="ru-RU" dirty="0" err="1">
                <a:solidFill>
                  <a:schemeClr val="bg1">
                    <a:lumMod val="65000"/>
                  </a:schemeClr>
                </a:solidFill>
              </a:rPr>
              <a:t>Signatory</a:t>
            </a:r>
            <a:r>
              <a:rPr lang="ru-RU" dirty="0">
                <a:solidFill>
                  <a:schemeClr val="bg1">
                    <a:lumMod val="65000"/>
                  </a:schemeClr>
                </a:solidFill>
              </a:rPr>
              <a:t> («Подписывающий»). «Проверяющий» осуществляет контроль процесса, а «Подписывающий» визирует итоговый документ.</a:t>
            </a:r>
          </a:p>
          <a:p>
            <a:r>
              <a:rPr lang="ru-RU" dirty="0">
                <a:solidFill>
                  <a:schemeClr val="bg1">
                    <a:lumMod val="65000"/>
                  </a:schemeClr>
                </a:solidFill>
              </a:rPr>
              <a:t>RACI</a:t>
            </a:r>
            <a:r>
              <a:rPr lang="ru-RU" b="1" dirty="0">
                <a:solidFill>
                  <a:schemeClr val="bg1">
                    <a:lumMod val="65000"/>
                  </a:schemeClr>
                </a:solidFill>
              </a:rPr>
              <a:t>Q</a:t>
            </a:r>
            <a:r>
              <a:rPr lang="ru-RU" dirty="0">
                <a:solidFill>
                  <a:schemeClr val="bg1">
                    <a:lumMod val="65000"/>
                  </a:schemeClr>
                </a:solidFill>
              </a:rPr>
              <a:t> </a:t>
            </a:r>
            <a:endParaRPr lang="ru-RU" dirty="0" smtClean="0">
              <a:solidFill>
                <a:schemeClr val="bg1">
                  <a:lumMod val="65000"/>
                </a:schemeClr>
              </a:solidFill>
            </a:endParaRPr>
          </a:p>
          <a:p>
            <a:pPr lvl="1"/>
            <a:r>
              <a:rPr lang="ru-RU" dirty="0" smtClean="0">
                <a:solidFill>
                  <a:schemeClr val="bg1">
                    <a:lumMod val="65000"/>
                  </a:schemeClr>
                </a:solidFill>
              </a:rPr>
              <a:t>К обычной </a:t>
            </a:r>
            <a:r>
              <a:rPr lang="ru-RU" dirty="0">
                <a:solidFill>
                  <a:schemeClr val="bg1">
                    <a:lumMod val="65000"/>
                  </a:schemeClr>
                </a:solidFill>
              </a:rPr>
              <a:t>RACI добавляется Q (</a:t>
            </a:r>
            <a:r>
              <a:rPr lang="ru-RU" dirty="0" err="1">
                <a:solidFill>
                  <a:schemeClr val="bg1">
                    <a:lumMod val="65000"/>
                  </a:schemeClr>
                </a:solidFill>
              </a:rPr>
              <a:t>Quality</a:t>
            </a:r>
            <a:r>
              <a:rPr lang="ru-RU" dirty="0">
                <a:solidFill>
                  <a:schemeClr val="bg1">
                    <a:lumMod val="65000"/>
                  </a:schemeClr>
                </a:solidFill>
              </a:rPr>
              <a:t>), то есть тот, кто будет проверять результат на предмет соответствия заявленному качеству.</a:t>
            </a:r>
            <a:endParaRPr lang="en-US" dirty="0">
              <a:solidFill>
                <a:schemeClr val="bg1">
                  <a:lumMod val="65000"/>
                </a:schemeClr>
              </a:solidFill>
            </a:endParaRPr>
          </a:p>
        </p:txBody>
      </p:sp>
      <p:sp>
        <p:nvSpPr>
          <p:cNvPr id="4" name="Номер слайда 3"/>
          <p:cNvSpPr>
            <a:spLocks noGrp="1"/>
          </p:cNvSpPr>
          <p:nvPr>
            <p:ph type="sldNum" sz="quarter" idx="12"/>
          </p:nvPr>
        </p:nvSpPr>
        <p:spPr/>
        <p:txBody>
          <a:bodyPr/>
          <a:lstStyle/>
          <a:p>
            <a:fld id="{722D506E-8AB4-4D47-A18C-48C2F3230E94}" type="slidenum">
              <a:rPr lang="uk-UA" smtClean="0"/>
              <a:t>24</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049500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Вариации матрицы </a:t>
            </a:r>
            <a:r>
              <a:rPr lang="en-US" dirty="0"/>
              <a:t>RACI</a:t>
            </a:r>
          </a:p>
        </p:txBody>
      </p:sp>
      <p:sp>
        <p:nvSpPr>
          <p:cNvPr id="3" name="Объект 2"/>
          <p:cNvSpPr>
            <a:spLocks noGrp="1"/>
          </p:cNvSpPr>
          <p:nvPr>
            <p:ph idx="1"/>
          </p:nvPr>
        </p:nvSpPr>
        <p:spPr/>
        <p:txBody>
          <a:bodyPr>
            <a:normAutofit fontScale="92500" lnSpcReduction="10000"/>
          </a:bodyPr>
          <a:lstStyle/>
          <a:p>
            <a:r>
              <a:rPr lang="ru-RU" dirty="0" smtClean="0">
                <a:solidFill>
                  <a:schemeClr val="bg1">
                    <a:lumMod val="65000"/>
                  </a:schemeClr>
                </a:solidFill>
              </a:rPr>
              <a:t>RA</a:t>
            </a:r>
            <a:r>
              <a:rPr lang="ru-RU" b="1" dirty="0" smtClean="0">
                <a:solidFill>
                  <a:schemeClr val="bg1">
                    <a:lumMod val="65000"/>
                  </a:schemeClr>
                </a:solidFill>
              </a:rPr>
              <a:t>S</a:t>
            </a:r>
            <a:r>
              <a:rPr lang="ru-RU" dirty="0" smtClean="0">
                <a:solidFill>
                  <a:schemeClr val="bg1">
                    <a:lumMod val="65000"/>
                  </a:schemeClr>
                </a:solidFill>
              </a:rPr>
              <a:t>CI</a:t>
            </a:r>
            <a:endParaRPr lang="ru-RU" dirty="0">
              <a:solidFill>
                <a:schemeClr val="bg1">
                  <a:lumMod val="65000"/>
                </a:schemeClr>
              </a:solidFill>
            </a:endParaRPr>
          </a:p>
          <a:p>
            <a:pPr lvl="1"/>
            <a:r>
              <a:rPr lang="ru-RU" dirty="0" smtClean="0">
                <a:solidFill>
                  <a:schemeClr val="bg1">
                    <a:lumMod val="65000"/>
                  </a:schemeClr>
                </a:solidFill>
              </a:rPr>
              <a:t>S </a:t>
            </a:r>
            <a:r>
              <a:rPr lang="ru-RU" dirty="0">
                <a:solidFill>
                  <a:schemeClr val="bg1">
                    <a:lumMod val="65000"/>
                  </a:schemeClr>
                </a:solidFill>
              </a:rPr>
              <a:t>означает </a:t>
            </a:r>
            <a:r>
              <a:rPr lang="ru-RU" dirty="0" err="1">
                <a:solidFill>
                  <a:schemeClr val="bg1">
                    <a:lumMod val="65000"/>
                  </a:schemeClr>
                </a:solidFill>
              </a:rPr>
              <a:t>Support</a:t>
            </a:r>
            <a:r>
              <a:rPr lang="ru-RU" dirty="0">
                <a:solidFill>
                  <a:schemeClr val="bg1">
                    <a:lumMod val="65000"/>
                  </a:schemeClr>
                </a:solidFill>
              </a:rPr>
              <a:t> — «Поддерживающий», или «Помогающий</a:t>
            </a:r>
            <a:r>
              <a:rPr lang="ru-RU" dirty="0" smtClean="0">
                <a:solidFill>
                  <a:schemeClr val="bg1">
                    <a:lumMod val="65000"/>
                  </a:schemeClr>
                </a:solidFill>
              </a:rPr>
              <a:t>», </a:t>
            </a:r>
            <a:r>
              <a:rPr lang="ru-RU" dirty="0">
                <a:solidFill>
                  <a:schemeClr val="bg1">
                    <a:lumMod val="65000"/>
                  </a:schemeClr>
                </a:solidFill>
              </a:rPr>
              <a:t>тот, кто будет помогать ответственному (R) выполнять задачу.</a:t>
            </a:r>
            <a:r>
              <a:rPr lang="ru-RU" dirty="0" smtClean="0">
                <a:solidFill>
                  <a:schemeClr val="bg1">
                    <a:lumMod val="65000"/>
                  </a:schemeClr>
                </a:solidFill>
              </a:rPr>
              <a:t> </a:t>
            </a:r>
            <a:r>
              <a:rPr lang="ru-RU" dirty="0">
                <a:solidFill>
                  <a:schemeClr val="bg1">
                    <a:lumMod val="65000"/>
                  </a:schemeClr>
                </a:solidFill>
              </a:rPr>
              <a:t>В отличие от «Консультирующего», обращение к которому отдается на усмотрение «Ответственного», «Поддерживающий» должен в любом случае оказать помощь в выполнении задачи.</a:t>
            </a:r>
          </a:p>
          <a:p>
            <a:r>
              <a:rPr lang="ru-RU" dirty="0" smtClean="0">
                <a:solidFill>
                  <a:srgbClr val="0F79C1"/>
                </a:solidFill>
              </a:rPr>
              <a:t>RACI</a:t>
            </a:r>
            <a:r>
              <a:rPr lang="ru-RU" b="1" dirty="0" smtClean="0">
                <a:solidFill>
                  <a:srgbClr val="0F79C1"/>
                </a:solidFill>
              </a:rPr>
              <a:t>O (</a:t>
            </a:r>
            <a:r>
              <a:rPr lang="en-US" b="1" dirty="0" smtClean="0">
                <a:solidFill>
                  <a:srgbClr val="0F79C1"/>
                </a:solidFill>
              </a:rPr>
              <a:t>CAIRO</a:t>
            </a:r>
            <a:r>
              <a:rPr lang="ru-RU" b="1" dirty="0" smtClean="0">
                <a:solidFill>
                  <a:srgbClr val="0F79C1"/>
                </a:solidFill>
              </a:rPr>
              <a:t>)</a:t>
            </a:r>
            <a:endParaRPr lang="ru-RU" dirty="0">
              <a:solidFill>
                <a:srgbClr val="0F79C1"/>
              </a:solidFill>
            </a:endParaRPr>
          </a:p>
          <a:p>
            <a:pPr lvl="1"/>
            <a:r>
              <a:rPr lang="ru-RU" dirty="0"/>
              <a:t>O — от англ. </a:t>
            </a:r>
            <a:r>
              <a:rPr lang="ru-RU" dirty="0" err="1" smtClean="0"/>
              <a:t>Omitted</a:t>
            </a:r>
            <a:r>
              <a:rPr lang="ru-RU" dirty="0" smtClean="0"/>
              <a:t> / </a:t>
            </a:r>
            <a:r>
              <a:rPr lang="en-US" dirty="0" smtClean="0"/>
              <a:t>Out </a:t>
            </a:r>
            <a:r>
              <a:rPr lang="en-US" dirty="0"/>
              <a:t>of the </a:t>
            </a:r>
            <a:r>
              <a:rPr lang="en-US" dirty="0" smtClean="0"/>
              <a:t>loop</a:t>
            </a:r>
            <a:r>
              <a:rPr lang="ru-RU" dirty="0" smtClean="0"/>
              <a:t> </a:t>
            </a:r>
            <a:r>
              <a:rPr lang="ru-RU" dirty="0"/>
              <a:t>— означает «Исключающий». Это подразделение, не принимающее участия в процессе. Оно используется, чтобы четко ограничить количество участников и обозначить подразделения, которые не должны вмешиваться в процесс.</a:t>
            </a:r>
          </a:p>
          <a:p>
            <a:r>
              <a:rPr lang="ru-RU" dirty="0">
                <a:solidFill>
                  <a:schemeClr val="bg1">
                    <a:lumMod val="65000"/>
                  </a:schemeClr>
                </a:solidFill>
              </a:rPr>
              <a:t>RACI</a:t>
            </a:r>
            <a:r>
              <a:rPr lang="ru-RU" b="1" dirty="0">
                <a:solidFill>
                  <a:schemeClr val="bg1">
                    <a:lumMod val="65000"/>
                  </a:schemeClr>
                </a:solidFill>
              </a:rPr>
              <a:t>-VS</a:t>
            </a:r>
            <a:endParaRPr lang="ru-RU" dirty="0">
              <a:solidFill>
                <a:schemeClr val="bg1">
                  <a:lumMod val="65000"/>
                </a:schemeClr>
              </a:solidFill>
            </a:endParaRPr>
          </a:p>
          <a:p>
            <a:pPr lvl="1"/>
            <a:r>
              <a:rPr lang="ru-RU" dirty="0">
                <a:solidFill>
                  <a:schemeClr val="bg1">
                    <a:lumMod val="65000"/>
                  </a:schemeClr>
                </a:solidFill>
              </a:rPr>
              <a:t>V и S составляют аббревиатуру — </a:t>
            </a:r>
            <a:r>
              <a:rPr lang="ru-RU" dirty="0" err="1">
                <a:solidFill>
                  <a:schemeClr val="bg1">
                    <a:lumMod val="65000"/>
                  </a:schemeClr>
                </a:solidFill>
              </a:rPr>
              <a:t>Verifier</a:t>
            </a:r>
            <a:r>
              <a:rPr lang="ru-RU" dirty="0">
                <a:solidFill>
                  <a:schemeClr val="bg1">
                    <a:lumMod val="65000"/>
                  </a:schemeClr>
                </a:solidFill>
              </a:rPr>
              <a:t> («Проверяющий») и </a:t>
            </a:r>
            <a:r>
              <a:rPr lang="ru-RU" dirty="0" err="1">
                <a:solidFill>
                  <a:schemeClr val="bg1">
                    <a:lumMod val="65000"/>
                  </a:schemeClr>
                </a:solidFill>
              </a:rPr>
              <a:t>Signatory</a:t>
            </a:r>
            <a:r>
              <a:rPr lang="ru-RU" dirty="0">
                <a:solidFill>
                  <a:schemeClr val="bg1">
                    <a:lumMod val="65000"/>
                  </a:schemeClr>
                </a:solidFill>
              </a:rPr>
              <a:t> («Подписывающий»). «Проверяющий» осуществляет контроль процесса, а «Подписывающий» визирует итоговый документ.</a:t>
            </a:r>
          </a:p>
          <a:p>
            <a:r>
              <a:rPr lang="ru-RU" dirty="0">
                <a:solidFill>
                  <a:schemeClr val="bg1">
                    <a:lumMod val="65000"/>
                  </a:schemeClr>
                </a:solidFill>
              </a:rPr>
              <a:t>RACI</a:t>
            </a:r>
            <a:r>
              <a:rPr lang="ru-RU" b="1" dirty="0">
                <a:solidFill>
                  <a:schemeClr val="bg1">
                    <a:lumMod val="65000"/>
                  </a:schemeClr>
                </a:solidFill>
              </a:rPr>
              <a:t>Q</a:t>
            </a:r>
            <a:r>
              <a:rPr lang="ru-RU" dirty="0">
                <a:solidFill>
                  <a:schemeClr val="bg1">
                    <a:lumMod val="65000"/>
                  </a:schemeClr>
                </a:solidFill>
              </a:rPr>
              <a:t> </a:t>
            </a:r>
            <a:endParaRPr lang="ru-RU" dirty="0" smtClean="0">
              <a:solidFill>
                <a:schemeClr val="bg1">
                  <a:lumMod val="65000"/>
                </a:schemeClr>
              </a:solidFill>
            </a:endParaRPr>
          </a:p>
          <a:p>
            <a:pPr lvl="1"/>
            <a:r>
              <a:rPr lang="ru-RU" dirty="0" smtClean="0">
                <a:solidFill>
                  <a:schemeClr val="bg1">
                    <a:lumMod val="65000"/>
                  </a:schemeClr>
                </a:solidFill>
              </a:rPr>
              <a:t>К обычной </a:t>
            </a:r>
            <a:r>
              <a:rPr lang="ru-RU" dirty="0">
                <a:solidFill>
                  <a:schemeClr val="bg1">
                    <a:lumMod val="65000"/>
                  </a:schemeClr>
                </a:solidFill>
              </a:rPr>
              <a:t>RACI добавляется Q (</a:t>
            </a:r>
            <a:r>
              <a:rPr lang="ru-RU" dirty="0" err="1">
                <a:solidFill>
                  <a:schemeClr val="bg1">
                    <a:lumMod val="65000"/>
                  </a:schemeClr>
                </a:solidFill>
              </a:rPr>
              <a:t>Quality</a:t>
            </a:r>
            <a:r>
              <a:rPr lang="ru-RU" dirty="0">
                <a:solidFill>
                  <a:schemeClr val="bg1">
                    <a:lumMod val="65000"/>
                  </a:schemeClr>
                </a:solidFill>
              </a:rPr>
              <a:t>), то есть тот, кто будет проверять результат на предмет соответствия заявленному качеству.</a:t>
            </a:r>
            <a:endParaRPr lang="en-US" dirty="0">
              <a:solidFill>
                <a:schemeClr val="bg1">
                  <a:lumMod val="65000"/>
                </a:schemeClr>
              </a:solidFill>
            </a:endParaRPr>
          </a:p>
        </p:txBody>
      </p:sp>
      <p:sp>
        <p:nvSpPr>
          <p:cNvPr id="4" name="Номер слайда 3"/>
          <p:cNvSpPr>
            <a:spLocks noGrp="1"/>
          </p:cNvSpPr>
          <p:nvPr>
            <p:ph type="sldNum" sz="quarter" idx="12"/>
          </p:nvPr>
        </p:nvSpPr>
        <p:spPr/>
        <p:txBody>
          <a:bodyPr/>
          <a:lstStyle/>
          <a:p>
            <a:fld id="{722D506E-8AB4-4D47-A18C-48C2F3230E94}" type="slidenum">
              <a:rPr lang="uk-UA" smtClean="0"/>
              <a:t>25</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1225409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Вариации матрицы </a:t>
            </a:r>
            <a:r>
              <a:rPr lang="en-US" dirty="0"/>
              <a:t>RACI</a:t>
            </a:r>
          </a:p>
        </p:txBody>
      </p:sp>
      <p:sp>
        <p:nvSpPr>
          <p:cNvPr id="3" name="Объект 2"/>
          <p:cNvSpPr>
            <a:spLocks noGrp="1"/>
          </p:cNvSpPr>
          <p:nvPr>
            <p:ph idx="1"/>
          </p:nvPr>
        </p:nvSpPr>
        <p:spPr/>
        <p:txBody>
          <a:bodyPr>
            <a:normAutofit fontScale="92500" lnSpcReduction="10000"/>
          </a:bodyPr>
          <a:lstStyle/>
          <a:p>
            <a:r>
              <a:rPr lang="ru-RU" dirty="0" smtClean="0">
                <a:solidFill>
                  <a:schemeClr val="bg1">
                    <a:lumMod val="65000"/>
                  </a:schemeClr>
                </a:solidFill>
              </a:rPr>
              <a:t>RA</a:t>
            </a:r>
            <a:r>
              <a:rPr lang="ru-RU" b="1" dirty="0" smtClean="0">
                <a:solidFill>
                  <a:schemeClr val="bg1">
                    <a:lumMod val="65000"/>
                  </a:schemeClr>
                </a:solidFill>
              </a:rPr>
              <a:t>S</a:t>
            </a:r>
            <a:r>
              <a:rPr lang="ru-RU" dirty="0" smtClean="0">
                <a:solidFill>
                  <a:schemeClr val="bg1">
                    <a:lumMod val="65000"/>
                  </a:schemeClr>
                </a:solidFill>
              </a:rPr>
              <a:t>CI</a:t>
            </a:r>
            <a:endParaRPr lang="ru-RU" dirty="0">
              <a:solidFill>
                <a:schemeClr val="bg1">
                  <a:lumMod val="65000"/>
                </a:schemeClr>
              </a:solidFill>
            </a:endParaRPr>
          </a:p>
          <a:p>
            <a:pPr lvl="1"/>
            <a:r>
              <a:rPr lang="ru-RU" dirty="0" smtClean="0">
                <a:solidFill>
                  <a:schemeClr val="bg1">
                    <a:lumMod val="65000"/>
                  </a:schemeClr>
                </a:solidFill>
              </a:rPr>
              <a:t>S </a:t>
            </a:r>
            <a:r>
              <a:rPr lang="ru-RU" dirty="0">
                <a:solidFill>
                  <a:schemeClr val="bg1">
                    <a:lumMod val="65000"/>
                  </a:schemeClr>
                </a:solidFill>
              </a:rPr>
              <a:t>означает </a:t>
            </a:r>
            <a:r>
              <a:rPr lang="ru-RU" dirty="0" err="1">
                <a:solidFill>
                  <a:schemeClr val="bg1">
                    <a:lumMod val="65000"/>
                  </a:schemeClr>
                </a:solidFill>
              </a:rPr>
              <a:t>Support</a:t>
            </a:r>
            <a:r>
              <a:rPr lang="ru-RU" dirty="0">
                <a:solidFill>
                  <a:schemeClr val="bg1">
                    <a:lumMod val="65000"/>
                  </a:schemeClr>
                </a:solidFill>
              </a:rPr>
              <a:t> — «Поддерживающий», или «Помогающий</a:t>
            </a:r>
            <a:r>
              <a:rPr lang="ru-RU" dirty="0" smtClean="0">
                <a:solidFill>
                  <a:schemeClr val="bg1">
                    <a:lumMod val="65000"/>
                  </a:schemeClr>
                </a:solidFill>
              </a:rPr>
              <a:t>», </a:t>
            </a:r>
            <a:r>
              <a:rPr lang="ru-RU" dirty="0">
                <a:solidFill>
                  <a:schemeClr val="bg1">
                    <a:lumMod val="65000"/>
                  </a:schemeClr>
                </a:solidFill>
              </a:rPr>
              <a:t>тот, кто будет помогать ответственному (R) выполнять задачу.</a:t>
            </a:r>
            <a:r>
              <a:rPr lang="ru-RU" dirty="0" smtClean="0">
                <a:solidFill>
                  <a:schemeClr val="bg1">
                    <a:lumMod val="65000"/>
                  </a:schemeClr>
                </a:solidFill>
              </a:rPr>
              <a:t> </a:t>
            </a:r>
            <a:r>
              <a:rPr lang="ru-RU" dirty="0">
                <a:solidFill>
                  <a:schemeClr val="bg1">
                    <a:lumMod val="65000"/>
                  </a:schemeClr>
                </a:solidFill>
              </a:rPr>
              <a:t>В отличие от «Консультирующего», обращение к которому отдается на усмотрение «Ответственного», «Поддерживающий» должен в любом случае оказать помощь в выполнении задачи.</a:t>
            </a:r>
          </a:p>
          <a:p>
            <a:r>
              <a:rPr lang="ru-RU" dirty="0" smtClean="0">
                <a:solidFill>
                  <a:schemeClr val="bg1">
                    <a:lumMod val="65000"/>
                  </a:schemeClr>
                </a:solidFill>
              </a:rPr>
              <a:t>RACI</a:t>
            </a:r>
            <a:r>
              <a:rPr lang="ru-RU" b="1" dirty="0" smtClean="0">
                <a:solidFill>
                  <a:schemeClr val="bg1">
                    <a:lumMod val="65000"/>
                  </a:schemeClr>
                </a:solidFill>
              </a:rPr>
              <a:t>O (</a:t>
            </a:r>
            <a:r>
              <a:rPr lang="en-US" b="1" dirty="0" smtClean="0">
                <a:solidFill>
                  <a:schemeClr val="bg1">
                    <a:lumMod val="65000"/>
                  </a:schemeClr>
                </a:solidFill>
              </a:rPr>
              <a:t>CAIRO</a:t>
            </a:r>
            <a:r>
              <a:rPr lang="ru-RU" b="1" dirty="0" smtClean="0">
                <a:solidFill>
                  <a:schemeClr val="bg1">
                    <a:lumMod val="65000"/>
                  </a:schemeClr>
                </a:solidFill>
              </a:rPr>
              <a:t>)</a:t>
            </a:r>
            <a:endParaRPr lang="ru-RU" dirty="0">
              <a:solidFill>
                <a:schemeClr val="bg1">
                  <a:lumMod val="65000"/>
                </a:schemeClr>
              </a:solidFill>
            </a:endParaRPr>
          </a:p>
          <a:p>
            <a:pPr lvl="1"/>
            <a:r>
              <a:rPr lang="ru-RU" dirty="0">
                <a:solidFill>
                  <a:schemeClr val="bg1">
                    <a:lumMod val="65000"/>
                  </a:schemeClr>
                </a:solidFill>
              </a:rPr>
              <a:t>O — от англ. </a:t>
            </a:r>
            <a:r>
              <a:rPr lang="ru-RU" dirty="0" err="1" smtClean="0">
                <a:solidFill>
                  <a:schemeClr val="bg1">
                    <a:lumMod val="65000"/>
                  </a:schemeClr>
                </a:solidFill>
              </a:rPr>
              <a:t>Omitted</a:t>
            </a:r>
            <a:r>
              <a:rPr lang="ru-RU" dirty="0" smtClean="0">
                <a:solidFill>
                  <a:schemeClr val="bg1">
                    <a:lumMod val="65000"/>
                  </a:schemeClr>
                </a:solidFill>
              </a:rPr>
              <a:t> / </a:t>
            </a:r>
            <a:r>
              <a:rPr lang="en-US" dirty="0" smtClean="0">
                <a:solidFill>
                  <a:schemeClr val="bg1">
                    <a:lumMod val="65000"/>
                  </a:schemeClr>
                </a:solidFill>
              </a:rPr>
              <a:t>Out </a:t>
            </a:r>
            <a:r>
              <a:rPr lang="en-US" dirty="0">
                <a:solidFill>
                  <a:schemeClr val="bg1">
                    <a:lumMod val="65000"/>
                  </a:schemeClr>
                </a:solidFill>
              </a:rPr>
              <a:t>of the </a:t>
            </a:r>
            <a:r>
              <a:rPr lang="en-US" dirty="0" smtClean="0">
                <a:solidFill>
                  <a:schemeClr val="bg1">
                    <a:lumMod val="65000"/>
                  </a:schemeClr>
                </a:solidFill>
              </a:rPr>
              <a:t>loop</a:t>
            </a:r>
            <a:r>
              <a:rPr lang="ru-RU" dirty="0" smtClean="0">
                <a:solidFill>
                  <a:schemeClr val="bg1">
                    <a:lumMod val="65000"/>
                  </a:schemeClr>
                </a:solidFill>
              </a:rPr>
              <a:t> </a:t>
            </a:r>
            <a:r>
              <a:rPr lang="ru-RU" dirty="0">
                <a:solidFill>
                  <a:schemeClr val="bg1">
                    <a:lumMod val="65000"/>
                  </a:schemeClr>
                </a:solidFill>
              </a:rPr>
              <a:t>— означает «Исключающий». Это подразделение, не принимающее участия в процессе. Оно используется, чтобы четко ограничить количество участников и обозначить подразделения, которые не должны вмешиваться в процесс.</a:t>
            </a:r>
          </a:p>
          <a:p>
            <a:r>
              <a:rPr lang="ru-RU" dirty="0">
                <a:solidFill>
                  <a:srgbClr val="0F79C1"/>
                </a:solidFill>
              </a:rPr>
              <a:t>RACI</a:t>
            </a:r>
            <a:r>
              <a:rPr lang="ru-RU" b="1" dirty="0">
                <a:solidFill>
                  <a:srgbClr val="0F79C1"/>
                </a:solidFill>
              </a:rPr>
              <a:t>-VS</a:t>
            </a:r>
            <a:endParaRPr lang="ru-RU" dirty="0">
              <a:solidFill>
                <a:srgbClr val="0F79C1"/>
              </a:solidFill>
            </a:endParaRPr>
          </a:p>
          <a:p>
            <a:pPr lvl="1"/>
            <a:r>
              <a:rPr lang="ru-RU" dirty="0"/>
              <a:t>V и S составляют аббревиатуру — </a:t>
            </a:r>
            <a:r>
              <a:rPr lang="ru-RU" dirty="0" err="1"/>
              <a:t>Verifier</a:t>
            </a:r>
            <a:r>
              <a:rPr lang="ru-RU" dirty="0"/>
              <a:t> («Проверяющий») и </a:t>
            </a:r>
            <a:r>
              <a:rPr lang="ru-RU" dirty="0" err="1"/>
              <a:t>Signatory</a:t>
            </a:r>
            <a:r>
              <a:rPr lang="ru-RU" dirty="0"/>
              <a:t> («Подписывающий»). «Проверяющий» осуществляет контроль процесса, а «Подписывающий» визирует итоговый документ.</a:t>
            </a:r>
          </a:p>
          <a:p>
            <a:r>
              <a:rPr lang="ru-RU" dirty="0">
                <a:solidFill>
                  <a:schemeClr val="bg1">
                    <a:lumMod val="65000"/>
                  </a:schemeClr>
                </a:solidFill>
              </a:rPr>
              <a:t>RACI</a:t>
            </a:r>
            <a:r>
              <a:rPr lang="ru-RU" b="1" dirty="0">
                <a:solidFill>
                  <a:schemeClr val="bg1">
                    <a:lumMod val="65000"/>
                  </a:schemeClr>
                </a:solidFill>
              </a:rPr>
              <a:t>Q</a:t>
            </a:r>
            <a:r>
              <a:rPr lang="ru-RU" dirty="0">
                <a:solidFill>
                  <a:schemeClr val="bg1">
                    <a:lumMod val="65000"/>
                  </a:schemeClr>
                </a:solidFill>
              </a:rPr>
              <a:t> </a:t>
            </a:r>
            <a:endParaRPr lang="ru-RU" dirty="0" smtClean="0">
              <a:solidFill>
                <a:schemeClr val="bg1">
                  <a:lumMod val="65000"/>
                </a:schemeClr>
              </a:solidFill>
            </a:endParaRPr>
          </a:p>
          <a:p>
            <a:pPr lvl="1"/>
            <a:r>
              <a:rPr lang="ru-RU" dirty="0" smtClean="0">
                <a:solidFill>
                  <a:schemeClr val="bg1">
                    <a:lumMod val="65000"/>
                  </a:schemeClr>
                </a:solidFill>
              </a:rPr>
              <a:t>К обычной </a:t>
            </a:r>
            <a:r>
              <a:rPr lang="ru-RU" dirty="0">
                <a:solidFill>
                  <a:schemeClr val="bg1">
                    <a:lumMod val="65000"/>
                  </a:schemeClr>
                </a:solidFill>
              </a:rPr>
              <a:t>RACI добавляется Q (</a:t>
            </a:r>
            <a:r>
              <a:rPr lang="ru-RU" dirty="0" err="1">
                <a:solidFill>
                  <a:schemeClr val="bg1">
                    <a:lumMod val="65000"/>
                  </a:schemeClr>
                </a:solidFill>
              </a:rPr>
              <a:t>Quality</a:t>
            </a:r>
            <a:r>
              <a:rPr lang="ru-RU" dirty="0">
                <a:solidFill>
                  <a:schemeClr val="bg1">
                    <a:lumMod val="65000"/>
                  </a:schemeClr>
                </a:solidFill>
              </a:rPr>
              <a:t>), то есть тот, кто будет проверять результат на предмет соответствия заявленному качеству.</a:t>
            </a:r>
            <a:endParaRPr lang="en-US" dirty="0">
              <a:solidFill>
                <a:schemeClr val="bg1">
                  <a:lumMod val="65000"/>
                </a:schemeClr>
              </a:solidFill>
            </a:endParaRPr>
          </a:p>
        </p:txBody>
      </p:sp>
      <p:sp>
        <p:nvSpPr>
          <p:cNvPr id="4" name="Номер слайда 3"/>
          <p:cNvSpPr>
            <a:spLocks noGrp="1"/>
          </p:cNvSpPr>
          <p:nvPr>
            <p:ph type="sldNum" sz="quarter" idx="12"/>
          </p:nvPr>
        </p:nvSpPr>
        <p:spPr/>
        <p:txBody>
          <a:bodyPr/>
          <a:lstStyle/>
          <a:p>
            <a:fld id="{722D506E-8AB4-4D47-A18C-48C2F3230E94}" type="slidenum">
              <a:rPr lang="uk-UA" smtClean="0"/>
              <a:t>26</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1220353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Вариации матрицы </a:t>
            </a:r>
            <a:r>
              <a:rPr lang="en-US" dirty="0"/>
              <a:t>RACI</a:t>
            </a:r>
          </a:p>
        </p:txBody>
      </p:sp>
      <p:sp>
        <p:nvSpPr>
          <p:cNvPr id="3" name="Объект 2"/>
          <p:cNvSpPr>
            <a:spLocks noGrp="1"/>
          </p:cNvSpPr>
          <p:nvPr>
            <p:ph idx="1"/>
          </p:nvPr>
        </p:nvSpPr>
        <p:spPr/>
        <p:txBody>
          <a:bodyPr>
            <a:normAutofit fontScale="92500" lnSpcReduction="10000"/>
          </a:bodyPr>
          <a:lstStyle/>
          <a:p>
            <a:r>
              <a:rPr lang="ru-RU" dirty="0" smtClean="0">
                <a:solidFill>
                  <a:schemeClr val="bg1">
                    <a:lumMod val="65000"/>
                  </a:schemeClr>
                </a:solidFill>
              </a:rPr>
              <a:t>RA</a:t>
            </a:r>
            <a:r>
              <a:rPr lang="ru-RU" b="1" dirty="0" smtClean="0">
                <a:solidFill>
                  <a:schemeClr val="bg1">
                    <a:lumMod val="65000"/>
                  </a:schemeClr>
                </a:solidFill>
              </a:rPr>
              <a:t>S</a:t>
            </a:r>
            <a:r>
              <a:rPr lang="ru-RU" dirty="0" smtClean="0">
                <a:solidFill>
                  <a:schemeClr val="bg1">
                    <a:lumMod val="65000"/>
                  </a:schemeClr>
                </a:solidFill>
              </a:rPr>
              <a:t>CI</a:t>
            </a:r>
            <a:endParaRPr lang="ru-RU" dirty="0">
              <a:solidFill>
                <a:schemeClr val="bg1">
                  <a:lumMod val="65000"/>
                </a:schemeClr>
              </a:solidFill>
            </a:endParaRPr>
          </a:p>
          <a:p>
            <a:pPr lvl="1"/>
            <a:r>
              <a:rPr lang="ru-RU" dirty="0" smtClean="0">
                <a:solidFill>
                  <a:schemeClr val="bg1">
                    <a:lumMod val="65000"/>
                  </a:schemeClr>
                </a:solidFill>
              </a:rPr>
              <a:t>S </a:t>
            </a:r>
            <a:r>
              <a:rPr lang="ru-RU" dirty="0">
                <a:solidFill>
                  <a:schemeClr val="bg1">
                    <a:lumMod val="65000"/>
                  </a:schemeClr>
                </a:solidFill>
              </a:rPr>
              <a:t>означает </a:t>
            </a:r>
            <a:r>
              <a:rPr lang="ru-RU" dirty="0" err="1">
                <a:solidFill>
                  <a:schemeClr val="bg1">
                    <a:lumMod val="65000"/>
                  </a:schemeClr>
                </a:solidFill>
              </a:rPr>
              <a:t>Support</a:t>
            </a:r>
            <a:r>
              <a:rPr lang="ru-RU" dirty="0">
                <a:solidFill>
                  <a:schemeClr val="bg1">
                    <a:lumMod val="65000"/>
                  </a:schemeClr>
                </a:solidFill>
              </a:rPr>
              <a:t> — «Поддерживающий», или «Помогающий</a:t>
            </a:r>
            <a:r>
              <a:rPr lang="ru-RU" dirty="0" smtClean="0">
                <a:solidFill>
                  <a:schemeClr val="bg1">
                    <a:lumMod val="65000"/>
                  </a:schemeClr>
                </a:solidFill>
              </a:rPr>
              <a:t>», </a:t>
            </a:r>
            <a:r>
              <a:rPr lang="ru-RU" dirty="0">
                <a:solidFill>
                  <a:schemeClr val="bg1">
                    <a:lumMod val="65000"/>
                  </a:schemeClr>
                </a:solidFill>
              </a:rPr>
              <a:t>тот, кто будет помогать ответственному (R) выполнять задачу.</a:t>
            </a:r>
            <a:r>
              <a:rPr lang="ru-RU" dirty="0" smtClean="0">
                <a:solidFill>
                  <a:schemeClr val="bg1">
                    <a:lumMod val="65000"/>
                  </a:schemeClr>
                </a:solidFill>
              </a:rPr>
              <a:t> </a:t>
            </a:r>
            <a:r>
              <a:rPr lang="ru-RU" dirty="0">
                <a:solidFill>
                  <a:schemeClr val="bg1">
                    <a:lumMod val="65000"/>
                  </a:schemeClr>
                </a:solidFill>
              </a:rPr>
              <a:t>В отличие от «Консультирующего», обращение к которому отдается на усмотрение «Ответственного», «Поддерживающий» должен в любом случае оказать помощь в выполнении задачи.</a:t>
            </a:r>
          </a:p>
          <a:p>
            <a:r>
              <a:rPr lang="ru-RU" dirty="0" smtClean="0">
                <a:solidFill>
                  <a:schemeClr val="bg1">
                    <a:lumMod val="65000"/>
                  </a:schemeClr>
                </a:solidFill>
              </a:rPr>
              <a:t>RACI</a:t>
            </a:r>
            <a:r>
              <a:rPr lang="ru-RU" b="1" dirty="0" smtClean="0">
                <a:solidFill>
                  <a:schemeClr val="bg1">
                    <a:lumMod val="65000"/>
                  </a:schemeClr>
                </a:solidFill>
              </a:rPr>
              <a:t>O (</a:t>
            </a:r>
            <a:r>
              <a:rPr lang="en-US" b="1" dirty="0" smtClean="0">
                <a:solidFill>
                  <a:schemeClr val="bg1">
                    <a:lumMod val="65000"/>
                  </a:schemeClr>
                </a:solidFill>
              </a:rPr>
              <a:t>CAIRO</a:t>
            </a:r>
            <a:r>
              <a:rPr lang="ru-RU" b="1" dirty="0" smtClean="0">
                <a:solidFill>
                  <a:schemeClr val="bg1">
                    <a:lumMod val="65000"/>
                  </a:schemeClr>
                </a:solidFill>
              </a:rPr>
              <a:t>)</a:t>
            </a:r>
            <a:endParaRPr lang="ru-RU" dirty="0">
              <a:solidFill>
                <a:schemeClr val="bg1">
                  <a:lumMod val="65000"/>
                </a:schemeClr>
              </a:solidFill>
            </a:endParaRPr>
          </a:p>
          <a:p>
            <a:pPr lvl="1"/>
            <a:r>
              <a:rPr lang="ru-RU" dirty="0">
                <a:solidFill>
                  <a:schemeClr val="bg1">
                    <a:lumMod val="65000"/>
                  </a:schemeClr>
                </a:solidFill>
              </a:rPr>
              <a:t>O — от англ. </a:t>
            </a:r>
            <a:r>
              <a:rPr lang="ru-RU" dirty="0" err="1" smtClean="0">
                <a:solidFill>
                  <a:schemeClr val="bg1">
                    <a:lumMod val="65000"/>
                  </a:schemeClr>
                </a:solidFill>
              </a:rPr>
              <a:t>Omitted</a:t>
            </a:r>
            <a:r>
              <a:rPr lang="ru-RU" dirty="0" smtClean="0">
                <a:solidFill>
                  <a:schemeClr val="bg1">
                    <a:lumMod val="65000"/>
                  </a:schemeClr>
                </a:solidFill>
              </a:rPr>
              <a:t> / </a:t>
            </a:r>
            <a:r>
              <a:rPr lang="en-US" dirty="0" smtClean="0">
                <a:solidFill>
                  <a:schemeClr val="bg1">
                    <a:lumMod val="65000"/>
                  </a:schemeClr>
                </a:solidFill>
              </a:rPr>
              <a:t>Out </a:t>
            </a:r>
            <a:r>
              <a:rPr lang="en-US" dirty="0">
                <a:solidFill>
                  <a:schemeClr val="bg1">
                    <a:lumMod val="65000"/>
                  </a:schemeClr>
                </a:solidFill>
              </a:rPr>
              <a:t>of the </a:t>
            </a:r>
            <a:r>
              <a:rPr lang="en-US" dirty="0" smtClean="0">
                <a:solidFill>
                  <a:schemeClr val="bg1">
                    <a:lumMod val="65000"/>
                  </a:schemeClr>
                </a:solidFill>
              </a:rPr>
              <a:t>loop</a:t>
            </a:r>
            <a:r>
              <a:rPr lang="ru-RU" dirty="0" smtClean="0">
                <a:solidFill>
                  <a:schemeClr val="bg1">
                    <a:lumMod val="65000"/>
                  </a:schemeClr>
                </a:solidFill>
              </a:rPr>
              <a:t> </a:t>
            </a:r>
            <a:r>
              <a:rPr lang="ru-RU" dirty="0">
                <a:solidFill>
                  <a:schemeClr val="bg1">
                    <a:lumMod val="65000"/>
                  </a:schemeClr>
                </a:solidFill>
              </a:rPr>
              <a:t>— означает «Исключающий». Это подразделение, не принимающее участия в процессе. Оно используется, чтобы четко ограничить количество участников и обозначить подразделения, которые не должны вмешиваться в процесс.</a:t>
            </a:r>
          </a:p>
          <a:p>
            <a:r>
              <a:rPr lang="ru-RU" dirty="0">
                <a:solidFill>
                  <a:schemeClr val="bg1">
                    <a:lumMod val="65000"/>
                  </a:schemeClr>
                </a:solidFill>
              </a:rPr>
              <a:t>RACI</a:t>
            </a:r>
            <a:r>
              <a:rPr lang="ru-RU" b="1" dirty="0">
                <a:solidFill>
                  <a:schemeClr val="bg1">
                    <a:lumMod val="65000"/>
                  </a:schemeClr>
                </a:solidFill>
              </a:rPr>
              <a:t>-VS</a:t>
            </a:r>
            <a:endParaRPr lang="ru-RU" dirty="0">
              <a:solidFill>
                <a:schemeClr val="bg1">
                  <a:lumMod val="65000"/>
                </a:schemeClr>
              </a:solidFill>
            </a:endParaRPr>
          </a:p>
          <a:p>
            <a:pPr lvl="1"/>
            <a:r>
              <a:rPr lang="ru-RU" dirty="0">
                <a:solidFill>
                  <a:schemeClr val="bg1">
                    <a:lumMod val="65000"/>
                  </a:schemeClr>
                </a:solidFill>
              </a:rPr>
              <a:t>V и S составляют аббревиатуру — </a:t>
            </a:r>
            <a:r>
              <a:rPr lang="ru-RU" dirty="0" err="1">
                <a:solidFill>
                  <a:schemeClr val="bg1">
                    <a:lumMod val="65000"/>
                  </a:schemeClr>
                </a:solidFill>
              </a:rPr>
              <a:t>Verifier</a:t>
            </a:r>
            <a:r>
              <a:rPr lang="ru-RU" dirty="0">
                <a:solidFill>
                  <a:schemeClr val="bg1">
                    <a:lumMod val="65000"/>
                  </a:schemeClr>
                </a:solidFill>
              </a:rPr>
              <a:t> («Проверяющий») и </a:t>
            </a:r>
            <a:r>
              <a:rPr lang="ru-RU" dirty="0" err="1">
                <a:solidFill>
                  <a:schemeClr val="bg1">
                    <a:lumMod val="65000"/>
                  </a:schemeClr>
                </a:solidFill>
              </a:rPr>
              <a:t>Signatory</a:t>
            </a:r>
            <a:r>
              <a:rPr lang="ru-RU" dirty="0">
                <a:solidFill>
                  <a:schemeClr val="bg1">
                    <a:lumMod val="65000"/>
                  </a:schemeClr>
                </a:solidFill>
              </a:rPr>
              <a:t> («Подписывающий»). «Проверяющий» осуществляет контроль процесса, а «Подписывающий» визирует итоговый документ.</a:t>
            </a:r>
          </a:p>
          <a:p>
            <a:r>
              <a:rPr lang="ru-RU" dirty="0">
                <a:solidFill>
                  <a:srgbClr val="0F79C1"/>
                </a:solidFill>
              </a:rPr>
              <a:t>RACI</a:t>
            </a:r>
            <a:r>
              <a:rPr lang="ru-RU" b="1" dirty="0">
                <a:solidFill>
                  <a:srgbClr val="0F79C1"/>
                </a:solidFill>
              </a:rPr>
              <a:t>Q</a:t>
            </a:r>
            <a:r>
              <a:rPr lang="ru-RU" dirty="0">
                <a:solidFill>
                  <a:srgbClr val="0F79C1"/>
                </a:solidFill>
              </a:rPr>
              <a:t> </a:t>
            </a:r>
            <a:endParaRPr lang="ru-RU" dirty="0" smtClean="0">
              <a:solidFill>
                <a:srgbClr val="0F79C1"/>
              </a:solidFill>
            </a:endParaRPr>
          </a:p>
          <a:p>
            <a:pPr lvl="1"/>
            <a:r>
              <a:rPr lang="ru-RU" dirty="0" smtClean="0"/>
              <a:t>К обычной </a:t>
            </a:r>
            <a:r>
              <a:rPr lang="ru-RU" dirty="0"/>
              <a:t>RACI добавляется Q (</a:t>
            </a:r>
            <a:r>
              <a:rPr lang="ru-RU" dirty="0" err="1"/>
              <a:t>Quality</a:t>
            </a:r>
            <a:r>
              <a:rPr lang="ru-RU" dirty="0"/>
              <a:t>), то есть тот, кто будет проверять результат на предмет соответствия заявленному качеству.</a:t>
            </a:r>
            <a:endParaRPr lang="en-US" dirty="0"/>
          </a:p>
        </p:txBody>
      </p:sp>
      <p:sp>
        <p:nvSpPr>
          <p:cNvPr id="4" name="Номер слайда 3"/>
          <p:cNvSpPr>
            <a:spLocks noGrp="1"/>
          </p:cNvSpPr>
          <p:nvPr>
            <p:ph type="sldNum" sz="quarter" idx="12"/>
          </p:nvPr>
        </p:nvSpPr>
        <p:spPr/>
        <p:txBody>
          <a:bodyPr/>
          <a:lstStyle/>
          <a:p>
            <a:fld id="{722D506E-8AB4-4D47-A18C-48C2F3230E94}" type="slidenum">
              <a:rPr lang="uk-UA" smtClean="0"/>
              <a:t>27</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1048738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6247721" cy="2204815"/>
          </a:xfrm>
        </p:spPr>
        <p:txBody>
          <a:bodyPr>
            <a:normAutofit/>
          </a:bodyPr>
          <a:lstStyle/>
          <a:p>
            <a:pPr algn="l"/>
            <a:r>
              <a:rPr lang="ru-RU" sz="4400" dirty="0" smtClean="0"/>
              <a:t>Практика</a:t>
            </a:r>
            <a:endParaRPr lang="en-US" sz="41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endParaRPr lang="en-US" dirty="0">
              <a:solidFill>
                <a:schemeClr val="tx1">
                  <a:lumMod val="50000"/>
                  <a:lumOff val="50000"/>
                </a:schemeClr>
              </a:solidFill>
            </a:endParaRPr>
          </a:p>
        </p:txBody>
      </p:sp>
      <p:sp>
        <p:nvSpPr>
          <p:cNvPr id="2" name="Номер слайда 1"/>
          <p:cNvSpPr>
            <a:spLocks noGrp="1"/>
          </p:cNvSpPr>
          <p:nvPr>
            <p:ph type="sldNum" sz="quarter" idx="12"/>
          </p:nvPr>
        </p:nvSpPr>
        <p:spPr/>
        <p:txBody>
          <a:bodyPr/>
          <a:lstStyle/>
          <a:p>
            <a:fld id="{C504FE25-A201-4AD1-9B20-AD00DF8E21D9}" type="slidenum">
              <a:rPr lang="uk-UA" smtClean="0"/>
              <a:t>28</a:t>
            </a:fld>
            <a:endParaRPr lang="uk-UA" dirty="0"/>
          </a:p>
        </p:txBody>
      </p:sp>
      <p:sp>
        <p:nvSpPr>
          <p:cNvPr id="3" name="Нижний колонтитул 2"/>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076965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Проанализировать ЗС </a:t>
            </a:r>
            <a:r>
              <a:rPr lang="ru-RU" dirty="0" smtClean="0"/>
              <a:t>в семье</a:t>
            </a:r>
            <a:endParaRPr lang="en-US" dirty="0"/>
          </a:p>
        </p:txBody>
      </p:sp>
      <p:sp>
        <p:nvSpPr>
          <p:cNvPr id="3" name="Объект 2"/>
          <p:cNvSpPr>
            <a:spLocks noGrp="1"/>
          </p:cNvSpPr>
          <p:nvPr>
            <p:ph idx="1"/>
          </p:nvPr>
        </p:nvSpPr>
        <p:spPr/>
        <p:txBody>
          <a:bodyPr/>
          <a:lstStyle/>
          <a:p>
            <a:r>
              <a:rPr lang="ru-RU" dirty="0" smtClean="0"/>
              <a:t>Содержание питомцев и воспитание ребенка в семье</a:t>
            </a:r>
          </a:p>
          <a:p>
            <a:r>
              <a:rPr lang="ru-RU" dirty="0" smtClean="0"/>
              <a:t>Заинтересованные лица:</a:t>
            </a:r>
          </a:p>
          <a:p>
            <a:pPr lvl="1"/>
            <a:r>
              <a:rPr lang="ru-RU" dirty="0" smtClean="0"/>
              <a:t>Папа</a:t>
            </a:r>
          </a:p>
          <a:p>
            <a:pPr lvl="1"/>
            <a:r>
              <a:rPr lang="ru-RU" dirty="0" smtClean="0"/>
              <a:t>Мама </a:t>
            </a:r>
          </a:p>
          <a:p>
            <a:pPr lvl="1"/>
            <a:r>
              <a:rPr lang="ru-RU" dirty="0" smtClean="0"/>
              <a:t>Ребенок</a:t>
            </a:r>
          </a:p>
          <a:p>
            <a:pPr lvl="1"/>
            <a:r>
              <a:rPr lang="ru-RU" dirty="0" smtClean="0"/>
              <a:t>Собака</a:t>
            </a:r>
          </a:p>
          <a:p>
            <a:pPr lvl="1"/>
            <a:r>
              <a:rPr lang="ru-RU" dirty="0" smtClean="0"/>
              <a:t>Кот</a:t>
            </a:r>
          </a:p>
        </p:txBody>
      </p:sp>
      <p:sp>
        <p:nvSpPr>
          <p:cNvPr id="4" name="Номер слайда 3"/>
          <p:cNvSpPr>
            <a:spLocks noGrp="1"/>
          </p:cNvSpPr>
          <p:nvPr>
            <p:ph type="sldNum" sz="quarter" idx="12"/>
          </p:nvPr>
        </p:nvSpPr>
        <p:spPr/>
        <p:txBody>
          <a:bodyPr/>
          <a:lstStyle/>
          <a:p>
            <a:fld id="{722D506E-8AB4-4D47-A18C-48C2F3230E94}" type="slidenum">
              <a:rPr lang="uk-UA" smtClean="0"/>
              <a:t>29</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440722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6247721" cy="2204815"/>
          </a:xfrm>
        </p:spPr>
        <p:txBody>
          <a:bodyPr>
            <a:normAutofit/>
          </a:bodyPr>
          <a:lstStyle/>
          <a:p>
            <a:pPr algn="l"/>
            <a:r>
              <a:rPr lang="ru-RU" sz="4400" dirty="0" smtClean="0"/>
              <a:t>Дополнительная литература</a:t>
            </a:r>
            <a:endParaRPr lang="en-US" sz="41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endParaRPr lang="en-US" dirty="0">
              <a:solidFill>
                <a:schemeClr val="tx1">
                  <a:lumMod val="50000"/>
                  <a:lumOff val="50000"/>
                </a:schemeClr>
              </a:solidFill>
            </a:endParaRPr>
          </a:p>
        </p:txBody>
      </p:sp>
      <p:sp>
        <p:nvSpPr>
          <p:cNvPr id="2" name="Номер слайда 1"/>
          <p:cNvSpPr>
            <a:spLocks noGrp="1"/>
          </p:cNvSpPr>
          <p:nvPr>
            <p:ph type="sldNum" sz="quarter" idx="12"/>
          </p:nvPr>
        </p:nvSpPr>
        <p:spPr/>
        <p:txBody>
          <a:bodyPr/>
          <a:lstStyle/>
          <a:p>
            <a:fld id="{C504FE25-A201-4AD1-9B20-AD00DF8E21D9}" type="slidenum">
              <a:rPr lang="uk-UA" smtClean="0"/>
              <a:t>30</a:t>
            </a:fld>
            <a:endParaRPr lang="uk-UA" dirty="0"/>
          </a:p>
        </p:txBody>
      </p:sp>
      <p:sp>
        <p:nvSpPr>
          <p:cNvPr id="3" name="Нижний колонтитул 2"/>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5244501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lstStyle/>
          <a:p>
            <a:r>
              <a:rPr lang="en-US" dirty="0" smtClean="0"/>
              <a:t>RACI - </a:t>
            </a:r>
            <a:r>
              <a:rPr lang="en-US" dirty="0">
                <a:hlinkClick r:id="rId2"/>
              </a:rPr>
              <a:t>https://</a:t>
            </a:r>
            <a:r>
              <a:rPr lang="en-US" dirty="0" smtClean="0">
                <a:hlinkClick r:id="rId2"/>
              </a:rPr>
              <a:t>www.itexpert.ru/rus/ITEMS/200809141918/</a:t>
            </a:r>
            <a:endParaRPr lang="en-US" dirty="0"/>
          </a:p>
          <a:p>
            <a:r>
              <a:rPr lang="ru-RU" dirty="0" smtClean="0"/>
              <a:t>Матрицы заинтересованных сторон </a:t>
            </a:r>
            <a:r>
              <a:rPr lang="en-US" dirty="0">
                <a:hlinkClick r:id="rId3"/>
              </a:rPr>
              <a:t>https://</a:t>
            </a:r>
            <a:r>
              <a:rPr lang="en-US">
                <a:hlinkClick r:id="rId3"/>
              </a:rPr>
              <a:t>www.projectengineer.net/3-types-of-stakeholder-matrix</a:t>
            </a:r>
            <a:r>
              <a:rPr lang="en-US" smtClean="0">
                <a:hlinkClick r:id="rId3"/>
              </a:rPr>
              <a:t>/</a:t>
            </a:r>
            <a:endParaRPr lang="ru-RU" dirty="0" smtClean="0"/>
          </a:p>
        </p:txBody>
      </p:sp>
      <p:sp>
        <p:nvSpPr>
          <p:cNvPr id="4" name="Номер слайда 3"/>
          <p:cNvSpPr>
            <a:spLocks noGrp="1"/>
          </p:cNvSpPr>
          <p:nvPr>
            <p:ph type="sldNum" sz="quarter" idx="12"/>
          </p:nvPr>
        </p:nvSpPr>
        <p:spPr/>
        <p:txBody>
          <a:bodyPr/>
          <a:lstStyle/>
          <a:p>
            <a:fld id="{722D506E-8AB4-4D47-A18C-48C2F3230E94}" type="slidenum">
              <a:rPr lang="uk-UA" smtClean="0"/>
              <a:t>31</a:t>
            </a:fld>
            <a:endParaRPr lang="uk-UA"/>
          </a:p>
        </p:txBody>
      </p:sp>
      <p:sp>
        <p:nvSpPr>
          <p:cNvPr id="5" name="Нижний колонтитул 4"/>
          <p:cNvSpPr>
            <a:spLocks noGrp="1"/>
          </p:cNvSpPr>
          <p:nvPr>
            <p:ph type="ftr" sz="quarter" idx="11"/>
          </p:nvPr>
        </p:nvSpPr>
        <p:spPr/>
        <p:txBody>
          <a:bodyPr/>
          <a:lstStyle/>
          <a:p>
            <a:r>
              <a:rPr lang="en-US" smtClean="0"/>
              <a:t>Business Analysis - Hillel course</a:t>
            </a:r>
            <a:endParaRPr lang="uk-UA" dirty="0"/>
          </a:p>
        </p:txBody>
      </p:sp>
    </p:spTree>
    <p:extLst>
      <p:ext uri="{BB962C8B-B14F-4D97-AF65-F5344CB8AC3E}">
        <p14:creationId xmlns:p14="http://schemas.microsoft.com/office/powerpoint/2010/main" val="2944071799"/>
      </p:ext>
    </p:extLst>
  </p:cSld>
  <p:clrMapOvr>
    <a:masterClrMapping/>
  </p:clrMapOvr>
  <p:timing>
    <p:tnLst>
      <p:par>
        <p:cTn id="1" dur="indefinite" restart="never" nodeType="tmRoot"/>
      </p:par>
    </p:tnLst>
  </p:timing>
</p:sld>
</file>

<file path=ppt/theme/theme1.xml><?xml version="1.0" encoding="utf-8"?>
<a:theme xmlns:a="http://schemas.openxmlformats.org/drawingml/2006/main" name="Ретро">
  <a:themeElements>
    <a:clrScheme name="Ретро">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2420</TotalTime>
  <Words>1933</Words>
  <Application>Microsoft Office PowerPoint</Application>
  <PresentationFormat>Широкоэкранный</PresentationFormat>
  <Paragraphs>228</Paragraphs>
  <Slides>31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31</vt:i4>
      </vt:variant>
    </vt:vector>
  </HeadingPairs>
  <TitlesOfParts>
    <vt:vector size="35" baseType="lpstr">
      <vt:lpstr>Arial</vt:lpstr>
      <vt:lpstr>Calibri</vt:lpstr>
      <vt:lpstr>Calibri Light</vt:lpstr>
      <vt:lpstr>Ретро</vt:lpstr>
      <vt:lpstr>Заинтересованные стороны</vt:lpstr>
      <vt:lpstr>Заинтересованная сторона / Stakeholder</vt:lpstr>
      <vt:lpstr>Кто выступает заинтересованной стороной</vt:lpstr>
      <vt:lpstr>Классификации заинтересованных сторон</vt:lpstr>
      <vt:lpstr>Анализ заинтересованных сторон и стратегия взаимодействия с ними</vt:lpstr>
      <vt:lpstr>Зачем их анализировать?</vt:lpstr>
      <vt:lpstr>Коммуникационный план / Communication plan</vt:lpstr>
      <vt:lpstr>Презентация PowerPoint</vt:lpstr>
      <vt:lpstr>Первичный анализ</vt:lpstr>
      <vt:lpstr>Матрица оценки уровня вовлечения ЗС /  Stakeholder Engagement Assessment Matrix</vt:lpstr>
      <vt:lpstr>Уровни вовлеченности</vt:lpstr>
      <vt:lpstr>Уровни вовлеченности</vt:lpstr>
      <vt:lpstr>Уровни вовлеченности</vt:lpstr>
      <vt:lpstr>Уровни вовлеченности</vt:lpstr>
      <vt:lpstr>Уровни вовлеченности</vt:lpstr>
      <vt:lpstr>Матрица ‘Интерес-влияние’ / Power-Interest Matrix</vt:lpstr>
      <vt:lpstr>Презентация PowerPoint</vt:lpstr>
      <vt:lpstr>RACI matrix</vt:lpstr>
      <vt:lpstr>RACI matrix</vt:lpstr>
      <vt:lpstr>RACI matrix</vt:lpstr>
      <vt:lpstr>RACI matrix</vt:lpstr>
      <vt:lpstr>Пример матрицы RACI</vt:lpstr>
      <vt:lpstr>Распространенные ошибки матрицы RACI</vt:lpstr>
      <vt:lpstr>Вариации матрицы RACI</vt:lpstr>
      <vt:lpstr>Вариации матрицы RACI</vt:lpstr>
      <vt:lpstr>Вариации матрицы RACI</vt:lpstr>
      <vt:lpstr>Вариации матрицы RACI</vt:lpstr>
      <vt:lpstr>Практика</vt:lpstr>
      <vt:lpstr>Проанализировать ЗС в семье</vt:lpstr>
      <vt:lpstr>Дополнительная литература</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Введение</dc:title>
  <dc:creator>Olesia Korobko</dc:creator>
  <cp:lastModifiedBy>Alesia</cp:lastModifiedBy>
  <cp:revision>70</cp:revision>
  <dcterms:created xsi:type="dcterms:W3CDTF">2019-07-08T17:35:39Z</dcterms:created>
  <dcterms:modified xsi:type="dcterms:W3CDTF">2020-08-28T17:07:02Z</dcterms:modified>
</cp:coreProperties>
</file>