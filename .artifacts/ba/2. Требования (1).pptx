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notesMasterIdLst>
    <p:notesMasterId r:id="rId26"/>
  </p:notesMasterIdLst>
  <p:sldIdLst>
    <p:sldId id="257" r:id="rId2"/>
    <p:sldId id="256" r:id="rId3"/>
    <p:sldId id="299" r:id="rId4"/>
    <p:sldId id="303" r:id="rId5"/>
    <p:sldId id="314" r:id="rId6"/>
    <p:sldId id="315" r:id="rId7"/>
    <p:sldId id="317" r:id="rId8"/>
    <p:sldId id="321" r:id="rId9"/>
    <p:sldId id="320" r:id="rId10"/>
    <p:sldId id="308" r:id="rId11"/>
    <p:sldId id="319" r:id="rId12"/>
    <p:sldId id="328" r:id="rId13"/>
    <p:sldId id="322" r:id="rId14"/>
    <p:sldId id="329" r:id="rId15"/>
    <p:sldId id="327" r:id="rId16"/>
    <p:sldId id="301" r:id="rId17"/>
    <p:sldId id="324" r:id="rId18"/>
    <p:sldId id="323" r:id="rId19"/>
    <p:sldId id="304" r:id="rId20"/>
    <p:sldId id="302" r:id="rId21"/>
    <p:sldId id="305" r:id="rId22"/>
    <p:sldId id="306" r:id="rId23"/>
    <p:sldId id="310" r:id="rId24"/>
    <p:sldId id="31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79C1"/>
    <a:srgbClr val="2683C6"/>
    <a:srgbClr val="00BC55"/>
    <a:srgbClr val="FF552D"/>
    <a:srgbClr val="E0E6AC"/>
    <a:srgbClr val="CAE8AA"/>
    <a:srgbClr val="128D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3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A91F07-AA21-4441-8E9C-176B80BD8DD0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B6DE6-DDDF-48BF-BFD8-1F45C50BE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362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 baseline="0">
                <a:solidFill>
                  <a:srgbClr val="0F79C1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dirty="0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674A808F-EF86-42D4-9E05-779F487E5447}" type="datetime1">
              <a:rPr lang="uk-UA" smtClean="0"/>
              <a:t>26.08.2020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46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B9A38EBA-EE04-4321-A113-D8B098541B3B}" type="datetime1">
              <a:rPr lang="uk-UA" smtClean="0"/>
              <a:t>26.08.2020</a:t>
            </a:fld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Business Analysis - Hillel course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67151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none" spc="200" baseline="0">
                <a:solidFill>
                  <a:srgbClr val="0F79C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B07E0A8C-271D-4222-BC8C-3C12FD8AA690}" type="datetime1">
              <a:rPr lang="uk-UA" smtClean="0"/>
              <a:t>26.08.2020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92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7223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689464"/>
            <a:ext cx="4937760" cy="4493622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689464"/>
            <a:ext cx="4937760" cy="4493623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CE2E9FA4-957F-402B-95A2-1660DD1D7078}" type="datetime1">
              <a:rPr lang="uk-UA" smtClean="0"/>
              <a:t>26.08.2020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684466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254814"/>
          </a:xfrm>
        </p:spPr>
        <p:txBody>
          <a:bodyPr/>
          <a:lstStyle/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634584"/>
            <a:ext cx="4937760" cy="590689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400" b="0" cap="none" baseline="0">
                <a:solidFill>
                  <a:srgbClr val="0F79C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312363"/>
            <a:ext cx="4937760" cy="388814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634584"/>
            <a:ext cx="4937760" cy="590689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400" b="0" cap="none" baseline="0">
                <a:solidFill>
                  <a:srgbClr val="0F79C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312362"/>
            <a:ext cx="4937760" cy="388814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23A98A30-D8C1-4F62-9995-9CEB090A534E}" type="datetime1">
              <a:rPr lang="uk-UA" smtClean="0"/>
              <a:t>26.08.2020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657739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F1D888A9-9FB8-4391-9D14-8BC22DAEF6E0}" type="datetime1">
              <a:rPr lang="uk-UA" smtClean="0"/>
              <a:t>26.08.2020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906972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7B7EE495-13B1-4625-B5E1-F06093E2E337}" type="datetime1">
              <a:rPr lang="uk-UA" smtClean="0"/>
              <a:t>26.08.2020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Business Analysis - Hillel course</a:t>
            </a:r>
            <a:endParaRPr lang="uk-U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77551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1530532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94560"/>
            <a:ext cx="3200400" cy="411064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CF9D95F9-2269-4381-9A68-7DEF65636974}" type="datetime1">
              <a:rPr lang="uk-UA" smtClean="0"/>
              <a:t>26.08.2020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Business Analysis - Hillel course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783796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32774716-6EEC-490C-8893-E3FD2FE1575B}" type="datetime1">
              <a:rPr lang="uk-UA" smtClean="0"/>
              <a:t>26.08.2020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60536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5D77FA71-584D-4C97-B4AA-6BCE808359BF}" type="datetime1">
              <a:rPr lang="uk-UA" smtClean="0"/>
              <a:t>26.08.2020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18116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BF23A289-969A-46F2-8F2F-5E8532D9DE5E}" type="datetime1">
              <a:rPr lang="uk-UA" smtClean="0"/>
              <a:t>26.08.2020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09203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658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698171"/>
            <a:ext cx="10058400" cy="445878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80" y="6459785"/>
            <a:ext cx="7411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Business Analysis - Hillel course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554971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841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it.rfei.ru/course/~jRzS/~R9AE/~lyK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 занятия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Определения </a:t>
            </a:r>
            <a:r>
              <a:rPr lang="ru-RU" dirty="0"/>
              <a:t>и виды требований</a:t>
            </a:r>
          </a:p>
          <a:p>
            <a:r>
              <a:rPr lang="ru-RU" dirty="0"/>
              <a:t>Атрибуты качества требований</a:t>
            </a:r>
            <a:endParaRPr lang="en-US" dirty="0"/>
          </a:p>
          <a:p>
            <a:r>
              <a:rPr lang="ru-RU" dirty="0"/>
              <a:t>Разработка требований: </a:t>
            </a:r>
            <a:r>
              <a:rPr lang="ru-RU" dirty="0" smtClean="0"/>
              <a:t>сбор, анализ, </a:t>
            </a:r>
            <a:r>
              <a:rPr lang="ru-RU" dirty="0" smtClean="0"/>
              <a:t>управление</a:t>
            </a: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1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9048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Требования</a:t>
            </a:r>
            <a:endParaRPr lang="uk-UA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Понятие </a:t>
            </a:r>
            <a:r>
              <a:rPr lang="ru-RU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требований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ru-RU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их классификация</a:t>
            </a:r>
            <a:r>
              <a:rPr lang="uk-UA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uk-UA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источники и способы сбора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2</a:t>
            </a:fld>
            <a:endParaRPr lang="uk-UA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43700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2A1AD-77D0-45E5-9B9C-58B196CDB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vs Requirement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Потребность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8EB32-E402-4FDE-B424-F7865C859BD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—</a:t>
            </a:r>
            <a:r>
              <a:rPr lang="ru-RU" dirty="0" smtClean="0"/>
              <a:t> </a:t>
            </a:r>
            <a:r>
              <a:rPr lang="ru-RU" dirty="0"/>
              <a:t>проблема или возможность, которой необходимо заняться.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r">
              <a:buNone/>
            </a:pPr>
            <a:r>
              <a:rPr lang="en-US" dirty="0"/>
              <a:t>©</a:t>
            </a:r>
            <a:r>
              <a:rPr lang="ru-RU" dirty="0"/>
              <a:t> </a:t>
            </a:r>
            <a:r>
              <a:rPr lang="en-US" dirty="0"/>
              <a:t>BABOK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smtClean="0"/>
              <a:t>Требование</a:t>
            </a:r>
            <a:endParaRPr lang="en-US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— это практичное представление потребности. 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Требования фокусируются на понимании того, какие виды ценности могут быть поставлены, если требование будет выполнено.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r">
              <a:buNone/>
            </a:pPr>
            <a:r>
              <a:rPr lang="en-US" dirty="0"/>
              <a:t>©</a:t>
            </a:r>
            <a:r>
              <a:rPr lang="ru-RU" dirty="0"/>
              <a:t> </a:t>
            </a:r>
            <a:r>
              <a:rPr lang="en-US" dirty="0" smtClean="0"/>
              <a:t>BABOK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3</a:t>
            </a:fld>
            <a:endParaRPr lang="uk-UA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08075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C83A7-F628-42EA-A875-3EF29CBD8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требований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 </a:t>
            </a:r>
            <a:r>
              <a:rPr lang="ru-RU" dirty="0" err="1" smtClean="0"/>
              <a:t>Вигерсу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0554E-CBAB-40D5-B342-99859DA05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2495247"/>
            <a:ext cx="4937760" cy="3573044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Бизнес-требование / </a:t>
            </a:r>
            <a:r>
              <a:rPr lang="en-US" dirty="0"/>
              <a:t>Business requirements</a:t>
            </a:r>
          </a:p>
          <a:p>
            <a:r>
              <a:rPr lang="ru-RU" dirty="0"/>
              <a:t>Бизнес-правило /  </a:t>
            </a:r>
            <a:r>
              <a:rPr lang="en-US" dirty="0"/>
              <a:t>Business rules</a:t>
            </a:r>
          </a:p>
          <a:p>
            <a:r>
              <a:rPr lang="ru-RU" dirty="0"/>
              <a:t>Ограничение / </a:t>
            </a:r>
            <a:r>
              <a:rPr lang="en-US" dirty="0"/>
              <a:t>Constraints </a:t>
            </a:r>
          </a:p>
          <a:p>
            <a:r>
              <a:rPr lang="en-US" dirty="0"/>
              <a:t>T</a:t>
            </a:r>
            <a:r>
              <a:rPr lang="ru-RU" dirty="0"/>
              <a:t>ребования к внешним интерфейсам / </a:t>
            </a:r>
            <a:r>
              <a:rPr lang="en-US" dirty="0"/>
              <a:t>External interface requirements</a:t>
            </a:r>
          </a:p>
          <a:p>
            <a:r>
              <a:rPr lang="ru-RU" dirty="0" smtClean="0"/>
              <a:t>Характеристика (Функция) </a:t>
            </a:r>
            <a:r>
              <a:rPr lang="ru-RU" dirty="0"/>
              <a:t>/ </a:t>
            </a:r>
            <a:r>
              <a:rPr lang="en-US" dirty="0"/>
              <a:t>Feature</a:t>
            </a:r>
          </a:p>
          <a:p>
            <a:r>
              <a:rPr lang="ru-RU" dirty="0"/>
              <a:t>Функциональное требование  / </a:t>
            </a:r>
            <a:r>
              <a:rPr lang="en-US" dirty="0"/>
              <a:t>Functional requirements</a:t>
            </a:r>
          </a:p>
          <a:p>
            <a:r>
              <a:rPr lang="ru-RU" dirty="0"/>
              <a:t>Нефункциональное требование  / </a:t>
            </a:r>
            <a:r>
              <a:rPr lang="en-US" dirty="0"/>
              <a:t>Non-functional requirements</a:t>
            </a:r>
          </a:p>
          <a:p>
            <a:r>
              <a:rPr lang="ru-RU" dirty="0"/>
              <a:t>Системное требование  / </a:t>
            </a:r>
            <a:r>
              <a:rPr lang="en-US" dirty="0"/>
              <a:t>System requirements</a:t>
            </a:r>
          </a:p>
          <a:p>
            <a:r>
              <a:rPr lang="ru-RU" dirty="0"/>
              <a:t>Пользовательское требование  / </a:t>
            </a:r>
            <a:r>
              <a:rPr lang="en-US" dirty="0"/>
              <a:t>User </a:t>
            </a:r>
            <a:r>
              <a:rPr lang="en-US" dirty="0" smtClean="0"/>
              <a:t>requirements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smtClean="0"/>
              <a:t>По </a:t>
            </a:r>
            <a:r>
              <a:rPr lang="en-US" dirty="0" smtClean="0"/>
              <a:t>BABOK</a:t>
            </a:r>
            <a:endParaRPr lang="en-US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217920" y="2495245"/>
            <a:ext cx="4937760" cy="3573045"/>
          </a:xfrm>
        </p:spPr>
        <p:txBody>
          <a:bodyPr>
            <a:normAutofit/>
          </a:bodyPr>
          <a:lstStyle/>
          <a:p>
            <a:pPr fontAlgn="base"/>
            <a:r>
              <a:rPr lang="ru-RU" sz="1600" dirty="0" smtClean="0"/>
              <a:t>Бизнес-требования </a:t>
            </a:r>
            <a:r>
              <a:rPr lang="ru-RU" sz="1600" dirty="0"/>
              <a:t>/ </a:t>
            </a:r>
            <a:r>
              <a:rPr lang="en-US" sz="1600" dirty="0"/>
              <a:t>Business </a:t>
            </a:r>
            <a:r>
              <a:rPr lang="en-US" sz="1600" dirty="0" smtClean="0"/>
              <a:t>requirements</a:t>
            </a:r>
            <a:endParaRPr lang="ru-RU" sz="1600" dirty="0"/>
          </a:p>
          <a:p>
            <a:pPr fontAlgn="base"/>
            <a:r>
              <a:rPr lang="ru-RU" sz="1600" dirty="0"/>
              <a:t>Требования заинтересованных </a:t>
            </a:r>
            <a:r>
              <a:rPr lang="ru-RU" sz="1600" dirty="0" smtClean="0"/>
              <a:t>сторон </a:t>
            </a:r>
            <a:r>
              <a:rPr lang="ru-RU" sz="1600" dirty="0"/>
              <a:t>/ </a:t>
            </a:r>
            <a:r>
              <a:rPr lang="en-US" sz="1600" dirty="0" smtClean="0"/>
              <a:t>Stakeholder requirements</a:t>
            </a:r>
            <a:endParaRPr lang="ru-RU" sz="1600" dirty="0"/>
          </a:p>
          <a:p>
            <a:pPr fontAlgn="base"/>
            <a:r>
              <a:rPr lang="ru-RU" sz="1600" dirty="0"/>
              <a:t>Требования к </a:t>
            </a:r>
            <a:r>
              <a:rPr lang="ru-RU" sz="1600" dirty="0" smtClean="0"/>
              <a:t>Решению</a:t>
            </a:r>
            <a:r>
              <a:rPr lang="en-US" sz="1600" dirty="0"/>
              <a:t> </a:t>
            </a:r>
            <a:r>
              <a:rPr lang="ru-RU" sz="1600" dirty="0" smtClean="0"/>
              <a:t>/ </a:t>
            </a:r>
            <a:r>
              <a:rPr lang="en-US" sz="1600" dirty="0" smtClean="0"/>
              <a:t>Solution </a:t>
            </a:r>
            <a:r>
              <a:rPr lang="en-US" sz="1600" dirty="0"/>
              <a:t>requirements</a:t>
            </a:r>
          </a:p>
          <a:p>
            <a:pPr lvl="1"/>
            <a:r>
              <a:rPr lang="ru-RU" sz="1400" dirty="0" smtClean="0"/>
              <a:t>Функциональное </a:t>
            </a:r>
            <a:r>
              <a:rPr lang="ru-RU" sz="1400" dirty="0"/>
              <a:t>требование  / </a:t>
            </a:r>
            <a:r>
              <a:rPr lang="en-US" sz="1400" dirty="0"/>
              <a:t>Functional requirements</a:t>
            </a:r>
          </a:p>
          <a:p>
            <a:pPr lvl="1"/>
            <a:r>
              <a:rPr lang="ru-RU" sz="1400" dirty="0"/>
              <a:t>Нефункциональное требование  / </a:t>
            </a:r>
            <a:r>
              <a:rPr lang="en-US" sz="1400" dirty="0"/>
              <a:t>Non-functional requirements</a:t>
            </a:r>
          </a:p>
          <a:p>
            <a:pPr fontAlgn="base"/>
            <a:r>
              <a:rPr lang="ru-RU" sz="1600" dirty="0" smtClean="0"/>
              <a:t>Переходные требования</a:t>
            </a:r>
            <a:r>
              <a:rPr lang="en-US" sz="1600" dirty="0" smtClean="0"/>
              <a:t> </a:t>
            </a:r>
            <a:r>
              <a:rPr lang="ru-RU" sz="1600" dirty="0"/>
              <a:t>/ </a:t>
            </a:r>
            <a:r>
              <a:rPr lang="en-US" sz="1600" dirty="0" smtClean="0"/>
              <a:t>Transition </a:t>
            </a:r>
            <a:r>
              <a:rPr lang="en-US" sz="1600" dirty="0"/>
              <a:t>requirements</a:t>
            </a:r>
          </a:p>
          <a:p>
            <a:pPr marL="0" indent="0" fontAlgn="base">
              <a:buNone/>
            </a:pPr>
            <a:endParaRPr lang="ru-RU" sz="1600" dirty="0" smtClean="0"/>
          </a:p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4</a:t>
            </a:fld>
            <a:endParaRPr lang="uk-UA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614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Бизнес-требование / </a:t>
            </a:r>
            <a:r>
              <a:rPr lang="en-US" sz="4400" dirty="0" smtClean="0"/>
              <a:t>Business requirements</a:t>
            </a:r>
            <a:endParaRPr lang="en-US" sz="4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dirty="0" smtClean="0"/>
              <a:t>– высокоуровневая </a:t>
            </a:r>
            <a:r>
              <a:rPr lang="ru-RU" dirty="0"/>
              <a:t>бизнес-цель организации или заказчиков </a:t>
            </a:r>
            <a:r>
              <a:rPr lang="ru-RU" dirty="0" smtClean="0"/>
              <a:t>системы</a:t>
            </a:r>
            <a:r>
              <a:rPr lang="en-US" dirty="0" smtClean="0"/>
              <a:t>. </a:t>
            </a:r>
            <a:r>
              <a:rPr lang="ru-RU" dirty="0"/>
              <a:t>О</a:t>
            </a:r>
            <a:r>
              <a:rPr lang="ru-RU" dirty="0" smtClean="0"/>
              <a:t>писывают</a:t>
            </a:r>
            <a:r>
              <a:rPr lang="ru-RU" dirty="0"/>
              <a:t>, почему организации нужна такая система, то есть цели, которые организация намерена достичь с ее помощью. </a:t>
            </a:r>
            <a:endParaRPr lang="ru-RU" dirty="0" smtClean="0"/>
          </a:p>
          <a:p>
            <a:pPr marL="0" lvl="0" indent="0">
              <a:buNone/>
            </a:pPr>
            <a:endParaRPr lang="ru-RU" dirty="0"/>
          </a:p>
          <a:p>
            <a:pPr marL="0" lvl="0" indent="0">
              <a:buNone/>
            </a:pPr>
            <a:r>
              <a:rPr lang="ru-RU" b="1" i="1" dirty="0" smtClean="0">
                <a:solidFill>
                  <a:schemeClr val="accent1">
                    <a:lumMod val="75000"/>
                  </a:schemeClr>
                </a:solidFill>
              </a:rPr>
              <a:t>Примеры:</a:t>
            </a:r>
            <a:endParaRPr lang="ru-RU" b="1" i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Необходимо сократить время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обработки заказа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до 15 минут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;</a:t>
            </a:r>
            <a:endParaRPr lang="ru-RU" i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Повысить уровень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лояльности покупателей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к компании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;</a:t>
            </a:r>
            <a:endParaRPr lang="ru-RU" i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Сократить расходы на службу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поддержки клиентов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;</a:t>
            </a:r>
            <a:endParaRPr lang="en-US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5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33635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Бизнес-правило /  </a:t>
            </a:r>
            <a:r>
              <a:rPr lang="en-US" dirty="0"/>
              <a:t>Business </a:t>
            </a:r>
            <a:r>
              <a:rPr lang="en-US" dirty="0" smtClean="0"/>
              <a:t>rules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– политика, предписание, стандарт или правило, определяющее или ограничивающее некоторые стороны бизнес-процессов. </a:t>
            </a:r>
            <a:r>
              <a:rPr lang="ru-RU" dirty="0" smtClean="0"/>
              <a:t>Включают </a:t>
            </a:r>
            <a:r>
              <a:rPr lang="ru-RU" dirty="0"/>
              <a:t>корпоративные политики, правительственные постановления, отраслевые стандарты и вычислительные алгоритмы. </a:t>
            </a:r>
            <a:r>
              <a:rPr lang="ru-RU" dirty="0" smtClean="0"/>
              <a:t>По </a:t>
            </a:r>
            <a:r>
              <a:rPr lang="ru-RU" dirty="0"/>
              <a:t>своей сути это не требование к ПО, но оно служит источником нескольких типов требований к </a:t>
            </a:r>
            <a:r>
              <a:rPr lang="ru-RU" dirty="0" smtClean="0"/>
              <a:t>ПО.</a:t>
            </a:r>
          </a:p>
          <a:p>
            <a:pPr marL="0" indent="0">
              <a:buNone/>
            </a:pPr>
            <a:endParaRPr lang="ru-RU" dirty="0" smtClean="0"/>
          </a:p>
          <a:p>
            <a:pPr marL="0" lvl="0" indent="0">
              <a:buNone/>
            </a:pPr>
            <a:r>
              <a:rPr lang="ru-RU" b="1" i="1" dirty="0">
                <a:solidFill>
                  <a:schemeClr val="accent1">
                    <a:lumMod val="75000"/>
                  </a:schemeClr>
                </a:solidFill>
              </a:rPr>
              <a:t>Примеры:</a:t>
            </a:r>
          </a:p>
          <a:p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Заказ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не должен «провисеть» без ответа более 5 минут;</a:t>
            </a:r>
          </a:p>
          <a:p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Согласно нормам поставщиков услуг </a:t>
            </a:r>
            <a:r>
              <a:rPr lang="ru-RU" i="1" dirty="0" err="1">
                <a:solidFill>
                  <a:schemeClr val="accent1">
                    <a:lumMod val="75000"/>
                  </a:schemeClr>
                </a:solidFill>
              </a:rPr>
              <a:t>имеил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-рассылок, во всех рассылках с бонусными товарами должна быть возможность отписки от рассылки.</a:t>
            </a:r>
          </a:p>
          <a:p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Только зарегистрированные пользователи могут задать свой вопрос на портале.</a:t>
            </a: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90336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Внешнее требование к интерфейсу </a:t>
            </a:r>
            <a:r>
              <a:rPr lang="ru-RU" dirty="0"/>
              <a:t>/ </a:t>
            </a:r>
            <a:r>
              <a:rPr lang="en-US" dirty="0"/>
              <a:t>External interface </a:t>
            </a:r>
            <a:r>
              <a:rPr lang="en-US" dirty="0" smtClean="0"/>
              <a:t>requirements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– описание взаимодействия между ПО и пользователем, другой программной системой или устройством. Речь идет о подключениях к другим программным системам, аппаратным устройствам и пользователям, а также коммуникационные интерфейсы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ru-RU" b="1" i="1" dirty="0">
                <a:solidFill>
                  <a:schemeClr val="accent1">
                    <a:lumMod val="75000"/>
                  </a:schemeClr>
                </a:solidFill>
              </a:rPr>
              <a:t>Примеры:</a:t>
            </a:r>
          </a:p>
          <a:p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Facebook API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для </a:t>
            </a:r>
            <a:r>
              <a:rPr lang="ru-RU" i="1" dirty="0" err="1" smtClean="0">
                <a:solidFill>
                  <a:schemeClr val="accent1">
                    <a:lumMod val="75000"/>
                  </a:schemeClr>
                </a:solidFill>
              </a:rPr>
              <a:t>репостов</a:t>
            </a:r>
            <a:endParaRPr lang="ru-RU" i="1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специальные возможности для пользователей с проблемами со зрением, различением цвета и другими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ограничениями</a:t>
            </a:r>
            <a:endParaRPr lang="en-US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7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09859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Функциональное требование  / </a:t>
            </a:r>
            <a:r>
              <a:rPr lang="en-US" dirty="0"/>
              <a:t>Functional </a:t>
            </a:r>
            <a:r>
              <a:rPr lang="en-US" dirty="0" smtClean="0"/>
              <a:t>requirements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– определяют</a:t>
            </a:r>
            <a:r>
              <a:rPr lang="ru-RU" dirty="0"/>
              <a:t>, каким должно быть поведение продукта в тех или иных условиях. Они определяют, что разработчики должны создать, чтобы пользователи смогли выполнить свои задачи (пользовательские требования) в рамках бизнес-требований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lvl="0" indent="0">
              <a:buNone/>
            </a:pPr>
            <a:r>
              <a:rPr lang="ru-RU" b="1" i="1" dirty="0">
                <a:solidFill>
                  <a:schemeClr val="accent1">
                    <a:lumMod val="75000"/>
                  </a:schemeClr>
                </a:solidFill>
              </a:rPr>
              <a:t>Примеры:</a:t>
            </a:r>
          </a:p>
          <a:p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Каждый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новый заказ должен попадать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на наименее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занятого оператора;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Наименее занятым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считается оператор, за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которым закреплено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наименьшее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количество обрабатываемых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заказов.</a:t>
            </a:r>
          </a:p>
          <a:p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В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бонусном портале пользователь видит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список товаров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, которые он может купить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на накопленную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сумму бонусов.</a:t>
            </a:r>
          </a:p>
          <a:p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В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верхней части портала отображается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строка ввода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, в которую пользователь будет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вводить свой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вопрос; Под строкой должны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появляться статьи </a:t>
            </a:r>
            <a:r>
              <a:rPr lang="ru-RU" i="1" dirty="0" err="1">
                <a:solidFill>
                  <a:schemeClr val="accent1">
                    <a:lumMod val="75000"/>
                  </a:schemeClr>
                </a:solidFill>
              </a:rPr>
              <a:t>ЧаВо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, найденные по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введенным пользователем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словам.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8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52946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Нефункциональное требование  /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en-US" dirty="0" smtClean="0"/>
              <a:t>Non-functional requirements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– </a:t>
            </a:r>
            <a:r>
              <a:rPr lang="ru-RU" dirty="0"/>
              <a:t>о</a:t>
            </a:r>
            <a:r>
              <a:rPr lang="ru-RU" dirty="0" smtClean="0"/>
              <a:t>писание </a:t>
            </a:r>
            <a:r>
              <a:rPr lang="ru-RU" dirty="0"/>
              <a:t>свойства или особенности, которым должна обладать система, или ограничение, которое должна соблюдать </a:t>
            </a:r>
            <a:r>
              <a:rPr lang="ru-RU" dirty="0" smtClean="0"/>
              <a:t>система. </a:t>
            </a:r>
            <a:r>
              <a:rPr lang="ru-RU" b="1" dirty="0" smtClean="0"/>
              <a:t>Требования</a:t>
            </a:r>
            <a:r>
              <a:rPr lang="ru-RU" b="1" dirty="0"/>
              <a:t>, отличные от функциональных, могут описывать не что система делает, а как хорошо она это делает</a:t>
            </a:r>
            <a:r>
              <a:rPr lang="ru-RU" b="1" dirty="0" smtClean="0"/>
              <a:t>.</a:t>
            </a:r>
          </a:p>
          <a:p>
            <a:pPr marL="0" indent="0">
              <a:buNone/>
            </a:pPr>
            <a:endParaRPr lang="ru-RU" b="1" dirty="0"/>
          </a:p>
          <a:p>
            <a:pPr marL="0" lvl="0" indent="0">
              <a:buNone/>
            </a:pPr>
            <a:r>
              <a:rPr lang="ru-RU" b="1" i="1" dirty="0">
                <a:solidFill>
                  <a:schemeClr val="accent1">
                    <a:lumMod val="75000"/>
                  </a:schemeClr>
                </a:solidFill>
              </a:rPr>
              <a:t>Примеры:</a:t>
            </a:r>
          </a:p>
          <a:p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Средний отклик системы должен быть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не более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одной секунды, при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одновременной обработке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50 заказов.</a:t>
            </a:r>
          </a:p>
          <a:p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Во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избежание взломов и мошенничества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, данный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портал должен работать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с помощью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протокола </a:t>
            </a:r>
            <a:r>
              <a:rPr lang="ru-RU" i="1" dirty="0" err="1">
                <a:solidFill>
                  <a:schemeClr val="accent1">
                    <a:lumMod val="75000"/>
                  </a:schemeClr>
                </a:solidFill>
              </a:rPr>
              <a:t>https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Клиентский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портал должен работать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на последних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версиях браузеров: IE, </a:t>
            </a:r>
            <a:r>
              <a:rPr lang="ru-RU" i="1" dirty="0" err="1">
                <a:solidFill>
                  <a:schemeClr val="accent1">
                    <a:lumMod val="75000"/>
                  </a:schemeClr>
                </a:solidFill>
              </a:rPr>
              <a:t>Chrome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ru-RU" i="1" dirty="0" err="1" smtClean="0">
                <a:solidFill>
                  <a:schemeClr val="accent1">
                    <a:lumMod val="75000"/>
                  </a:schemeClr>
                </a:solidFill>
              </a:rPr>
              <a:t>Mozilla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ru-RU" i="1" dirty="0" err="1">
                <a:solidFill>
                  <a:schemeClr val="accent1">
                    <a:lumMod val="75000"/>
                  </a:schemeClr>
                </a:solidFill>
              </a:rPr>
              <a:t>Safari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ru-RU" i="1" dirty="0" err="1">
                <a:solidFill>
                  <a:schemeClr val="accent1">
                    <a:lumMod val="75000"/>
                  </a:schemeClr>
                </a:solidFill>
              </a:rPr>
              <a:t>Opera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9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61297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Атрибуты / параметры качества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dirty="0" smtClean="0"/>
              <a:t>– вид нефункционально требования, описывающий характеристику сервиса или производительность продукта. Еще </a:t>
            </a:r>
            <a:r>
              <a:rPr lang="ru-RU" dirty="0"/>
              <a:t>называют </a:t>
            </a:r>
            <a:r>
              <a:rPr lang="ru-RU" dirty="0" smtClean="0"/>
              <a:t>требованиями </a:t>
            </a:r>
            <a:r>
              <a:rPr lang="ru-RU" dirty="0"/>
              <a:t>по уровню обслуживания и т.п. Они представляют собой описание различных измерений характеристик продукта, которые важны для пользователей или для разработчиков и тех, кто будет обслуживать систему, таких как производительность, доступность и переносимость.</a:t>
            </a:r>
            <a:endParaRPr lang="ru-RU" dirty="0" smtClean="0"/>
          </a:p>
          <a:p>
            <a:pPr lvl="0"/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легкость 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и простота использования (</a:t>
            </a:r>
            <a:r>
              <a:rPr lang="ru-RU" dirty="0" err="1">
                <a:solidFill>
                  <a:schemeClr val="accent1">
                    <a:lumMod val="75000"/>
                  </a:schemeClr>
                </a:solidFill>
              </a:rPr>
              <a:t>usability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uk-UA" dirty="0">
              <a:solidFill>
                <a:schemeClr val="accent1">
                  <a:lumMod val="75000"/>
                </a:schemeClr>
              </a:solidFill>
            </a:endParaRPr>
          </a:p>
          <a:p>
            <a:pPr lvl="0"/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производительность (</a:t>
            </a:r>
            <a:r>
              <a:rPr lang="ru-RU" dirty="0" err="1">
                <a:solidFill>
                  <a:schemeClr val="accent1">
                    <a:lumMod val="75000"/>
                  </a:schemeClr>
                </a:solidFill>
              </a:rPr>
              <a:t>performance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uk-UA" dirty="0">
              <a:solidFill>
                <a:schemeClr val="accent1">
                  <a:lumMod val="75000"/>
                </a:schemeClr>
              </a:solidFill>
            </a:endParaRPr>
          </a:p>
          <a:p>
            <a:pPr lvl="0"/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удобство эксплуатации и технического обслуживания (</a:t>
            </a:r>
            <a:r>
              <a:rPr lang="ru-RU" dirty="0" err="1">
                <a:solidFill>
                  <a:schemeClr val="accent1">
                    <a:lumMod val="75000"/>
                  </a:schemeClr>
                </a:solidFill>
              </a:rPr>
              <a:t>maintainability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uk-UA" dirty="0">
              <a:solidFill>
                <a:schemeClr val="accent1">
                  <a:lumMod val="75000"/>
                </a:schemeClr>
              </a:solidFill>
            </a:endParaRPr>
          </a:p>
          <a:p>
            <a:pPr lvl="0"/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надежность и устойчивость к сбоям (</a:t>
            </a:r>
            <a:r>
              <a:rPr lang="ru-RU" dirty="0" err="1">
                <a:solidFill>
                  <a:schemeClr val="accent1">
                    <a:lumMod val="75000"/>
                  </a:schemeClr>
                </a:solidFill>
              </a:rPr>
              <a:t>reliability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uk-UA" dirty="0">
              <a:solidFill>
                <a:schemeClr val="accent1">
                  <a:lumMod val="75000"/>
                </a:schemeClr>
              </a:solidFill>
            </a:endParaRPr>
          </a:p>
          <a:p>
            <a:pPr lvl="0"/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взаимодействия системы с внешним миром (</a:t>
            </a:r>
            <a:r>
              <a:rPr lang="ru-RU" dirty="0" err="1">
                <a:solidFill>
                  <a:schemeClr val="accent1">
                    <a:lumMod val="75000"/>
                  </a:schemeClr>
                </a:solidFill>
              </a:rPr>
              <a:t>interfaces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uk-UA" dirty="0">
              <a:solidFill>
                <a:schemeClr val="accent1">
                  <a:lumMod val="75000"/>
                </a:schemeClr>
              </a:solidFill>
            </a:endParaRPr>
          </a:p>
          <a:p>
            <a:pPr lvl="0"/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расширяемость (</a:t>
            </a:r>
            <a:r>
              <a:rPr lang="ru-RU" dirty="0" err="1">
                <a:solidFill>
                  <a:schemeClr val="accent1">
                    <a:lumMod val="75000"/>
                  </a:schemeClr>
                </a:solidFill>
              </a:rPr>
              <a:t>scalability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uk-UA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10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40671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Системное требование  /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en-US" dirty="0" smtClean="0"/>
              <a:t>System requirements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– описывает </a:t>
            </a:r>
            <a:r>
              <a:rPr lang="ru-RU" dirty="0"/>
              <a:t>требования к продукту, который содержит многие компоненты или подсистемы. Говоря о системе, мы подразумеваем программное обеспечение или подсистемы ПО и оборудования. Люди и процессы тоже часть системы, поэтому определенные системные функции могут распространяться и на людей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lvl="0" indent="0">
              <a:buNone/>
            </a:pPr>
            <a:r>
              <a:rPr lang="ru-RU" b="1" i="1" dirty="0">
                <a:solidFill>
                  <a:schemeClr val="accent1">
                    <a:lumMod val="75000"/>
                  </a:schemeClr>
                </a:solidFill>
              </a:rPr>
              <a:t>Примеры:</a:t>
            </a:r>
          </a:p>
          <a:p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Операции со счетом должны осуществляться на едином сервере и быть доступным пользователю через мобильное и </a:t>
            </a:r>
            <a:r>
              <a:rPr lang="ru-RU" i="1" dirty="0" err="1" smtClean="0">
                <a:solidFill>
                  <a:schemeClr val="accent1">
                    <a:lumMod val="75000"/>
                  </a:schemeClr>
                </a:solidFill>
              </a:rPr>
              <a:t>браузерное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 клиентские приложения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11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97340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Ограничения / </a:t>
            </a:r>
            <a:r>
              <a:rPr lang="en-US" dirty="0" smtClean="0"/>
              <a:t>Constraints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– </a:t>
            </a:r>
            <a:r>
              <a:rPr lang="ru-RU" dirty="0"/>
              <a:t> у</a:t>
            </a:r>
            <a:r>
              <a:rPr lang="ru-RU" dirty="0" smtClean="0"/>
              <a:t>словия</a:t>
            </a:r>
            <a:r>
              <a:rPr lang="ru-RU" dirty="0"/>
              <a:t>, которые модифицируют требование или набор требований, сужая выбор возможных решений. Обычно это внешние по отношению к системе условия или принятые ранее решения</a:t>
            </a:r>
            <a:r>
              <a:rPr lang="ru-RU" dirty="0" smtClean="0"/>
              <a:t>.</a:t>
            </a: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lvl="0" indent="0">
              <a:buNone/>
            </a:pPr>
            <a:r>
              <a:rPr lang="ru-RU" b="1" i="1" dirty="0">
                <a:solidFill>
                  <a:schemeClr val="accent1">
                    <a:lumMod val="75000"/>
                  </a:schemeClr>
                </a:solidFill>
              </a:rPr>
              <a:t>Примеры:</a:t>
            </a:r>
          </a:p>
          <a:p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Сайт должен разрабатываться на языке  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Java</a:t>
            </a:r>
          </a:p>
          <a:p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Приложения должно запускаться на всех моделях 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iPhone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 начиная с 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iPhone5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12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81937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Пользовательское требование  /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en-US" dirty="0" smtClean="0"/>
              <a:t>User </a:t>
            </a:r>
            <a:r>
              <a:rPr lang="en-US" dirty="0"/>
              <a:t>requirements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– </a:t>
            </a:r>
            <a:r>
              <a:rPr lang="ru-RU" dirty="0"/>
              <a:t>з</a:t>
            </a:r>
            <a:r>
              <a:rPr lang="ru-RU" dirty="0" smtClean="0"/>
              <a:t>адача</a:t>
            </a:r>
            <a:r>
              <a:rPr lang="ru-RU" dirty="0"/>
              <a:t>, которую определенные классы пользователей должны иметь возможность выполнять в системе, или требуемый атрибут </a:t>
            </a:r>
            <a:r>
              <a:rPr lang="ru-RU" dirty="0" smtClean="0"/>
              <a:t>продукта</a:t>
            </a:r>
          </a:p>
          <a:p>
            <a:pPr marL="0" indent="0">
              <a:buNone/>
            </a:pPr>
            <a:endParaRPr lang="ru-RU" dirty="0"/>
          </a:p>
          <a:p>
            <a:pPr marL="0" lvl="0" indent="0">
              <a:buNone/>
            </a:pPr>
            <a:r>
              <a:rPr lang="ru-RU" b="1" i="1" dirty="0">
                <a:solidFill>
                  <a:schemeClr val="accent1">
                    <a:lumMod val="75000"/>
                  </a:schemeClr>
                </a:solidFill>
              </a:rPr>
              <a:t>Примеры:</a:t>
            </a:r>
          </a:p>
          <a:p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Необходимо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создать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систему автоматического распределения поступивших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заказов между операторами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;</a:t>
            </a:r>
            <a:endParaRPr lang="ru-RU" i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Необходимо создать портал, в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котором покупатели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смогут управлять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своими бонусами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, оплачивать товары с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помощью них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Создать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портал самообслуживания,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в котором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пользователь сможет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найти ответы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на часто-задаваемые вопросы </a:t>
            </a:r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без обращения 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в службу поддержки.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13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60088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Переходные </a:t>
            </a:r>
            <a:r>
              <a:rPr lang="ru-RU" dirty="0" smtClean="0"/>
              <a:t>требования</a:t>
            </a:r>
            <a:r>
              <a:rPr lang="en-US" dirty="0" smtClean="0"/>
              <a:t> / </a:t>
            </a:r>
            <a:r>
              <a:rPr lang="en-US" dirty="0"/>
              <a:t>Transition </a:t>
            </a:r>
            <a:r>
              <a:rPr lang="en-US" dirty="0" smtClean="0"/>
              <a:t>requirements 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- </a:t>
            </a:r>
            <a:r>
              <a:rPr lang="ru-RU" dirty="0" smtClean="0"/>
              <a:t>описывают </a:t>
            </a:r>
            <a:r>
              <a:rPr lang="ru-RU" dirty="0"/>
              <a:t>возможности, которые Решение должно иметь и условия, которым Решение должно удовлетворять, чтобы обеспечить переход от текущего состояния к будущему состоянию, но которые будут не нужны после того, как изменения будут осуществлены. Эти требования отличаются от других типов требований, поскольку они носят временный характер. Переходные требования относятся к таким темам как — преобразование данных, обучение и </a:t>
            </a:r>
            <a:r>
              <a:rPr lang="ru-RU" dirty="0" smtClean="0"/>
              <a:t>обеспечение </a:t>
            </a:r>
            <a:r>
              <a:rPr lang="ru-RU" dirty="0"/>
              <a:t>непрерывности бизнеса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ru-RU" dirty="0" smtClean="0"/>
          </a:p>
          <a:p>
            <a:pPr marL="0" lvl="0" indent="0">
              <a:buNone/>
            </a:pPr>
            <a:r>
              <a:rPr lang="ru-RU" b="1" i="1" dirty="0">
                <a:solidFill>
                  <a:schemeClr val="accent1">
                    <a:lumMod val="75000"/>
                  </a:schemeClr>
                </a:solidFill>
              </a:rPr>
              <a:t>Примеры:</a:t>
            </a:r>
          </a:p>
          <a:p>
            <a:r>
              <a:rPr lang="ru-RU" i="1" dirty="0" smtClean="0">
                <a:solidFill>
                  <a:schemeClr val="accent1">
                    <a:lumMod val="75000"/>
                  </a:schemeClr>
                </a:solidFill>
              </a:rPr>
              <a:t>Необходимо </a:t>
            </a:r>
            <a:r>
              <a:rPr lang="uk-UA" i="1" dirty="0" err="1">
                <a:solidFill>
                  <a:schemeClr val="accent1">
                    <a:lumMod val="75000"/>
                  </a:schemeClr>
                </a:solidFill>
              </a:rPr>
              <a:t>осуществить</a:t>
            </a:r>
            <a:r>
              <a:rPr lang="uk-UA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uk-UA" i="1" dirty="0" err="1">
                <a:solidFill>
                  <a:schemeClr val="accent1">
                    <a:lumMod val="75000"/>
                  </a:schemeClr>
                </a:solidFill>
              </a:rPr>
              <a:t>миграцию</a:t>
            </a:r>
            <a:r>
              <a:rPr lang="uk-UA" i="1" dirty="0">
                <a:solidFill>
                  <a:schemeClr val="accent1">
                    <a:lumMod val="75000"/>
                  </a:schemeClr>
                </a:solidFill>
              </a:rPr>
              <a:t> баз </a:t>
            </a:r>
            <a:r>
              <a:rPr lang="uk-UA" i="1" dirty="0" err="1" smtClean="0">
                <a:solidFill>
                  <a:schemeClr val="accent1">
                    <a:lumMod val="75000"/>
                  </a:schemeClr>
                </a:solidFill>
              </a:rPr>
              <a:t>данных</a:t>
            </a:r>
            <a:r>
              <a:rPr lang="uk-UA" i="1" dirty="0" smtClean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endParaRPr lang="en-US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14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70603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Условная </a:t>
            </a:r>
            <a:r>
              <a:rPr lang="ru-RU" dirty="0" smtClean="0"/>
              <a:t>группировка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1097280" y="1991644"/>
            <a:ext cx="4937760" cy="917811"/>
          </a:xfrm>
        </p:spPr>
        <p:txBody>
          <a:bodyPr>
            <a:normAutofit/>
          </a:bodyPr>
          <a:lstStyle/>
          <a:p>
            <a:r>
              <a:rPr lang="ru-RU" dirty="0"/>
              <a:t>Функциональные </a:t>
            </a:r>
            <a:r>
              <a:rPr lang="ru-RU" dirty="0" smtClean="0"/>
              <a:t>требования</a:t>
            </a:r>
          </a:p>
          <a:p>
            <a:r>
              <a:rPr lang="ru-RU" sz="1400" dirty="0" smtClean="0"/>
              <a:t>что </a:t>
            </a:r>
            <a:r>
              <a:rPr lang="ru-RU" sz="1400" dirty="0"/>
              <a:t>система должна </a:t>
            </a:r>
            <a:r>
              <a:rPr lang="ru-RU" sz="1400" dirty="0" smtClean="0"/>
              <a:t>делать</a:t>
            </a:r>
            <a:endParaRPr lang="en-US" sz="1400" dirty="0"/>
          </a:p>
        </p:txBody>
      </p:sp>
      <p:sp>
        <p:nvSpPr>
          <p:cNvPr id="3" name="Объект 2"/>
          <p:cNvSpPr>
            <a:spLocks noGrp="1"/>
          </p:cNvSpPr>
          <p:nvPr>
            <p:ph sz="half" idx="2"/>
          </p:nvPr>
        </p:nvSpPr>
        <p:spPr>
          <a:xfrm>
            <a:off x="1097280" y="2983345"/>
            <a:ext cx="4937760" cy="2885750"/>
          </a:xfrm>
        </p:spPr>
        <p:txBody>
          <a:bodyPr>
            <a:normAutofit/>
          </a:bodyPr>
          <a:lstStyle/>
          <a:p>
            <a:pPr lvl="0"/>
            <a:r>
              <a:rPr lang="en-US" dirty="0" err="1" smtClean="0"/>
              <a:t>Бизнес-требования</a:t>
            </a:r>
            <a:r>
              <a:rPr lang="en-US" dirty="0"/>
              <a:t>. </a:t>
            </a:r>
          </a:p>
          <a:p>
            <a:pPr lvl="0"/>
            <a:r>
              <a:rPr lang="ru-RU" dirty="0"/>
              <a:t>Пользовательские требования </a:t>
            </a:r>
            <a:r>
              <a:rPr lang="en-US" dirty="0"/>
              <a:t> </a:t>
            </a:r>
          </a:p>
          <a:p>
            <a:pPr lvl="0"/>
            <a:r>
              <a:rPr lang="ru-RU" dirty="0"/>
              <a:t>Функциональные требования</a:t>
            </a:r>
            <a:r>
              <a:rPr lang="en-US" dirty="0"/>
              <a:t> 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217920" y="1991644"/>
            <a:ext cx="4937760" cy="917811"/>
          </a:xfrm>
        </p:spPr>
        <p:txBody>
          <a:bodyPr>
            <a:normAutofit/>
          </a:bodyPr>
          <a:lstStyle/>
          <a:p>
            <a:r>
              <a:rPr lang="ru-RU" dirty="0"/>
              <a:t>Нефункциональные </a:t>
            </a:r>
            <a:r>
              <a:rPr lang="ru-RU" dirty="0" smtClean="0"/>
              <a:t>требования </a:t>
            </a:r>
            <a:r>
              <a:rPr lang="en-US" dirty="0"/>
              <a:t> </a:t>
            </a:r>
            <a:endParaRPr lang="ru-RU" dirty="0" smtClean="0"/>
          </a:p>
          <a:p>
            <a:r>
              <a:rPr lang="ru-RU" sz="1500" dirty="0" smtClean="0"/>
              <a:t>как </a:t>
            </a:r>
            <a:r>
              <a:rPr lang="ru-RU" sz="1500" dirty="0"/>
              <a:t>будет работать система и почему именно </a:t>
            </a:r>
            <a:r>
              <a:rPr lang="ru-RU" sz="1500" dirty="0" smtClean="0"/>
              <a:t>так</a:t>
            </a:r>
            <a:endParaRPr lang="en-US" sz="1500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217920" y="2983344"/>
            <a:ext cx="4937760" cy="2885750"/>
          </a:xfrm>
        </p:spPr>
        <p:txBody>
          <a:bodyPr/>
          <a:lstStyle/>
          <a:p>
            <a:pPr lvl="0"/>
            <a:r>
              <a:rPr lang="en-US" dirty="0" err="1"/>
              <a:t>Бизнес-правила</a:t>
            </a:r>
            <a:r>
              <a:rPr lang="en-US" dirty="0"/>
              <a:t>.  </a:t>
            </a:r>
          </a:p>
          <a:p>
            <a:pPr lvl="0"/>
            <a:r>
              <a:rPr lang="en-US" dirty="0" err="1"/>
              <a:t>Внешние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Атрибуты</a:t>
            </a:r>
            <a:r>
              <a:rPr lang="en-US" dirty="0"/>
              <a:t> </a:t>
            </a:r>
            <a:r>
              <a:rPr lang="en-US" dirty="0" err="1"/>
              <a:t>качества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Ограничения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15</a:t>
            </a:fld>
            <a:endParaRPr lang="uk-UA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57845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C83A7-F628-42EA-A875-3EF29CBD8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Уровни требований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0554E-CBAB-40D5-B342-99859DA05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бизнес-требования / </a:t>
            </a:r>
            <a:r>
              <a:rPr lang="en-US" dirty="0"/>
              <a:t>business requirements</a:t>
            </a:r>
            <a:endParaRPr lang="ru-RU" dirty="0"/>
          </a:p>
          <a:p>
            <a:pPr lvl="1"/>
            <a:r>
              <a:rPr lang="ru-RU" dirty="0"/>
              <a:t>описываются в документе концепции и границ / </a:t>
            </a:r>
            <a:r>
              <a:rPr lang="en-US" dirty="0"/>
              <a:t>vision</a:t>
            </a:r>
            <a:r>
              <a:rPr lang="ru-RU" dirty="0"/>
              <a:t> </a:t>
            </a:r>
            <a:r>
              <a:rPr lang="en-US" dirty="0"/>
              <a:t>and scope document</a:t>
            </a:r>
            <a:endParaRPr lang="ru-RU" dirty="0"/>
          </a:p>
          <a:p>
            <a:pPr lvl="1"/>
            <a:endParaRPr lang="ru-RU" dirty="0"/>
          </a:p>
          <a:p>
            <a:r>
              <a:rPr lang="ru-RU" dirty="0" smtClean="0"/>
              <a:t>пользовательские  </a:t>
            </a:r>
            <a:r>
              <a:rPr lang="ru-RU" dirty="0"/>
              <a:t>/ </a:t>
            </a:r>
            <a:r>
              <a:rPr lang="en-US" dirty="0"/>
              <a:t>user requirements</a:t>
            </a:r>
            <a:endParaRPr lang="ru-RU" dirty="0"/>
          </a:p>
          <a:p>
            <a:pPr lvl="1"/>
            <a:r>
              <a:rPr lang="ru-RU" dirty="0"/>
              <a:t>описываются в документе пользовательских требований / </a:t>
            </a:r>
            <a:r>
              <a:rPr lang="en-US" dirty="0"/>
              <a:t>user requirements </a:t>
            </a:r>
            <a:r>
              <a:rPr lang="en-US" dirty="0" smtClean="0"/>
              <a:t>document</a:t>
            </a:r>
            <a:r>
              <a:rPr lang="ru-RU" dirty="0" smtClean="0"/>
              <a:t> -</a:t>
            </a:r>
            <a:r>
              <a:rPr lang="en-US" dirty="0" smtClean="0"/>
              <a:t>&gt; user stories &amp; use cases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r>
              <a:rPr lang="ru-RU" dirty="0"/>
              <a:t>функциональные требования / </a:t>
            </a:r>
            <a:r>
              <a:rPr lang="en-US" dirty="0"/>
              <a:t>functional </a:t>
            </a:r>
            <a:r>
              <a:rPr lang="en-US" dirty="0" smtClean="0"/>
              <a:t>requirements</a:t>
            </a:r>
            <a:r>
              <a:rPr lang="ru-RU" dirty="0" smtClean="0"/>
              <a:t>*</a:t>
            </a:r>
            <a:endParaRPr lang="ru-RU" dirty="0"/>
          </a:p>
          <a:p>
            <a:pPr lvl="1"/>
            <a:r>
              <a:rPr lang="ru-RU" dirty="0"/>
              <a:t>описываются в спецификации программных требований / </a:t>
            </a:r>
            <a:r>
              <a:rPr lang="en-US" dirty="0"/>
              <a:t>software requirements </a:t>
            </a:r>
            <a:r>
              <a:rPr lang="en-US" dirty="0" smtClean="0"/>
              <a:t>specification</a:t>
            </a:r>
            <a:endParaRPr lang="ru-RU" dirty="0" smtClean="0"/>
          </a:p>
          <a:p>
            <a:pPr lvl="1"/>
            <a:endParaRPr lang="ru-RU" dirty="0"/>
          </a:p>
          <a:p>
            <a:pPr marL="201168" lvl="1" indent="0">
              <a:buNone/>
            </a:pPr>
            <a:r>
              <a:rPr lang="ru-RU" i="1" dirty="0" smtClean="0"/>
              <a:t>* Требования к реализации</a:t>
            </a:r>
            <a:endParaRPr lang="ru-RU" i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16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2221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Атрибуты качества требований</a:t>
            </a:r>
            <a:endParaRPr lang="en-US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lvl="0" indent="-285750"/>
            <a:r>
              <a:rPr lang="ru-RU" dirty="0"/>
              <a:t>корректность; </a:t>
            </a:r>
            <a:endParaRPr lang="uk-UA" dirty="0"/>
          </a:p>
          <a:p>
            <a:pPr marL="285750" lvl="0" indent="-285750"/>
            <a:r>
              <a:rPr lang="ru-RU" dirty="0"/>
              <a:t>однозначность; </a:t>
            </a:r>
            <a:endParaRPr lang="uk-UA" dirty="0"/>
          </a:p>
          <a:p>
            <a:pPr marL="285750" lvl="0" indent="-285750"/>
            <a:r>
              <a:rPr lang="ru-RU" dirty="0"/>
              <a:t>полнота; </a:t>
            </a:r>
            <a:endParaRPr lang="uk-UA" dirty="0"/>
          </a:p>
          <a:p>
            <a:pPr marL="285750" lvl="0" indent="-285750"/>
            <a:r>
              <a:rPr lang="ru-RU" dirty="0"/>
              <a:t>непротиворечивость; </a:t>
            </a:r>
            <a:endParaRPr lang="uk-UA" dirty="0"/>
          </a:p>
          <a:p>
            <a:pPr marL="285750" lvl="0" indent="-285750"/>
            <a:r>
              <a:rPr lang="ru-RU" dirty="0"/>
              <a:t>упорядоченность по важности и стабильности; </a:t>
            </a:r>
            <a:endParaRPr lang="uk-UA" dirty="0"/>
          </a:p>
          <a:p>
            <a:pPr marL="285750" lvl="0" indent="-285750"/>
            <a:r>
              <a:rPr lang="ru-RU" dirty="0"/>
              <a:t>проверяемость; </a:t>
            </a:r>
            <a:endParaRPr lang="uk-UA" dirty="0"/>
          </a:p>
          <a:p>
            <a:pPr marL="285750" lvl="0" indent="-285750"/>
            <a:r>
              <a:rPr lang="ru-RU" dirty="0"/>
              <a:t>модифицируемость; </a:t>
            </a:r>
            <a:endParaRPr lang="uk-UA" dirty="0"/>
          </a:p>
          <a:p>
            <a:pPr marL="285750" lvl="0" indent="-285750"/>
            <a:r>
              <a:rPr lang="ru-RU" dirty="0" err="1"/>
              <a:t>трассируемость</a:t>
            </a:r>
            <a:r>
              <a:rPr lang="ru-RU" dirty="0"/>
              <a:t>; </a:t>
            </a:r>
            <a:endParaRPr lang="uk-UA" dirty="0"/>
          </a:p>
          <a:p>
            <a:pPr marL="285750" lvl="0" indent="-285750"/>
            <a:r>
              <a:rPr lang="ru-RU" dirty="0"/>
              <a:t>понятность</a:t>
            </a:r>
            <a:r>
              <a:rPr lang="ru-RU" dirty="0" smtClean="0"/>
              <a:t>.</a:t>
            </a:r>
            <a:endParaRPr lang="uk-UA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17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92638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237" y="0"/>
            <a:ext cx="10156829" cy="6330362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18</a:t>
            </a:fld>
            <a:endParaRPr lang="uk-UA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46261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B5EF2-BC5A-46DA-A54F-3440383F0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Выявление и сбор требований / </a:t>
            </a:r>
            <a:r>
              <a:rPr lang="en-US" dirty="0" smtClean="0"/>
              <a:t>Requirements Elicitation &amp; Gathering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996D0-8A71-41D4-BEFE-CB1977950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Определение классов </a:t>
            </a:r>
            <a:r>
              <a:rPr lang="ru-RU" dirty="0" smtClean="0"/>
              <a:t>пользователей </a:t>
            </a:r>
            <a:r>
              <a:rPr lang="ru-RU" dirty="0"/>
              <a:t>продукта и других </a:t>
            </a:r>
            <a:r>
              <a:rPr lang="ru-RU" dirty="0" smtClean="0"/>
              <a:t>заинтересованных </a:t>
            </a:r>
            <a:r>
              <a:rPr lang="ru-RU" dirty="0"/>
              <a:t>лиц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Понимание задач и </a:t>
            </a:r>
            <a:r>
              <a:rPr lang="ru-RU" dirty="0" smtClean="0"/>
              <a:t>целей</a:t>
            </a:r>
            <a:r>
              <a:rPr lang="en-US" dirty="0" smtClean="0"/>
              <a:t>;</a:t>
            </a:r>
            <a:endParaRPr lang="ru-RU" dirty="0"/>
          </a:p>
          <a:p>
            <a:r>
              <a:rPr lang="ru-RU" dirty="0"/>
              <a:t>Изучение среды, в которой будет использоваться </a:t>
            </a:r>
            <a:r>
              <a:rPr lang="ru-RU" dirty="0" smtClean="0"/>
              <a:t>продукт</a:t>
            </a:r>
            <a:r>
              <a:rPr lang="en-US" dirty="0"/>
              <a:t>;</a:t>
            </a:r>
          </a:p>
          <a:p>
            <a:r>
              <a:rPr lang="ru-RU" dirty="0" smtClean="0"/>
              <a:t>Выявление потребностей </a:t>
            </a:r>
            <a:r>
              <a:rPr lang="ru-RU" dirty="0"/>
              <a:t>и </a:t>
            </a:r>
            <a:r>
              <a:rPr lang="ru-RU" dirty="0" smtClean="0"/>
              <a:t>ожиданий пользователей.</a:t>
            </a:r>
            <a:endParaRPr lang="ru-RU" dirty="0"/>
          </a:p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19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17789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C22CE-8FEB-4977-8E37-A1BD784BA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Методы сбора требований</a:t>
            </a:r>
            <a:r>
              <a:rPr lang="en-US" dirty="0"/>
              <a:t> / Elicitations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AAF79-0B0F-4C8A-B3BC-A0144335B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Мозговой штурм / </a:t>
            </a:r>
            <a:r>
              <a:rPr lang="en-US" dirty="0"/>
              <a:t>Brainstorming</a:t>
            </a:r>
          </a:p>
          <a:p>
            <a:r>
              <a:rPr lang="ru-RU" dirty="0"/>
              <a:t>Анализ документации / </a:t>
            </a:r>
            <a:r>
              <a:rPr lang="en-US" dirty="0"/>
              <a:t>Document Analysis</a:t>
            </a:r>
          </a:p>
          <a:p>
            <a:r>
              <a:rPr lang="ru-RU" dirty="0"/>
              <a:t>Фокус группы / </a:t>
            </a:r>
            <a:r>
              <a:rPr lang="en-US" dirty="0"/>
              <a:t>Focus Groups</a:t>
            </a:r>
          </a:p>
          <a:p>
            <a:r>
              <a:rPr lang="ru-RU" dirty="0"/>
              <a:t>Анализ интерфейсов / </a:t>
            </a:r>
            <a:r>
              <a:rPr lang="en-US" dirty="0"/>
              <a:t>Interface Analysis</a:t>
            </a:r>
          </a:p>
          <a:p>
            <a:r>
              <a:rPr lang="ru-RU" smtClean="0"/>
              <a:t>Интер</a:t>
            </a:r>
            <a:r>
              <a:rPr lang="ru-RU"/>
              <a:t>в</a:t>
            </a:r>
            <a:r>
              <a:rPr lang="ru-RU" smtClean="0"/>
              <a:t>ью </a:t>
            </a:r>
            <a:r>
              <a:rPr lang="ru-RU" dirty="0"/>
              <a:t>/ </a:t>
            </a:r>
            <a:r>
              <a:rPr lang="en-US" dirty="0"/>
              <a:t>Interviews</a:t>
            </a:r>
          </a:p>
          <a:p>
            <a:r>
              <a:rPr lang="ru-RU" dirty="0"/>
              <a:t>Наблюдение / </a:t>
            </a:r>
            <a:r>
              <a:rPr lang="en-US" dirty="0"/>
              <a:t>Observation</a:t>
            </a:r>
          </a:p>
          <a:p>
            <a:r>
              <a:rPr lang="ru-RU" dirty="0"/>
              <a:t>Прототипирование / </a:t>
            </a:r>
            <a:r>
              <a:rPr lang="en-US" dirty="0"/>
              <a:t>Prototyping</a:t>
            </a:r>
          </a:p>
          <a:p>
            <a:r>
              <a:rPr lang="ru-RU" dirty="0"/>
              <a:t>Семинары / </a:t>
            </a:r>
            <a:r>
              <a:rPr lang="en-US" dirty="0"/>
              <a:t>Requirements Workshops</a:t>
            </a:r>
          </a:p>
          <a:p>
            <a:r>
              <a:rPr lang="ru-RU" dirty="0"/>
              <a:t>Опросники / </a:t>
            </a:r>
            <a:r>
              <a:rPr lang="en-US" dirty="0"/>
              <a:t>Survey</a:t>
            </a:r>
            <a:r>
              <a:rPr lang="ru-RU" dirty="0"/>
              <a:t> </a:t>
            </a:r>
            <a:r>
              <a:rPr lang="en-US" dirty="0"/>
              <a:t>/</a:t>
            </a:r>
            <a:r>
              <a:rPr lang="ru-RU" dirty="0"/>
              <a:t> </a:t>
            </a:r>
            <a:r>
              <a:rPr lang="en-US" dirty="0"/>
              <a:t>Questionnaire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20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8365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86586-5FC7-4B45-A59A-3C9B4B73E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Анализ требований</a:t>
            </a:r>
            <a:r>
              <a:rPr lang="en-US" dirty="0"/>
              <a:t> / Analyzing </a:t>
            </a:r>
            <a:r>
              <a:rPr lang="en-US" dirty="0" smtClean="0"/>
              <a:t>requirements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858B9-195A-45B5-9A9A-D165A7B41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Разбиение и группировка по типам требований;</a:t>
            </a:r>
            <a:endParaRPr lang="ru-RU" dirty="0"/>
          </a:p>
          <a:p>
            <a:r>
              <a:rPr lang="ru-RU" dirty="0" smtClean="0"/>
              <a:t>Декомпозиция;</a:t>
            </a:r>
            <a:endParaRPr lang="ru-RU" dirty="0"/>
          </a:p>
          <a:p>
            <a:r>
              <a:rPr lang="ru-RU" dirty="0" smtClean="0"/>
              <a:t>Выделение </a:t>
            </a:r>
            <a:r>
              <a:rPr lang="ru-RU" dirty="0"/>
              <a:t>функциональных </a:t>
            </a:r>
            <a:r>
              <a:rPr lang="ru-RU" dirty="0" smtClean="0"/>
              <a:t>требований;</a:t>
            </a:r>
            <a:endParaRPr lang="ru-RU" dirty="0"/>
          </a:p>
          <a:p>
            <a:r>
              <a:rPr lang="ru-RU" dirty="0" smtClean="0"/>
              <a:t>Распределение </a:t>
            </a:r>
            <a:r>
              <a:rPr lang="ru-RU" dirty="0"/>
              <a:t>требований по компонентам </a:t>
            </a:r>
            <a:r>
              <a:rPr lang="ru-RU" dirty="0" smtClean="0"/>
              <a:t>ПО;</a:t>
            </a:r>
            <a:endParaRPr lang="en-US" dirty="0" smtClean="0"/>
          </a:p>
          <a:p>
            <a:r>
              <a:rPr lang="ru-RU" dirty="0" smtClean="0"/>
              <a:t>Согласование </a:t>
            </a:r>
            <a:r>
              <a:rPr lang="ru-RU" dirty="0"/>
              <a:t>приоритетов реализации;</a:t>
            </a:r>
          </a:p>
          <a:p>
            <a:r>
              <a:rPr lang="ru-RU" dirty="0" smtClean="0"/>
              <a:t>Выявление </a:t>
            </a:r>
            <a:r>
              <a:rPr lang="ru-RU" dirty="0"/>
              <a:t>пробелов в требованиях или излишних </a:t>
            </a:r>
            <a:r>
              <a:rPr lang="ru-RU" dirty="0" smtClean="0"/>
              <a:t>требований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21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96907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D97B4-9E32-4231-9C81-36D046B7E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Управление требованями </a:t>
            </a:r>
            <a:r>
              <a:rPr lang="en-US" dirty="0"/>
              <a:t>/ Requirements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60C18-E119-4C07-A94A-F6091B4A6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Определение </a:t>
            </a:r>
            <a:r>
              <a:rPr lang="ru-RU" dirty="0"/>
              <a:t>основной версии </a:t>
            </a:r>
            <a:r>
              <a:rPr lang="ru-RU" dirty="0" smtClean="0"/>
              <a:t>требований;</a:t>
            </a:r>
            <a:endParaRPr lang="ru-RU" dirty="0"/>
          </a:p>
          <a:p>
            <a:r>
              <a:rPr lang="ru-RU" dirty="0" smtClean="0"/>
              <a:t>Оценка влияния и затрат на внедрение изменений;</a:t>
            </a:r>
          </a:p>
          <a:p>
            <a:r>
              <a:rPr lang="ru-RU" dirty="0" smtClean="0"/>
              <a:t>Обновление </a:t>
            </a:r>
            <a:r>
              <a:rPr lang="ru-RU" dirty="0"/>
              <a:t>планов проекта в соответствии с изменениями в требованиях;</a:t>
            </a:r>
          </a:p>
          <a:p>
            <a:r>
              <a:rPr lang="ru-RU" dirty="0" smtClean="0"/>
              <a:t>Анализ </a:t>
            </a:r>
            <a:r>
              <a:rPr lang="ru-RU" dirty="0"/>
              <a:t>новых </a:t>
            </a:r>
            <a:r>
              <a:rPr lang="ru-RU" dirty="0" smtClean="0"/>
              <a:t>обязательств;</a:t>
            </a:r>
            <a:endParaRPr lang="ru-RU" dirty="0"/>
          </a:p>
          <a:p>
            <a:r>
              <a:rPr lang="ru-RU" dirty="0" smtClean="0"/>
              <a:t>Определение </a:t>
            </a:r>
            <a:r>
              <a:rPr lang="ru-RU" dirty="0"/>
              <a:t>отношений и </a:t>
            </a:r>
            <a:r>
              <a:rPr lang="ru-RU" dirty="0" smtClean="0"/>
              <a:t>зависимостей между требованиями</a:t>
            </a:r>
            <a:r>
              <a:rPr lang="ru-RU" dirty="0"/>
              <a:t>;</a:t>
            </a:r>
          </a:p>
          <a:p>
            <a:r>
              <a:rPr lang="ru-RU" dirty="0" smtClean="0"/>
              <a:t>Отслеживание </a:t>
            </a:r>
            <a:r>
              <a:rPr lang="ru-RU" dirty="0"/>
              <a:t>состояния требований и действий </a:t>
            </a:r>
            <a:r>
              <a:rPr lang="ru-RU" dirty="0" smtClean="0"/>
              <a:t>по их изменению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22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554499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ru-RU" sz="4400" dirty="0" smtClean="0"/>
              <a:t>Дополнительная литература</a:t>
            </a:r>
            <a:endParaRPr lang="en-US" sz="41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23</a:t>
            </a:fld>
            <a:endParaRPr lang="uk-UA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24450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К</a:t>
            </a:r>
            <a:r>
              <a:rPr lang="ru-RU" dirty="0"/>
              <a:t>. </a:t>
            </a:r>
            <a:r>
              <a:rPr lang="ru-RU" dirty="0" err="1"/>
              <a:t>Вигерс</a:t>
            </a:r>
            <a:r>
              <a:rPr lang="ru-RU" dirty="0"/>
              <a:t>, Дж. Битти: Разработка требований к программному обеспечению 3-е изд. /</a:t>
            </a:r>
            <a:r>
              <a:rPr lang="en-US" dirty="0"/>
              <a:t>Karl </a:t>
            </a:r>
            <a:r>
              <a:rPr lang="en-US" dirty="0" err="1"/>
              <a:t>Wiegers</a:t>
            </a:r>
            <a:r>
              <a:rPr lang="en-US" dirty="0"/>
              <a:t>: Software Requirements 3</a:t>
            </a:r>
            <a:r>
              <a:rPr lang="en-US" baseline="30000" dirty="0"/>
              <a:t>rd</a:t>
            </a:r>
            <a:r>
              <a:rPr lang="en-US" dirty="0"/>
              <a:t> </a:t>
            </a:r>
            <a:r>
              <a:rPr lang="en-US" dirty="0" smtClean="0"/>
              <a:t>edition</a:t>
            </a:r>
            <a:r>
              <a:rPr lang="ru-RU" dirty="0" smtClean="0"/>
              <a:t> – Глава 1 – Уровни и типы </a:t>
            </a:r>
            <a:r>
              <a:rPr lang="ru-RU" dirty="0" smtClean="0"/>
              <a:t>требований</a:t>
            </a:r>
          </a:p>
          <a:p>
            <a:r>
              <a:rPr lang="en-US" dirty="0" smtClean="0"/>
              <a:t>BABOK</a:t>
            </a:r>
            <a:r>
              <a:rPr lang="ru-RU" dirty="0" smtClean="0"/>
              <a:t> – 2.3 </a:t>
            </a:r>
            <a:r>
              <a:rPr lang="en-US" dirty="0" smtClean="0"/>
              <a:t>Requirements Classification Schema</a:t>
            </a:r>
            <a:endParaRPr lang="ru-RU" dirty="0" smtClean="0"/>
          </a:p>
          <a:p>
            <a:r>
              <a:rPr lang="en-US" dirty="0"/>
              <a:t>T</a:t>
            </a:r>
            <a:r>
              <a:rPr lang="ru-RU" dirty="0" err="1"/>
              <a:t>ребования</a:t>
            </a:r>
            <a:r>
              <a:rPr lang="ru-RU" dirty="0"/>
              <a:t> к внешним </a:t>
            </a:r>
            <a:r>
              <a:rPr lang="ru-RU" dirty="0" smtClean="0"/>
              <a:t>интерфейсам - </a:t>
            </a:r>
            <a:r>
              <a:rPr lang="en-US" dirty="0">
                <a:hlinkClick r:id="rId2"/>
              </a:rPr>
              <a:t>https://it.rfei.ru/course/~jRzS/~R9AE/~lyK2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24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Business Analysis - Hillel course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44071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2241</TotalTime>
  <Words>1045</Words>
  <Application>Microsoft Office PowerPoint</Application>
  <PresentationFormat>Широкоэкранный</PresentationFormat>
  <Paragraphs>218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Ретро</vt:lpstr>
      <vt:lpstr>План занятия</vt:lpstr>
      <vt:lpstr>Требования</vt:lpstr>
      <vt:lpstr>Need vs Requirement</vt:lpstr>
      <vt:lpstr>Типы требований</vt:lpstr>
      <vt:lpstr>Бизнес-требование / Business requirements</vt:lpstr>
      <vt:lpstr>Бизнес-правило /  Business rules</vt:lpstr>
      <vt:lpstr>Внешнее требование к интерфейсу / External interface requirements</vt:lpstr>
      <vt:lpstr>Функциональное требование  / Functional requirements</vt:lpstr>
      <vt:lpstr>Нефункциональное требование  /  Non-functional requirements</vt:lpstr>
      <vt:lpstr>Атрибуты / параметры качества</vt:lpstr>
      <vt:lpstr>Системное требование  /  System requirements</vt:lpstr>
      <vt:lpstr>Ограничения / Constraints</vt:lpstr>
      <vt:lpstr>Пользовательское требование  /  User requirements</vt:lpstr>
      <vt:lpstr>Переходные требования / Transition requirements </vt:lpstr>
      <vt:lpstr>Условная группировка</vt:lpstr>
      <vt:lpstr>Уровни требований</vt:lpstr>
      <vt:lpstr>Атрибуты качества требований</vt:lpstr>
      <vt:lpstr>Презентация PowerPoint</vt:lpstr>
      <vt:lpstr>Выявление и сбор требований / Requirements Elicitation &amp; Gathering</vt:lpstr>
      <vt:lpstr>Методы сбора требований / Elicitations techniques</vt:lpstr>
      <vt:lpstr>Анализ требований / Analyzing requirements</vt:lpstr>
      <vt:lpstr>Управление требованями / Requirements management</vt:lpstr>
      <vt:lpstr>Дополнительная литература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</dc:title>
  <dc:creator>Olesia Korobko</dc:creator>
  <cp:lastModifiedBy>Alesia</cp:lastModifiedBy>
  <cp:revision>64</cp:revision>
  <dcterms:created xsi:type="dcterms:W3CDTF">2019-07-08T17:35:39Z</dcterms:created>
  <dcterms:modified xsi:type="dcterms:W3CDTF">2020-08-26T16:37:37Z</dcterms:modified>
</cp:coreProperties>
</file>