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23"/>
  </p:notesMasterIdLst>
  <p:sldIdLst>
    <p:sldId id="256" r:id="rId2"/>
    <p:sldId id="374" r:id="rId3"/>
    <p:sldId id="375" r:id="rId4"/>
    <p:sldId id="368" r:id="rId5"/>
    <p:sldId id="376" r:id="rId6"/>
    <p:sldId id="395" r:id="rId7"/>
    <p:sldId id="418" r:id="rId8"/>
    <p:sldId id="397" r:id="rId9"/>
    <p:sldId id="396" r:id="rId10"/>
    <p:sldId id="391" r:id="rId11"/>
    <p:sldId id="417" r:id="rId12"/>
    <p:sldId id="419" r:id="rId13"/>
    <p:sldId id="377" r:id="rId14"/>
    <p:sldId id="398" r:id="rId15"/>
    <p:sldId id="399" r:id="rId16"/>
    <p:sldId id="392" r:id="rId17"/>
    <p:sldId id="416" r:id="rId18"/>
    <p:sldId id="385" r:id="rId19"/>
    <p:sldId id="414" r:id="rId20"/>
    <p:sldId id="366" r:id="rId21"/>
    <p:sldId id="41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8DE0"/>
    <a:srgbClr val="0F79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56"/>
  </p:normalViewPr>
  <p:slideViewPr>
    <p:cSldViewPr snapToGrid="0">
      <p:cViewPr varScale="1">
        <p:scale>
          <a:sx n="89" d="100"/>
          <a:sy n="89" d="100"/>
        </p:scale>
        <p:origin x="8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2579C-437B-4B88-BDE6-483EC68E97D4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690FE-35A5-4CCB-93D6-B8E58183C5A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976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159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19154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22255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2792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006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89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C39F3-65FC-4E3B-ADF4-8C79DC6953D5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286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30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3876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0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5725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945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9639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9367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64557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63240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B4355C-3BC3-430F-A9AE-65E4E08468FB}" type="datetimeFigureOut">
              <a:rPr lang="uk-UA" smtClean="0"/>
              <a:t>22.09.20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khpi-iip.mipk.kharkiv.edu/library/case/leon/gl10/gl10.html" TargetMode="External"/><Relationship Id="rId3" Type="http://schemas.openxmlformats.org/officeDocument/2006/relationships/hyperlink" Target="http://khpi-iip.mipk.kharkiv.edu/library/case/leon/gl7/gl7.html" TargetMode="External"/><Relationship Id="rId7" Type="http://schemas.openxmlformats.org/officeDocument/2006/relationships/hyperlink" Target="http://khpi-iip.mipk.kharkiv.edu/library/case/leon/gl9/gl9.html" TargetMode="External"/><Relationship Id="rId2" Type="http://schemas.openxmlformats.org/officeDocument/2006/relationships/hyperlink" Target="http://khpi-iip.mipk.kharkiv.edu/library/case/leon/gl4/gl4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khpi-iip.mipk.kharkiv.edu/library/case/leon/gl8/gl8.html" TargetMode="External"/><Relationship Id="rId5" Type="http://schemas.openxmlformats.org/officeDocument/2006/relationships/hyperlink" Target="http://khpi-iip.mipk.kharkiv.edu/library/case/leon/gl6/gl6.html" TargetMode="External"/><Relationship Id="rId4" Type="http://schemas.openxmlformats.org/officeDocument/2006/relationships/hyperlink" Target="http://khpi-iip.mipk.kharkiv.edu/library/case/leon/gl5/gl5.html" TargetMode="External"/><Relationship Id="rId9" Type="http://schemas.openxmlformats.org/officeDocument/2006/relationships/hyperlink" Target="http://khpi-iip.mipk.kharkiv.edu/library/case/leon/gl11/gl11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gi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khpi-iip.mipk.kharkiv.edu/library/case/leon/gl4/gl4.html#9" TargetMode="External"/><Relationship Id="rId2" Type="http://schemas.openxmlformats.org/officeDocument/2006/relationships/hyperlink" Target="https://ru.wikipedia.org/wiki/UML#%D0%94%D0%B8%D0%B0%D0%B3%D1%80%D0%B0%D0%BC%D0%BC%D0%B0_%D0%B4%D0%B5%D1%8F%D1%82%D0%B5%D0%BB%D1%8C%D0%BD%D0%BE%D1%81%D1%82%D0%B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khpi-iip.mipk.kharkiv.edu/library/case/leon/gl7/gl7.html#3" TargetMode="External"/><Relationship Id="rId4" Type="http://schemas.openxmlformats.org/officeDocument/2006/relationships/hyperlink" Target="http://www.its.kpi.ua/itm/tkot/Students/Lec2_1_UML%5bp%5d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Артефакты визуализации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Диаграммы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029C0A0-741C-4AE5-AEE8-E50570A9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</a:t>
            </a:r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500" y="1885372"/>
            <a:ext cx="4244976" cy="3087255"/>
          </a:xfrm>
        </p:spPr>
      </p:pic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457199" y="2926079"/>
            <a:ext cx="3343275" cy="3631883"/>
          </a:xfrm>
        </p:spPr>
        <p:txBody>
          <a:bodyPr>
            <a:noAutofit/>
          </a:bodyPr>
          <a:lstStyle/>
          <a:p>
            <a:r>
              <a:rPr lang="ru-RU" sz="1800" dirty="0" err="1"/>
              <a:t>Unified</a:t>
            </a:r>
            <a:r>
              <a:rPr lang="ru-RU" sz="1800" dirty="0"/>
              <a:t> </a:t>
            </a:r>
            <a:r>
              <a:rPr lang="ru-RU" sz="1800" dirty="0" err="1"/>
              <a:t>Modeling</a:t>
            </a:r>
            <a:r>
              <a:rPr lang="ru-RU" sz="1800" dirty="0"/>
              <a:t> </a:t>
            </a:r>
            <a:r>
              <a:rPr lang="ru-RU" sz="1800" dirty="0" err="1"/>
              <a:t>Language</a:t>
            </a:r>
            <a:r>
              <a:rPr lang="ru-RU" sz="1800" dirty="0"/>
              <a:t> — унифицированный язык моделирования — </a:t>
            </a:r>
            <a:endParaRPr lang="en-US" sz="1800" dirty="0"/>
          </a:p>
          <a:p>
            <a:r>
              <a:rPr lang="ru-RU" sz="1800" dirty="0"/>
              <a:t>язык графического описания для объектного моделирования в области разработки программного обеспечения, для моделирования бизнес-процессов, системного проектирования и отображения организационных структур.</a:t>
            </a: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3975275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98368-61E2-485C-A31D-E54F5B88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Наиболее распространенные </a:t>
            </a:r>
            <a:r>
              <a:rPr lang="en-US" dirty="0"/>
              <a:t>UML </a:t>
            </a:r>
            <a:r>
              <a:rPr lang="ru-RU" dirty="0"/>
              <a:t>диаграммы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52C08-B0B9-4F2F-899D-DAC5BD0D3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b="1" dirty="0">
                <a:solidFill>
                  <a:srgbClr val="128DE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Диаграмма вариантов использования (</a:t>
            </a:r>
            <a:r>
              <a:rPr lang="en-US" b="1" dirty="0">
                <a:solidFill>
                  <a:srgbClr val="128DE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 case diagram)</a:t>
            </a:r>
            <a:endParaRPr lang="en-US" b="1" dirty="0">
              <a:solidFill>
                <a:srgbClr val="128DE0"/>
              </a:solidFill>
            </a:endParaRPr>
          </a:p>
          <a:p>
            <a:r>
              <a:rPr lang="uk-UA" b="1" dirty="0">
                <a:solidFill>
                  <a:srgbClr val="128DE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Диаграмма деятельности (</a:t>
            </a:r>
            <a:r>
              <a:rPr lang="en-US" b="1" dirty="0">
                <a:solidFill>
                  <a:srgbClr val="128DE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activity diagram)</a:t>
            </a:r>
            <a:endParaRPr lang="en-US" b="1" dirty="0">
              <a:solidFill>
                <a:srgbClr val="128DE0"/>
              </a:solidFill>
            </a:endParaRPr>
          </a:p>
          <a:p>
            <a:r>
              <a:rPr lang="uk-UA" dirty="0">
                <a:solidFill>
                  <a:srgbClr val="128DE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Диаграмма классов (</a:t>
            </a:r>
            <a:r>
              <a:rPr lang="en-US" dirty="0">
                <a:solidFill>
                  <a:srgbClr val="128DE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 diagram)</a:t>
            </a:r>
            <a:endParaRPr lang="en-US" dirty="0">
              <a:solidFill>
                <a:srgbClr val="128DE0"/>
              </a:solidFill>
            </a:endParaRPr>
          </a:p>
          <a:p>
            <a:r>
              <a:rPr lang="uk-UA" dirty="0">
                <a:solidFill>
                  <a:srgbClr val="128DE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Диаграмма состояний (</a:t>
            </a:r>
            <a:r>
              <a:rPr lang="en-US" dirty="0">
                <a:solidFill>
                  <a:srgbClr val="128DE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statechart diagram)</a:t>
            </a:r>
            <a:endParaRPr lang="en-US" dirty="0">
              <a:solidFill>
                <a:srgbClr val="128DE0"/>
              </a:solidFill>
            </a:endParaRPr>
          </a:p>
          <a:p>
            <a:r>
              <a:rPr lang="uk-UA" dirty="0">
                <a:solidFill>
                  <a:srgbClr val="128DE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Диаграмма последовательности (</a:t>
            </a:r>
            <a:r>
              <a:rPr lang="en-US" dirty="0">
                <a:solidFill>
                  <a:srgbClr val="128DE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sequence diagram)</a:t>
            </a:r>
            <a:endParaRPr lang="en-US" dirty="0">
              <a:solidFill>
                <a:srgbClr val="128DE0"/>
              </a:solidFill>
            </a:endParaRPr>
          </a:p>
          <a:p>
            <a:r>
              <a:rPr lang="uk-UA" dirty="0">
                <a:solidFill>
                  <a:srgbClr val="128DE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Диаграмма кооперации (</a:t>
            </a:r>
            <a:r>
              <a:rPr lang="en-US" dirty="0">
                <a:solidFill>
                  <a:srgbClr val="128DE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collaboration diagram)</a:t>
            </a:r>
            <a:endParaRPr lang="en-US" dirty="0">
              <a:solidFill>
                <a:srgbClr val="128DE0"/>
              </a:solidFill>
            </a:endParaRPr>
          </a:p>
          <a:p>
            <a:r>
              <a:rPr lang="uk-UA" dirty="0">
                <a:solidFill>
                  <a:srgbClr val="128DE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Диаграмма компонентов (</a:t>
            </a:r>
            <a:r>
              <a:rPr lang="en-US" dirty="0">
                <a:solidFill>
                  <a:srgbClr val="128DE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component diagram)</a:t>
            </a:r>
            <a:endParaRPr lang="en-US" dirty="0">
              <a:solidFill>
                <a:srgbClr val="128DE0"/>
              </a:solidFill>
            </a:endParaRPr>
          </a:p>
          <a:p>
            <a:r>
              <a:rPr lang="uk-UA" dirty="0">
                <a:solidFill>
                  <a:srgbClr val="128DE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Диаграмма развертывания (</a:t>
            </a:r>
            <a:r>
              <a:rPr lang="en-US" dirty="0">
                <a:solidFill>
                  <a:srgbClr val="128DE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deployment diagram)</a:t>
            </a:r>
            <a:endParaRPr lang="en-US" dirty="0">
              <a:solidFill>
                <a:srgbClr val="128DE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658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r>
              <a:rPr lang="en-US" sz="4400" dirty="0"/>
              <a:t>Use case diagram</a:t>
            </a:r>
            <a:endParaRPr lang="uk-UA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sz="2400" dirty="0"/>
              <a:t>Диаграмма вариантов использования / прецедентов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70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0BDD8-9572-402C-B02F-7F9AE721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 diagram - </a:t>
            </a:r>
            <a:r>
              <a:rPr lang="ru-RU" dirty="0"/>
              <a:t>диаграмма прецедентов</a:t>
            </a:r>
            <a:r>
              <a:rPr lang="en-US" dirty="0"/>
              <a:t> / </a:t>
            </a:r>
            <a:r>
              <a:rPr lang="ru-RU" dirty="0"/>
              <a:t>вариантов</a:t>
            </a:r>
            <a:r>
              <a:rPr lang="uk-UA" dirty="0"/>
              <a:t> </a:t>
            </a:r>
            <a:r>
              <a:rPr lang="ru-RU" dirty="0"/>
              <a:t>использования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7254A-7C7D-43D4-9D04-B49A1925F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— диаграмма, отражающая отношения между акторами и прецедентами и являющаяся составной частью модели прецедентов, позволяющей описать систему на концептуальном уровне.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Проектируемая система представляется в виде множества сущностей или актеров, взаимодействующих с системой с помощью так называемых вариантов использования.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390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Элементы </a:t>
            </a:r>
            <a:r>
              <a:rPr lang="en-US" dirty="0"/>
              <a:t>Use case diagram</a:t>
            </a:r>
            <a:r>
              <a:rPr lang="ru-RU" dirty="0"/>
              <a:t> 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74" y="1862667"/>
            <a:ext cx="10363826" cy="4283299"/>
          </a:xfrm>
        </p:spPr>
        <p:txBody>
          <a:bodyPr>
            <a:normAutofit/>
          </a:bodyPr>
          <a:lstStyle/>
          <a:p>
            <a:r>
              <a:rPr lang="ru-RU" dirty="0"/>
              <a:t>Рамки системы (</a:t>
            </a:r>
            <a:r>
              <a:rPr lang="en-US" dirty="0"/>
              <a:t>S</a:t>
            </a:r>
            <a:r>
              <a:rPr lang="ru-RU" dirty="0"/>
              <a:t>ystem </a:t>
            </a:r>
            <a:r>
              <a:rPr lang="en-US" dirty="0"/>
              <a:t>B</a:t>
            </a:r>
            <a:r>
              <a:rPr lang="ru-RU" dirty="0"/>
              <a:t>oundary) </a:t>
            </a:r>
          </a:p>
          <a:p>
            <a:r>
              <a:rPr lang="ru-RU" dirty="0"/>
              <a:t>Актёр (</a:t>
            </a:r>
            <a:r>
              <a:rPr lang="en-US" dirty="0"/>
              <a:t>A</a:t>
            </a:r>
            <a:r>
              <a:rPr lang="ru-RU" dirty="0"/>
              <a:t>ctor) </a:t>
            </a:r>
          </a:p>
          <a:p>
            <a:r>
              <a:rPr lang="ru-RU" dirty="0"/>
              <a:t>Прецедент (</a:t>
            </a:r>
            <a:r>
              <a:rPr lang="en-US" dirty="0"/>
              <a:t>Use Case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Отношение</a:t>
            </a:r>
            <a:endParaRPr lang="en-US" dirty="0"/>
          </a:p>
          <a:p>
            <a:pPr lvl="1"/>
            <a:r>
              <a:rPr lang="ru-RU" dirty="0"/>
              <a:t>ассоциация</a:t>
            </a:r>
          </a:p>
          <a:p>
            <a:pPr lvl="1"/>
            <a:r>
              <a:rPr lang="ru-RU" dirty="0"/>
              <a:t>обобщение прецедента </a:t>
            </a:r>
            <a:endParaRPr lang="en-US" dirty="0"/>
          </a:p>
          <a:p>
            <a:pPr lvl="1"/>
            <a:r>
              <a:rPr lang="ru-RU" dirty="0"/>
              <a:t>включение прецедента </a:t>
            </a:r>
            <a:endParaRPr lang="en-US" dirty="0"/>
          </a:p>
          <a:p>
            <a:pPr lvl="1"/>
            <a:r>
              <a:rPr lang="ru-RU" dirty="0"/>
              <a:t>расширение прецедента</a:t>
            </a:r>
          </a:p>
          <a:p>
            <a:r>
              <a:rPr lang="ru-RU" dirty="0"/>
              <a:t>Условие </a:t>
            </a:r>
            <a:r>
              <a:rPr lang="en-US" dirty="0"/>
              <a:t>(Condition)</a:t>
            </a:r>
            <a:endParaRPr lang="ru-RU" dirty="0"/>
          </a:p>
          <a:p>
            <a:r>
              <a:rPr lang="ru-RU" dirty="0"/>
              <a:t>Кратность (</a:t>
            </a:r>
            <a:r>
              <a:rPr lang="en-US" dirty="0"/>
              <a:t>Multiplicity</a:t>
            </a:r>
            <a:r>
              <a:rPr lang="ru-RU" dirty="0"/>
              <a:t>)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0937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0BDD8-9572-402C-B02F-7F9AE721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Актер и вариант использования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7254A-7C7D-43D4-9D04-B49A1925F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Aктер</a:t>
            </a:r>
            <a:r>
              <a:rPr lang="ru-RU" b="1" dirty="0"/>
              <a:t> (</a:t>
            </a:r>
            <a:r>
              <a:rPr lang="ru-RU" b="1" dirty="0" err="1"/>
              <a:t>actor</a:t>
            </a:r>
            <a:r>
              <a:rPr lang="ru-RU" b="1" dirty="0"/>
              <a:t>) </a:t>
            </a:r>
            <a:r>
              <a:rPr lang="ru-RU" dirty="0"/>
              <a:t>– любая сущность, взаимодействующая с системой извне (человек, техническое устройство, программа или любая другая система). 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Вариант использования / Прецедент (</a:t>
            </a:r>
            <a:r>
              <a:rPr lang="ru-RU" b="1" dirty="0" err="1"/>
              <a:t>use</a:t>
            </a:r>
            <a:r>
              <a:rPr lang="ru-RU" b="1" dirty="0"/>
              <a:t> </a:t>
            </a:r>
            <a:r>
              <a:rPr lang="ru-RU" b="1" dirty="0" err="1"/>
              <a:t>case</a:t>
            </a:r>
            <a:r>
              <a:rPr lang="ru-RU" b="1" dirty="0"/>
              <a:t>) </a:t>
            </a:r>
            <a:r>
              <a:rPr lang="ru-RU" dirty="0"/>
              <a:t>служит для описания сервисов, которые система предоставляет актеру. </a:t>
            </a:r>
          </a:p>
          <a:p>
            <a:r>
              <a:rPr lang="ru-RU" dirty="0"/>
              <a:t>Другими словами, каждый вариант использования определяет некоторый набор действий, совершаемый системой при диалоге с актером. При этом ничего не говорится о том, каким образом будет реализовано взаимодействие актеров с системой.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391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Отношения в </a:t>
            </a:r>
            <a:r>
              <a:rPr lang="en-US" dirty="0"/>
              <a:t>Use case diagram</a:t>
            </a:r>
            <a:r>
              <a:rPr lang="ru-RU" dirty="0"/>
              <a:t> </a:t>
            </a:r>
            <a:endParaRPr lang="uk-UA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913147" y="1713857"/>
            <a:ext cx="5106029" cy="444727"/>
          </a:xfrm>
        </p:spPr>
        <p:txBody>
          <a:bodyPr/>
          <a:lstStyle/>
          <a:p>
            <a:r>
              <a:rPr lang="ru-RU" dirty="0"/>
              <a:t>Ассоциация</a:t>
            </a:r>
            <a:endParaRPr lang="uk-UA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6539322" y="1713857"/>
            <a:ext cx="5106029" cy="444727"/>
          </a:xfrm>
        </p:spPr>
        <p:txBody>
          <a:bodyPr/>
          <a:lstStyle/>
          <a:p>
            <a:r>
              <a:rPr lang="ru-RU" dirty="0"/>
              <a:t>Расширение</a:t>
            </a:r>
            <a:endParaRPr lang="uk-UA" dirty="0"/>
          </a:p>
        </p:txBody>
      </p:sp>
      <p:sp>
        <p:nvSpPr>
          <p:cNvPr id="9" name="Текст 4"/>
          <p:cNvSpPr txBox="1">
            <a:spLocks/>
          </p:cNvSpPr>
          <p:nvPr/>
        </p:nvSpPr>
        <p:spPr>
          <a:xfrm>
            <a:off x="913147" y="4572000"/>
            <a:ext cx="5106029" cy="444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cap="all" baseline="0">
                <a:solidFill>
                  <a:schemeClr val="tx2"/>
                </a:solidFill>
              </a:defRPr>
            </a:lvl1pPr>
            <a:lvl2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ru-RU" dirty="0"/>
              <a:t>Обобщение</a:t>
            </a:r>
            <a:endParaRPr lang="uk-UA" dirty="0"/>
          </a:p>
        </p:txBody>
      </p:sp>
      <p:sp>
        <p:nvSpPr>
          <p:cNvPr id="11" name="Текст 5"/>
          <p:cNvSpPr txBox="1">
            <a:spLocks/>
          </p:cNvSpPr>
          <p:nvPr/>
        </p:nvSpPr>
        <p:spPr>
          <a:xfrm>
            <a:off x="6536966" y="4572000"/>
            <a:ext cx="5106029" cy="444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cap="all" baseline="0">
                <a:solidFill>
                  <a:schemeClr val="tx2"/>
                </a:solidFill>
              </a:defRPr>
            </a:lvl1pPr>
            <a:lvl2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indent="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ru-RU" dirty="0"/>
              <a:t>Включение</a:t>
            </a:r>
            <a:endParaRPr lang="uk-UA" dirty="0"/>
          </a:p>
        </p:txBody>
      </p:sp>
      <p:sp>
        <p:nvSpPr>
          <p:cNvPr id="12" name="Овал 11"/>
          <p:cNvSpPr/>
          <p:nvPr/>
        </p:nvSpPr>
        <p:spPr>
          <a:xfrm>
            <a:off x="3516618" y="2501568"/>
            <a:ext cx="2103120" cy="9144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ru-RU" sz="1400" dirty="0"/>
              <a:t>Оформить кредит </a:t>
            </a:r>
          </a:p>
          <a:p>
            <a:pPr algn="ctr"/>
            <a:r>
              <a:rPr lang="ru-RU" sz="1400" dirty="0"/>
              <a:t>для клиента банка</a:t>
            </a:r>
            <a:endParaRPr lang="uk-UA" sz="1400" dirty="0"/>
          </a:p>
        </p:txBody>
      </p:sp>
      <p:grpSp>
        <p:nvGrpSpPr>
          <p:cNvPr id="32" name="Группа 31"/>
          <p:cNvGrpSpPr/>
          <p:nvPr/>
        </p:nvGrpSpPr>
        <p:grpSpPr>
          <a:xfrm>
            <a:off x="913147" y="2258291"/>
            <a:ext cx="529746" cy="1371600"/>
            <a:chOff x="882494" y="2247650"/>
            <a:chExt cx="529746" cy="1558036"/>
          </a:xfrm>
        </p:grpSpPr>
        <p:sp>
          <p:nvSpPr>
            <p:cNvPr id="13" name="Овал 12"/>
            <p:cNvSpPr/>
            <p:nvPr/>
          </p:nvSpPr>
          <p:spPr>
            <a:xfrm>
              <a:off x="913147" y="2247650"/>
              <a:ext cx="457200" cy="519345"/>
            </a:xfrm>
            <a:prstGeom prst="ellips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 sz="1600" dirty="0"/>
            </a:p>
          </p:txBody>
        </p:sp>
        <p:cxnSp>
          <p:nvCxnSpPr>
            <p:cNvPr id="3" name="Прямая соединительная линия 2"/>
            <p:cNvCxnSpPr>
              <a:stCxn id="13" idx="4"/>
            </p:cNvCxnSpPr>
            <p:nvPr/>
          </p:nvCxnSpPr>
          <p:spPr>
            <a:xfrm>
              <a:off x="1141747" y="2766995"/>
              <a:ext cx="0" cy="566157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19" name="Прямая соединительная линия 18"/>
            <p:cNvCxnSpPr/>
            <p:nvPr/>
          </p:nvCxnSpPr>
          <p:spPr>
            <a:xfrm flipV="1">
              <a:off x="882494" y="2964347"/>
              <a:ext cx="529746" cy="5763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 flipH="1">
              <a:off x="1010510" y="3277911"/>
              <a:ext cx="131236" cy="518926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>
              <a:off x="1141746" y="3286760"/>
              <a:ext cx="128016" cy="518926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</p:grpSp>
      <p:sp>
        <p:nvSpPr>
          <p:cNvPr id="35" name="Овал 34"/>
          <p:cNvSpPr/>
          <p:nvPr/>
        </p:nvSpPr>
        <p:spPr>
          <a:xfrm>
            <a:off x="3799472" y="5311508"/>
            <a:ext cx="1828800" cy="9144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ru-RU" sz="1400" dirty="0"/>
              <a:t>Оформить заказ </a:t>
            </a:r>
          </a:p>
          <a:p>
            <a:pPr algn="ctr"/>
            <a:r>
              <a:rPr lang="ru-RU" sz="1400" dirty="0"/>
              <a:t>на покупку лодки</a:t>
            </a:r>
            <a:endParaRPr lang="uk-UA" sz="1400" dirty="0"/>
          </a:p>
        </p:txBody>
      </p:sp>
      <p:sp>
        <p:nvSpPr>
          <p:cNvPr id="36" name="Овал 35"/>
          <p:cNvSpPr/>
          <p:nvPr/>
        </p:nvSpPr>
        <p:spPr>
          <a:xfrm>
            <a:off x="943800" y="5305580"/>
            <a:ext cx="1828800" cy="9144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ru-RU" sz="1400" dirty="0"/>
              <a:t>Оформить заказ </a:t>
            </a:r>
          </a:p>
          <a:p>
            <a:pPr algn="ctr"/>
            <a:r>
              <a:rPr lang="ru-RU" sz="1400" dirty="0"/>
              <a:t>на покупку товара</a:t>
            </a:r>
            <a:endParaRPr lang="uk-UA" sz="1400" dirty="0"/>
          </a:p>
        </p:txBody>
      </p:sp>
      <p:cxnSp>
        <p:nvCxnSpPr>
          <p:cNvPr id="44" name="Прямая соединительная линия 43"/>
          <p:cNvCxnSpPr>
            <a:stCxn id="12" idx="2"/>
          </p:cNvCxnSpPr>
          <p:nvPr/>
        </p:nvCxnSpPr>
        <p:spPr>
          <a:xfrm flipH="1" flipV="1">
            <a:off x="1560443" y="2953469"/>
            <a:ext cx="1956175" cy="52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/>
          <p:cNvSpPr/>
          <p:nvPr/>
        </p:nvSpPr>
        <p:spPr>
          <a:xfrm>
            <a:off x="1374189" y="3108483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1</a:t>
            </a:r>
            <a:endParaRPr lang="uk-UA" dirty="0"/>
          </a:p>
        </p:txBody>
      </p:sp>
      <p:sp>
        <p:nvSpPr>
          <p:cNvPr id="49" name="Прямоугольник 48"/>
          <p:cNvSpPr/>
          <p:nvPr/>
        </p:nvSpPr>
        <p:spPr>
          <a:xfrm>
            <a:off x="3144192" y="3100693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*</a:t>
            </a:r>
            <a:endParaRPr lang="uk-UA" b="1" dirty="0"/>
          </a:p>
        </p:txBody>
      </p:sp>
      <p:cxnSp>
        <p:nvCxnSpPr>
          <p:cNvPr id="51" name="Прямая со стрелкой 50"/>
          <p:cNvCxnSpPr>
            <a:stCxn id="35" idx="2"/>
            <a:endCxn id="36" idx="6"/>
          </p:cNvCxnSpPr>
          <p:nvPr/>
        </p:nvCxnSpPr>
        <p:spPr>
          <a:xfrm flipH="1" flipV="1">
            <a:off x="2772600" y="5762780"/>
            <a:ext cx="1026872" cy="592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53"/>
          <p:cNvSpPr/>
          <p:nvPr/>
        </p:nvSpPr>
        <p:spPr>
          <a:xfrm>
            <a:off x="9439818" y="5311508"/>
            <a:ext cx="1828800" cy="9144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ru-RU" sz="1400" dirty="0"/>
              <a:t>Оформить заказ </a:t>
            </a:r>
          </a:p>
          <a:p>
            <a:pPr algn="ctr"/>
            <a:r>
              <a:rPr lang="ru-RU" sz="1400" dirty="0"/>
              <a:t>на покупку лодки</a:t>
            </a:r>
            <a:endParaRPr lang="uk-UA" sz="1400" dirty="0"/>
          </a:p>
        </p:txBody>
      </p:sp>
      <p:sp>
        <p:nvSpPr>
          <p:cNvPr id="55" name="Овал 54"/>
          <p:cNvSpPr/>
          <p:nvPr/>
        </p:nvSpPr>
        <p:spPr>
          <a:xfrm>
            <a:off x="6584146" y="5305580"/>
            <a:ext cx="1828800" cy="9144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ru-RU" sz="1400" dirty="0"/>
              <a:t>Выписать счет </a:t>
            </a:r>
          </a:p>
          <a:p>
            <a:pPr algn="ctr"/>
            <a:r>
              <a:rPr lang="ru-RU" sz="1400" dirty="0"/>
              <a:t>на оплату лодки</a:t>
            </a:r>
            <a:endParaRPr lang="uk-UA" sz="1400" dirty="0"/>
          </a:p>
        </p:txBody>
      </p:sp>
      <p:cxnSp>
        <p:nvCxnSpPr>
          <p:cNvPr id="56" name="Прямая со стрелкой 55"/>
          <p:cNvCxnSpPr>
            <a:stCxn id="54" idx="2"/>
            <a:endCxn id="55" idx="6"/>
          </p:cNvCxnSpPr>
          <p:nvPr/>
        </p:nvCxnSpPr>
        <p:spPr>
          <a:xfrm flipH="1" flipV="1">
            <a:off x="8412946" y="5762780"/>
            <a:ext cx="1026872" cy="592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Прямоугольник 56"/>
          <p:cNvSpPr/>
          <p:nvPr/>
        </p:nvSpPr>
        <p:spPr>
          <a:xfrm>
            <a:off x="8462953" y="5386339"/>
            <a:ext cx="9268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‘include’</a:t>
            </a:r>
            <a:endParaRPr lang="uk-UA" sz="1400" dirty="0"/>
          </a:p>
        </p:txBody>
      </p:sp>
      <p:sp>
        <p:nvSpPr>
          <p:cNvPr id="58" name="Овал 57"/>
          <p:cNvSpPr/>
          <p:nvPr/>
        </p:nvSpPr>
        <p:spPr>
          <a:xfrm>
            <a:off x="9389810" y="2507496"/>
            <a:ext cx="1828800" cy="9144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ru-RU" sz="1400" dirty="0"/>
              <a:t>Запросить каталог </a:t>
            </a:r>
          </a:p>
          <a:p>
            <a:pPr algn="ctr"/>
            <a:r>
              <a:rPr lang="ru-RU" sz="1400" dirty="0"/>
              <a:t>Всех товаров</a:t>
            </a:r>
            <a:endParaRPr lang="uk-UA" sz="1400" dirty="0"/>
          </a:p>
        </p:txBody>
      </p:sp>
      <p:sp>
        <p:nvSpPr>
          <p:cNvPr id="59" name="Овал 58"/>
          <p:cNvSpPr/>
          <p:nvPr/>
        </p:nvSpPr>
        <p:spPr>
          <a:xfrm>
            <a:off x="6534138" y="2501568"/>
            <a:ext cx="1828800" cy="9144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ru-RU" sz="1400" dirty="0"/>
              <a:t>Оформить заказ </a:t>
            </a:r>
          </a:p>
          <a:p>
            <a:pPr algn="ctr"/>
            <a:r>
              <a:rPr lang="ru-RU" sz="1400" dirty="0"/>
              <a:t>на покупку товара</a:t>
            </a:r>
            <a:endParaRPr lang="uk-UA" sz="1400" dirty="0"/>
          </a:p>
        </p:txBody>
      </p:sp>
      <p:cxnSp>
        <p:nvCxnSpPr>
          <p:cNvPr id="60" name="Прямая со стрелкой 59"/>
          <p:cNvCxnSpPr>
            <a:stCxn id="58" idx="2"/>
            <a:endCxn id="59" idx="6"/>
          </p:cNvCxnSpPr>
          <p:nvPr/>
        </p:nvCxnSpPr>
        <p:spPr>
          <a:xfrm flipH="1" flipV="1">
            <a:off x="8362938" y="2958768"/>
            <a:ext cx="1026872" cy="592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Прямоугольник 60"/>
          <p:cNvSpPr/>
          <p:nvPr/>
        </p:nvSpPr>
        <p:spPr>
          <a:xfrm>
            <a:off x="8427371" y="2575656"/>
            <a:ext cx="8980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‘extend’</a:t>
            </a:r>
            <a:endParaRPr lang="uk-UA" sz="1400" dirty="0"/>
          </a:p>
        </p:txBody>
      </p:sp>
      <p:sp>
        <p:nvSpPr>
          <p:cNvPr id="63" name="Прямоугольник с одним вырезанным углом 62"/>
          <p:cNvSpPr/>
          <p:nvPr/>
        </p:nvSpPr>
        <p:spPr>
          <a:xfrm>
            <a:off x="9399418" y="3816067"/>
            <a:ext cx="1828800" cy="543421"/>
          </a:xfrm>
          <a:prstGeom prst="snip1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ru-RU" sz="1400" dirty="0">
                <a:solidFill>
                  <a:schemeClr val="dk1"/>
                </a:solidFill>
              </a:rPr>
              <a:t>Выдавать каталог </a:t>
            </a:r>
          </a:p>
          <a:p>
            <a:pPr algn="ctr"/>
            <a:r>
              <a:rPr lang="ru-RU" sz="1400" dirty="0">
                <a:solidFill>
                  <a:schemeClr val="dk1"/>
                </a:solidFill>
              </a:rPr>
              <a:t>только по запросу</a:t>
            </a:r>
            <a:endParaRPr lang="uk-UA" sz="1400" dirty="0">
              <a:solidFill>
                <a:schemeClr val="dk1"/>
              </a:solidFill>
            </a:endParaRPr>
          </a:p>
        </p:txBody>
      </p:sp>
      <p:cxnSp>
        <p:nvCxnSpPr>
          <p:cNvPr id="65" name="Прямая соединительная линия 64"/>
          <p:cNvCxnSpPr>
            <a:stCxn id="58" idx="4"/>
            <a:endCxn id="63" idx="3"/>
          </p:cNvCxnSpPr>
          <p:nvPr/>
        </p:nvCxnSpPr>
        <p:spPr>
          <a:xfrm>
            <a:off x="10304210" y="3421896"/>
            <a:ext cx="9608" cy="394171"/>
          </a:xfrm>
          <a:prstGeom prst="line">
            <a:avLst/>
          </a:prstGeom>
          <a:ln w="28575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34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Multiplicity </a:t>
            </a:r>
            <a:r>
              <a:rPr lang="ru-RU" dirty="0"/>
              <a:t> - Кратность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3774" y="1916254"/>
            <a:ext cx="5106026" cy="3902654"/>
          </a:xfrm>
        </p:spPr>
        <p:txBody>
          <a:bodyPr>
            <a:normAutofit/>
          </a:bodyPr>
          <a:lstStyle/>
          <a:p>
            <a:r>
              <a:rPr lang="ru-RU" dirty="0"/>
              <a:t>Общее правило: </a:t>
            </a:r>
            <a:r>
              <a:rPr lang="ru-RU" b="1" dirty="0"/>
              <a:t>М </a:t>
            </a:r>
            <a:r>
              <a:rPr lang="uk-UA" dirty="0"/>
              <a:t>≥ 0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Обозначения:</a:t>
            </a:r>
          </a:p>
          <a:p>
            <a:pPr marL="0" indent="0">
              <a:buNone/>
            </a:pPr>
            <a:r>
              <a:rPr lang="ru-RU" b="1" dirty="0"/>
              <a:t>     Х</a:t>
            </a:r>
            <a:r>
              <a:rPr lang="en-US" b="1" dirty="0"/>
              <a:t> </a:t>
            </a:r>
            <a:r>
              <a:rPr lang="ru-RU" b="1" dirty="0"/>
              <a:t> </a:t>
            </a:r>
            <a:r>
              <a:rPr lang="ru-RU" dirty="0"/>
              <a:t>означает</a:t>
            </a:r>
            <a:r>
              <a:rPr lang="en-US" dirty="0"/>
              <a:t>  M </a:t>
            </a:r>
            <a:r>
              <a:rPr lang="ru-RU" dirty="0"/>
              <a:t>= Х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     Х</a:t>
            </a:r>
            <a:r>
              <a:rPr lang="en-US" b="1" dirty="0"/>
              <a:t> . . Y </a:t>
            </a:r>
            <a:r>
              <a:rPr lang="ru-RU" dirty="0"/>
              <a:t>означает</a:t>
            </a:r>
            <a:r>
              <a:rPr lang="en-US" dirty="0"/>
              <a:t>  X </a:t>
            </a:r>
            <a:r>
              <a:rPr lang="uk-UA" dirty="0"/>
              <a:t>≤</a:t>
            </a:r>
            <a:r>
              <a:rPr lang="en-US" dirty="0"/>
              <a:t> M </a:t>
            </a:r>
            <a:r>
              <a:rPr lang="uk-UA" dirty="0"/>
              <a:t>≤</a:t>
            </a:r>
            <a:r>
              <a:rPr lang="en-US" dirty="0"/>
              <a:t> Y</a:t>
            </a:r>
            <a:r>
              <a:rPr lang="uk-UA" dirty="0"/>
              <a:t> 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     Х</a:t>
            </a:r>
            <a:r>
              <a:rPr lang="en-US" b="1" dirty="0"/>
              <a:t> . . </a:t>
            </a:r>
            <a:r>
              <a:rPr lang="ru-RU" b="1" dirty="0"/>
              <a:t>*</a:t>
            </a:r>
            <a:r>
              <a:rPr lang="en-US" b="1" dirty="0"/>
              <a:t> </a:t>
            </a:r>
            <a:r>
              <a:rPr lang="ru-RU" dirty="0"/>
              <a:t>означает</a:t>
            </a:r>
            <a:r>
              <a:rPr lang="en-US" dirty="0"/>
              <a:t>  M </a:t>
            </a:r>
            <a:r>
              <a:rPr lang="uk-UA" dirty="0"/>
              <a:t>≥ Х</a:t>
            </a:r>
          </a:p>
          <a:p>
            <a:pPr marL="0" indent="0">
              <a:buNone/>
            </a:pPr>
            <a:r>
              <a:rPr lang="ru-RU" b="1" dirty="0"/>
              <a:t>     *</a:t>
            </a:r>
            <a:r>
              <a:rPr lang="en-US" b="1" dirty="0"/>
              <a:t> </a:t>
            </a:r>
            <a:r>
              <a:rPr lang="ru-RU" dirty="0"/>
              <a:t>или</a:t>
            </a:r>
            <a:r>
              <a:rPr lang="ru-RU" b="1" dirty="0"/>
              <a:t> 0</a:t>
            </a:r>
            <a:r>
              <a:rPr lang="en-US" b="1" dirty="0"/>
              <a:t> . . </a:t>
            </a:r>
            <a:r>
              <a:rPr lang="ru-RU" b="1" dirty="0"/>
              <a:t>*</a:t>
            </a:r>
            <a:r>
              <a:rPr lang="en-US" b="1" dirty="0"/>
              <a:t> </a:t>
            </a:r>
            <a:r>
              <a:rPr lang="ru-RU" b="1" dirty="0"/>
              <a:t> </a:t>
            </a:r>
            <a:r>
              <a:rPr lang="ru-RU" dirty="0"/>
              <a:t>означает</a:t>
            </a:r>
            <a:r>
              <a:rPr lang="en-US" dirty="0"/>
              <a:t>  M </a:t>
            </a:r>
            <a:r>
              <a:rPr lang="uk-UA" dirty="0"/>
              <a:t>≥ 0</a:t>
            </a:r>
          </a:p>
          <a:p>
            <a:pPr marL="0" indent="0">
              <a:buNone/>
            </a:pPr>
            <a:endParaRPr lang="uk-UA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172826" y="3691466"/>
            <a:ext cx="5105400" cy="21370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каждый отдельный клиент банка может оформить для себя несколько кредитов, при этом их общее число заранее неизвестно и ничем не ограничивается. При этом некоторые клиенты могут совсем не иметь оформленных на свое имя кредитов (вариант значения 0).</a:t>
            </a:r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1916254"/>
            <a:ext cx="4562007" cy="124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6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385" y="628068"/>
            <a:ext cx="6867543" cy="5608493"/>
          </a:xfrm>
        </p:spPr>
      </p:pic>
    </p:spTree>
    <p:extLst>
      <p:ext uri="{BB962C8B-B14F-4D97-AF65-F5344CB8AC3E}">
        <p14:creationId xmlns:p14="http://schemas.microsoft.com/office/powerpoint/2010/main" val="4187212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se-case-extend-example">
            <a:extLst>
              <a:ext uri="{FF2B5EF4-FFF2-40B4-BE49-F238E27FC236}">
                <a16:creationId xmlns:a16="http://schemas.microsoft.com/office/drawing/2014/main" id="{85B044CA-DE41-6346-A429-C48296FC1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667" y="67732"/>
            <a:ext cx="8771466" cy="626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761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r>
              <a:rPr lang="en-US" sz="4400" dirty="0"/>
              <a:t>Activity diagram</a:t>
            </a:r>
            <a:endParaRPr lang="uk-UA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sz="2400" dirty="0"/>
              <a:t>Диаграмма деятельности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982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C55A-4208-4072-94BC-18D10D1A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diagram - </a:t>
            </a:r>
            <a:r>
              <a:rPr lang="ru-RU" dirty="0"/>
              <a:t>диаграмма</a:t>
            </a:r>
            <a:r>
              <a:rPr lang="uk-UA" dirty="0"/>
              <a:t> </a:t>
            </a:r>
            <a:r>
              <a:rPr lang="ru-RU" dirty="0"/>
              <a:t>деятельности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1764-143B-444A-B686-D8D837D66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— диаграмма, на которой показано разложение некоторой деятельности на её составные части.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015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1097280" y="249658"/>
            <a:ext cx="10058400" cy="1450757"/>
          </a:xfrm>
        </p:spPr>
        <p:txBody>
          <a:bodyPr/>
          <a:lstStyle/>
          <a:p>
            <a:r>
              <a:rPr lang="ru-RU" dirty="0"/>
              <a:t>Элементы </a:t>
            </a:r>
            <a:r>
              <a:rPr lang="en-US" dirty="0"/>
              <a:t>Activity diagram</a:t>
            </a:r>
            <a:r>
              <a:rPr lang="ru-RU" dirty="0"/>
              <a:t> </a:t>
            </a:r>
            <a:endParaRPr lang="uk-UA" dirty="0"/>
          </a:p>
        </p:txBody>
      </p:sp>
      <p:sp>
        <p:nvSpPr>
          <p:cNvPr id="4" name="Овал 3"/>
          <p:cNvSpPr/>
          <p:nvPr/>
        </p:nvSpPr>
        <p:spPr>
          <a:xfrm>
            <a:off x="1485276" y="5716884"/>
            <a:ext cx="457200" cy="4572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Овал 4"/>
          <p:cNvSpPr/>
          <p:nvPr/>
        </p:nvSpPr>
        <p:spPr>
          <a:xfrm>
            <a:off x="1515092" y="1858819"/>
            <a:ext cx="457200" cy="457200"/>
          </a:xfrm>
          <a:prstGeom prst="ellipse">
            <a:avLst/>
          </a:prstGeom>
          <a:solidFill>
            <a:srgbClr val="0F79C1"/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Овал 5"/>
          <p:cNvSpPr/>
          <p:nvPr/>
        </p:nvSpPr>
        <p:spPr>
          <a:xfrm>
            <a:off x="1553856" y="5782482"/>
            <a:ext cx="320040" cy="320040"/>
          </a:xfrm>
          <a:prstGeom prst="ellipse">
            <a:avLst/>
          </a:prstGeom>
          <a:solidFill>
            <a:srgbClr val="0F79C1"/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943592" y="2514600"/>
            <a:ext cx="1600200" cy="685800"/>
          </a:xfrm>
          <a:prstGeom prst="round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Activity</a:t>
            </a:r>
            <a:endParaRPr lang="uk-UA" sz="1600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938962" y="3651673"/>
            <a:ext cx="1600200" cy="5927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V="1">
            <a:off x="907496" y="5245946"/>
            <a:ext cx="1600200" cy="16669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Левая фигурная скобка 14"/>
          <p:cNvSpPr/>
          <p:nvPr/>
        </p:nvSpPr>
        <p:spPr>
          <a:xfrm>
            <a:off x="2946953" y="1858819"/>
            <a:ext cx="129208" cy="4572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Левая фигурная скобка 15"/>
          <p:cNvSpPr/>
          <p:nvPr/>
        </p:nvSpPr>
        <p:spPr>
          <a:xfrm>
            <a:off x="2946953" y="3431408"/>
            <a:ext cx="129208" cy="4572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Левая фигурная скобка 16"/>
          <p:cNvSpPr/>
          <p:nvPr/>
        </p:nvSpPr>
        <p:spPr>
          <a:xfrm>
            <a:off x="2946953" y="5025680"/>
            <a:ext cx="129208" cy="4572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Левая фигурная скобка 17"/>
          <p:cNvSpPr/>
          <p:nvPr/>
        </p:nvSpPr>
        <p:spPr>
          <a:xfrm>
            <a:off x="2948573" y="5711480"/>
            <a:ext cx="129208" cy="4572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Левая фигурная скобка 18"/>
          <p:cNvSpPr/>
          <p:nvPr/>
        </p:nvSpPr>
        <p:spPr>
          <a:xfrm>
            <a:off x="2946953" y="2514600"/>
            <a:ext cx="129208" cy="6858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0" name="Левая фигурная скобка 19"/>
          <p:cNvSpPr/>
          <p:nvPr/>
        </p:nvSpPr>
        <p:spPr>
          <a:xfrm>
            <a:off x="2946953" y="4108873"/>
            <a:ext cx="129208" cy="6858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Прямоугольник 20"/>
          <p:cNvSpPr/>
          <p:nvPr/>
        </p:nvSpPr>
        <p:spPr>
          <a:xfrm>
            <a:off x="3288610" y="3490731"/>
            <a:ext cx="1412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Control flow</a:t>
            </a:r>
            <a:endParaRPr lang="uk-UA" sz="1600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3288610" y="1918142"/>
            <a:ext cx="12089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Start node</a:t>
            </a:r>
            <a:endParaRPr lang="uk-UA" sz="16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3288610" y="2685054"/>
            <a:ext cx="26581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Single action or behavior</a:t>
            </a:r>
            <a:endParaRPr lang="uk-UA" sz="16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3273602" y="4152214"/>
            <a:ext cx="2175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State characteristics</a:t>
            </a:r>
          </a:p>
          <a:p>
            <a:r>
              <a:rPr lang="en-US" sz="1600" dirty="0"/>
              <a:t>of an object</a:t>
            </a:r>
            <a:endParaRPr lang="uk-UA" sz="1600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3288609" y="5085003"/>
            <a:ext cx="11256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Sequence</a:t>
            </a:r>
            <a:endParaRPr lang="uk-UA" sz="1600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3288608" y="5770803"/>
            <a:ext cx="19880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Final activity node</a:t>
            </a:r>
            <a:endParaRPr lang="uk-UA" sz="1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CF4030-86FC-4F90-A439-11A7CF0C6B60}"/>
              </a:ext>
            </a:extLst>
          </p:cNvPr>
          <p:cNvGrpSpPr>
            <a:grpSpLocks noChangeAspect="1"/>
          </p:cNvGrpSpPr>
          <p:nvPr/>
        </p:nvGrpSpPr>
        <p:grpSpPr>
          <a:xfrm>
            <a:off x="6806591" y="1823877"/>
            <a:ext cx="1041324" cy="720000"/>
            <a:chOff x="6695871" y="1432655"/>
            <a:chExt cx="1600197" cy="1106420"/>
          </a:xfrm>
        </p:grpSpPr>
        <p:sp>
          <p:nvSpPr>
            <p:cNvPr id="28" name="Ромб 27"/>
            <p:cNvSpPr/>
            <p:nvPr/>
          </p:nvSpPr>
          <p:spPr>
            <a:xfrm>
              <a:off x="7153069" y="1738976"/>
              <a:ext cx="685800" cy="685800"/>
            </a:xfrm>
            <a:prstGeom prst="diamond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 sz="1400" dirty="0"/>
            </a:p>
          </p:txBody>
        </p:sp>
        <p:cxnSp>
          <p:nvCxnSpPr>
            <p:cNvPr id="30" name="Прямая со стрелкой 29"/>
            <p:cNvCxnSpPr>
              <a:cxnSpLocks/>
              <a:endCxn id="28" idx="0"/>
            </p:cNvCxnSpPr>
            <p:nvPr/>
          </p:nvCxnSpPr>
          <p:spPr>
            <a:xfrm>
              <a:off x="7495969" y="1432655"/>
              <a:ext cx="0" cy="30632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Соединительная линия уступом 39"/>
            <p:cNvCxnSpPr>
              <a:cxnSpLocks/>
              <a:stCxn id="28" idx="3"/>
            </p:cNvCxnSpPr>
            <p:nvPr/>
          </p:nvCxnSpPr>
          <p:spPr>
            <a:xfrm>
              <a:off x="7838868" y="2081875"/>
              <a:ext cx="457200" cy="457200"/>
            </a:xfrm>
            <a:prstGeom prst="bentConnector2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Соединительная линия уступом 40"/>
            <p:cNvCxnSpPr>
              <a:cxnSpLocks/>
              <a:stCxn id="28" idx="1"/>
            </p:cNvCxnSpPr>
            <p:nvPr/>
          </p:nvCxnSpPr>
          <p:spPr>
            <a:xfrm rot="10800000" flipV="1">
              <a:off x="6695871" y="2081876"/>
              <a:ext cx="457199" cy="451606"/>
            </a:xfrm>
            <a:prstGeom prst="bentConnector3">
              <a:avLst>
                <a:gd name="adj1" fmla="val 10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Группа 62"/>
          <p:cNvGrpSpPr>
            <a:grpSpLocks noChangeAspect="1"/>
          </p:cNvGrpSpPr>
          <p:nvPr/>
        </p:nvGrpSpPr>
        <p:grpSpPr>
          <a:xfrm>
            <a:off x="6846381" y="3121330"/>
            <a:ext cx="943194" cy="720000"/>
            <a:chOff x="6791217" y="2846731"/>
            <a:chExt cx="1600197" cy="1221532"/>
          </a:xfrm>
          <a:scene3d>
            <a:camera prst="orthographicFront">
              <a:rot lat="10800000" lon="0" rev="0"/>
            </a:camera>
            <a:lightRig rig="threePt" dir="t"/>
          </a:scene3d>
        </p:grpSpPr>
        <p:sp>
          <p:nvSpPr>
            <p:cNvPr id="58" name="Ромб 57"/>
            <p:cNvSpPr/>
            <p:nvPr/>
          </p:nvSpPr>
          <p:spPr>
            <a:xfrm>
              <a:off x="7248415" y="3268164"/>
              <a:ext cx="685800" cy="685800"/>
            </a:xfrm>
            <a:prstGeom prst="diamond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 sz="1400" dirty="0"/>
            </a:p>
          </p:txBody>
        </p:sp>
        <p:cxnSp>
          <p:nvCxnSpPr>
            <p:cNvPr id="59" name="Прямая со стрелкой 58"/>
            <p:cNvCxnSpPr>
              <a:endCxn id="58" idx="0"/>
            </p:cNvCxnSpPr>
            <p:nvPr/>
          </p:nvCxnSpPr>
          <p:spPr>
            <a:xfrm>
              <a:off x="7591315" y="2846731"/>
              <a:ext cx="0" cy="421433"/>
            </a:xfrm>
            <a:prstGeom prst="straightConnector1">
              <a:avLst/>
            </a:prstGeom>
            <a:ln w="28575">
              <a:solidFill>
                <a:srgbClr val="0F79C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Соединительная линия уступом 59"/>
            <p:cNvCxnSpPr>
              <a:stCxn id="58" idx="3"/>
            </p:cNvCxnSpPr>
            <p:nvPr/>
          </p:nvCxnSpPr>
          <p:spPr>
            <a:xfrm>
              <a:off x="7934214" y="3611063"/>
              <a:ext cx="457200" cy="457200"/>
            </a:xfrm>
            <a:prstGeom prst="bentConnector2">
              <a:avLst/>
            </a:prstGeom>
            <a:ln w="28575">
              <a:solidFill>
                <a:srgbClr val="0F79C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Соединительная линия уступом 60"/>
            <p:cNvCxnSpPr>
              <a:stCxn id="58" idx="1"/>
            </p:cNvCxnSpPr>
            <p:nvPr/>
          </p:nvCxnSpPr>
          <p:spPr>
            <a:xfrm rot="10800000" flipV="1">
              <a:off x="6791217" y="3611064"/>
              <a:ext cx="457199" cy="451606"/>
            </a:xfrm>
            <a:prstGeom prst="bentConnector3">
              <a:avLst>
                <a:gd name="adj1" fmla="val 100000"/>
              </a:avLst>
            </a:prstGeom>
            <a:ln w="28575">
              <a:solidFill>
                <a:srgbClr val="0F79C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8075339-4ACF-436D-83CC-3145C39497DB}"/>
              </a:ext>
            </a:extLst>
          </p:cNvPr>
          <p:cNvGrpSpPr/>
          <p:nvPr/>
        </p:nvGrpSpPr>
        <p:grpSpPr>
          <a:xfrm>
            <a:off x="6846381" y="4067628"/>
            <a:ext cx="943200" cy="807531"/>
            <a:chOff x="7024831" y="4490218"/>
            <a:chExt cx="1600200" cy="807531"/>
          </a:xfrm>
        </p:grpSpPr>
        <p:cxnSp>
          <p:nvCxnSpPr>
            <p:cNvPr id="29" name="Прямая со стрелкой 28"/>
            <p:cNvCxnSpPr/>
            <p:nvPr/>
          </p:nvCxnSpPr>
          <p:spPr>
            <a:xfrm>
              <a:off x="7024831" y="4911651"/>
              <a:ext cx="1600200" cy="5927"/>
            </a:xfrm>
            <a:prstGeom prst="straightConnector1">
              <a:avLst/>
            </a:prstGeom>
            <a:ln w="28575">
              <a:solidFill>
                <a:srgbClr val="0F79C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/>
            <p:cNvCxnSpPr/>
            <p:nvPr/>
          </p:nvCxnSpPr>
          <p:spPr>
            <a:xfrm>
              <a:off x="7800673" y="4490218"/>
              <a:ext cx="0" cy="421433"/>
            </a:xfrm>
            <a:prstGeom prst="straightConnector1">
              <a:avLst/>
            </a:prstGeom>
            <a:ln w="28575">
              <a:solidFill>
                <a:srgbClr val="0F79C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/>
            <p:cNvCxnSpPr/>
            <p:nvPr/>
          </p:nvCxnSpPr>
          <p:spPr>
            <a:xfrm>
              <a:off x="7415170" y="4911651"/>
              <a:ext cx="0" cy="386098"/>
            </a:xfrm>
            <a:prstGeom prst="straightConnector1">
              <a:avLst/>
            </a:prstGeom>
            <a:ln w="28575">
              <a:solidFill>
                <a:srgbClr val="0F79C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7">
              <a:extLst>
                <a:ext uri="{FF2B5EF4-FFF2-40B4-BE49-F238E27FC236}">
                  <a16:creationId xmlns:a16="http://schemas.microsoft.com/office/drawing/2014/main" id="{E8C7891F-A774-438A-BECF-D33C969782D3}"/>
                </a:ext>
              </a:extLst>
            </p:cNvPr>
            <p:cNvCxnSpPr/>
            <p:nvPr/>
          </p:nvCxnSpPr>
          <p:spPr>
            <a:xfrm>
              <a:off x="8169435" y="4911651"/>
              <a:ext cx="0" cy="386098"/>
            </a:xfrm>
            <a:prstGeom prst="straightConnector1">
              <a:avLst/>
            </a:prstGeom>
            <a:ln w="28575">
              <a:solidFill>
                <a:srgbClr val="0F79C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A07910D-4CD8-4424-A620-762E235F3204}"/>
              </a:ext>
            </a:extLst>
          </p:cNvPr>
          <p:cNvGrpSpPr/>
          <p:nvPr/>
        </p:nvGrpSpPr>
        <p:grpSpPr>
          <a:xfrm rot="10800000">
            <a:off x="6846382" y="5273946"/>
            <a:ext cx="943200" cy="807531"/>
            <a:chOff x="7024831" y="4490218"/>
            <a:chExt cx="1600200" cy="807531"/>
          </a:xfrm>
        </p:grpSpPr>
        <p:cxnSp>
          <p:nvCxnSpPr>
            <p:cNvPr id="48" name="Прямая со стрелкой 28">
              <a:extLst>
                <a:ext uri="{FF2B5EF4-FFF2-40B4-BE49-F238E27FC236}">
                  <a16:creationId xmlns:a16="http://schemas.microsoft.com/office/drawing/2014/main" id="{B1CD7D96-7DCB-42BF-AEAD-E2AAE5ED7950}"/>
                </a:ext>
              </a:extLst>
            </p:cNvPr>
            <p:cNvCxnSpPr/>
            <p:nvPr/>
          </p:nvCxnSpPr>
          <p:spPr>
            <a:xfrm>
              <a:off x="7024831" y="4911651"/>
              <a:ext cx="1600200" cy="5927"/>
            </a:xfrm>
            <a:prstGeom prst="straightConnector1">
              <a:avLst/>
            </a:prstGeom>
            <a:ln w="28575">
              <a:solidFill>
                <a:srgbClr val="0F79C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 стрелкой 36">
              <a:extLst>
                <a:ext uri="{FF2B5EF4-FFF2-40B4-BE49-F238E27FC236}">
                  <a16:creationId xmlns:a16="http://schemas.microsoft.com/office/drawing/2014/main" id="{CD35349E-56F3-47B0-A70B-09357026A9A3}"/>
                </a:ext>
              </a:extLst>
            </p:cNvPr>
            <p:cNvCxnSpPr/>
            <p:nvPr/>
          </p:nvCxnSpPr>
          <p:spPr>
            <a:xfrm>
              <a:off x="7800673" y="4490218"/>
              <a:ext cx="0" cy="421433"/>
            </a:xfrm>
            <a:prstGeom prst="straightConnector1">
              <a:avLst/>
            </a:prstGeom>
            <a:ln w="28575">
              <a:solidFill>
                <a:srgbClr val="0F79C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 стрелкой 37">
              <a:extLst>
                <a:ext uri="{FF2B5EF4-FFF2-40B4-BE49-F238E27FC236}">
                  <a16:creationId xmlns:a16="http://schemas.microsoft.com/office/drawing/2014/main" id="{8C6B98F9-76D3-4160-ABDC-99A563BBBD72}"/>
                </a:ext>
              </a:extLst>
            </p:cNvPr>
            <p:cNvCxnSpPr/>
            <p:nvPr/>
          </p:nvCxnSpPr>
          <p:spPr>
            <a:xfrm>
              <a:off x="7415170" y="4911651"/>
              <a:ext cx="0" cy="386098"/>
            </a:xfrm>
            <a:prstGeom prst="straightConnector1">
              <a:avLst/>
            </a:prstGeom>
            <a:ln w="28575">
              <a:solidFill>
                <a:srgbClr val="0F79C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 стрелкой 37">
              <a:extLst>
                <a:ext uri="{FF2B5EF4-FFF2-40B4-BE49-F238E27FC236}">
                  <a16:creationId xmlns:a16="http://schemas.microsoft.com/office/drawing/2014/main" id="{FC70A641-AAE5-4BD0-9953-3E5E7A820D52}"/>
                </a:ext>
              </a:extLst>
            </p:cNvPr>
            <p:cNvCxnSpPr/>
            <p:nvPr/>
          </p:nvCxnSpPr>
          <p:spPr>
            <a:xfrm>
              <a:off x="8169435" y="4911651"/>
              <a:ext cx="0" cy="386098"/>
            </a:xfrm>
            <a:prstGeom prst="straightConnector1">
              <a:avLst/>
            </a:prstGeom>
            <a:ln w="28575">
              <a:solidFill>
                <a:srgbClr val="0F79C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Левая фигурная скобка 18">
            <a:extLst>
              <a:ext uri="{FF2B5EF4-FFF2-40B4-BE49-F238E27FC236}">
                <a16:creationId xmlns:a16="http://schemas.microsoft.com/office/drawing/2014/main" id="{B375F50E-4CAE-404B-851E-94C447D3D61C}"/>
              </a:ext>
            </a:extLst>
          </p:cNvPr>
          <p:cNvSpPr/>
          <p:nvPr/>
        </p:nvSpPr>
        <p:spPr>
          <a:xfrm>
            <a:off x="8449063" y="2986360"/>
            <a:ext cx="129208" cy="6858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3" name="Прямоугольник 22">
            <a:extLst>
              <a:ext uri="{FF2B5EF4-FFF2-40B4-BE49-F238E27FC236}">
                <a16:creationId xmlns:a16="http://schemas.microsoft.com/office/drawing/2014/main" id="{8016E7B9-4412-4037-AE23-5C15F4575E35}"/>
              </a:ext>
            </a:extLst>
          </p:cNvPr>
          <p:cNvSpPr/>
          <p:nvPr/>
        </p:nvSpPr>
        <p:spPr>
          <a:xfrm>
            <a:off x="8790720" y="3156814"/>
            <a:ext cx="11920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Merge node</a:t>
            </a:r>
            <a:endParaRPr lang="uk-UA" sz="1600" dirty="0"/>
          </a:p>
        </p:txBody>
      </p:sp>
      <p:sp>
        <p:nvSpPr>
          <p:cNvPr id="54" name="Левая фигурная скобка 18">
            <a:extLst>
              <a:ext uri="{FF2B5EF4-FFF2-40B4-BE49-F238E27FC236}">
                <a16:creationId xmlns:a16="http://schemas.microsoft.com/office/drawing/2014/main" id="{D1FD094E-7150-44FA-8C4E-668BCE5B09ED}"/>
              </a:ext>
            </a:extLst>
          </p:cNvPr>
          <p:cNvSpPr/>
          <p:nvPr/>
        </p:nvSpPr>
        <p:spPr>
          <a:xfrm>
            <a:off x="8455050" y="1862945"/>
            <a:ext cx="129208" cy="6858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5" name="Прямоугольник 22">
            <a:extLst>
              <a:ext uri="{FF2B5EF4-FFF2-40B4-BE49-F238E27FC236}">
                <a16:creationId xmlns:a16="http://schemas.microsoft.com/office/drawing/2014/main" id="{C3C09D38-F94B-4541-91DE-808E9ACE46B2}"/>
              </a:ext>
            </a:extLst>
          </p:cNvPr>
          <p:cNvSpPr/>
          <p:nvPr/>
        </p:nvSpPr>
        <p:spPr>
          <a:xfrm>
            <a:off x="8796707" y="2033399"/>
            <a:ext cx="13051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Decision node</a:t>
            </a:r>
            <a:endParaRPr lang="uk-UA" sz="1600" dirty="0"/>
          </a:p>
        </p:txBody>
      </p:sp>
      <p:sp>
        <p:nvSpPr>
          <p:cNvPr id="56" name="Левая фигурная скобка 18">
            <a:extLst>
              <a:ext uri="{FF2B5EF4-FFF2-40B4-BE49-F238E27FC236}">
                <a16:creationId xmlns:a16="http://schemas.microsoft.com/office/drawing/2014/main" id="{DDC330B5-D0E5-4E0F-AD77-7CB152C17C7A}"/>
              </a:ext>
            </a:extLst>
          </p:cNvPr>
          <p:cNvSpPr/>
          <p:nvPr/>
        </p:nvSpPr>
        <p:spPr>
          <a:xfrm>
            <a:off x="8453217" y="4114652"/>
            <a:ext cx="129208" cy="6858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7" name="Прямоугольник 22">
            <a:extLst>
              <a:ext uri="{FF2B5EF4-FFF2-40B4-BE49-F238E27FC236}">
                <a16:creationId xmlns:a16="http://schemas.microsoft.com/office/drawing/2014/main" id="{7821E4F1-11DD-47FF-ACC3-CFA8A0180E76}"/>
              </a:ext>
            </a:extLst>
          </p:cNvPr>
          <p:cNvSpPr/>
          <p:nvPr/>
        </p:nvSpPr>
        <p:spPr>
          <a:xfrm>
            <a:off x="8794874" y="4285106"/>
            <a:ext cx="5378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Fork</a:t>
            </a:r>
            <a:endParaRPr lang="uk-UA" sz="1600" dirty="0"/>
          </a:p>
        </p:txBody>
      </p:sp>
      <p:sp>
        <p:nvSpPr>
          <p:cNvPr id="62" name="Левая фигурная скобка 18">
            <a:extLst>
              <a:ext uri="{FF2B5EF4-FFF2-40B4-BE49-F238E27FC236}">
                <a16:creationId xmlns:a16="http://schemas.microsoft.com/office/drawing/2014/main" id="{06F7081A-5280-4FA0-ABD3-19C22B77E3AF}"/>
              </a:ext>
            </a:extLst>
          </p:cNvPr>
          <p:cNvSpPr/>
          <p:nvPr/>
        </p:nvSpPr>
        <p:spPr>
          <a:xfrm>
            <a:off x="8471634" y="5311217"/>
            <a:ext cx="129208" cy="685800"/>
          </a:xfrm>
          <a:prstGeom prst="leftBrace">
            <a:avLst/>
          </a:prstGeom>
          <a:ln w="28575"/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4" name="Прямоугольник 22">
            <a:extLst>
              <a:ext uri="{FF2B5EF4-FFF2-40B4-BE49-F238E27FC236}">
                <a16:creationId xmlns:a16="http://schemas.microsoft.com/office/drawing/2014/main" id="{B9350663-B86F-486C-8BD3-FDFE79355390}"/>
              </a:ext>
            </a:extLst>
          </p:cNvPr>
          <p:cNvSpPr/>
          <p:nvPr/>
        </p:nvSpPr>
        <p:spPr>
          <a:xfrm>
            <a:off x="8794874" y="5466995"/>
            <a:ext cx="4984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Join</a:t>
            </a:r>
            <a:endParaRPr lang="uk-UA" sz="1600" dirty="0"/>
          </a:p>
        </p:txBody>
      </p:sp>
      <p:sp>
        <p:nvSpPr>
          <p:cNvPr id="65" name="Овал 6">
            <a:extLst>
              <a:ext uri="{FF2B5EF4-FFF2-40B4-BE49-F238E27FC236}">
                <a16:creationId xmlns:a16="http://schemas.microsoft.com/office/drawing/2014/main" id="{AF8B425C-254C-4542-9E09-7BF1F1CD70DF}"/>
              </a:ext>
            </a:extLst>
          </p:cNvPr>
          <p:cNvSpPr/>
          <p:nvPr/>
        </p:nvSpPr>
        <p:spPr>
          <a:xfrm>
            <a:off x="941107" y="4101701"/>
            <a:ext cx="1600200" cy="685800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u="sng" dirty="0"/>
              <a:t>Object</a:t>
            </a:r>
          </a:p>
          <a:p>
            <a:pPr algn="ctr"/>
            <a:r>
              <a:rPr lang="en-US" sz="1400" dirty="0"/>
              <a:t>[State]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3408386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Элементы </a:t>
            </a:r>
            <a:r>
              <a:rPr lang="en-US" dirty="0"/>
              <a:t>Activity diagram</a:t>
            </a:r>
            <a:r>
              <a:rPr lang="ru-RU" dirty="0"/>
              <a:t> </a:t>
            </a:r>
            <a:endParaRPr lang="uk-U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D82538-FA3C-4FAF-B7B6-AD0055CF13FE}"/>
              </a:ext>
            </a:extLst>
          </p:cNvPr>
          <p:cNvSpPr/>
          <p:nvPr/>
        </p:nvSpPr>
        <p:spPr>
          <a:xfrm>
            <a:off x="729205" y="1628470"/>
            <a:ext cx="1203767" cy="4100998"/>
          </a:xfrm>
          <a:prstGeom prst="rect">
            <a:avLst/>
          </a:prstGeom>
          <a:solidFill>
            <a:srgbClr val="0F79C1">
              <a:alpha val="10000"/>
            </a:srgbClr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dk1"/>
                </a:solidFill>
              </a:rPr>
              <a:t>Swimlane / Pool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0EE88-619C-4EEE-8D5F-C1703365DE11}"/>
              </a:ext>
            </a:extLst>
          </p:cNvPr>
          <p:cNvSpPr/>
          <p:nvPr/>
        </p:nvSpPr>
        <p:spPr>
          <a:xfrm>
            <a:off x="2546430" y="2002420"/>
            <a:ext cx="1203767" cy="3727048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dk1"/>
                </a:solidFill>
              </a:rPr>
              <a:t>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4494D-699E-4DCC-87DE-6D6C05B50335}"/>
              </a:ext>
            </a:extLst>
          </p:cNvPr>
          <p:cNvSpPr/>
          <p:nvPr/>
        </p:nvSpPr>
        <p:spPr>
          <a:xfrm>
            <a:off x="2546431" y="1628470"/>
            <a:ext cx="2407532" cy="373950"/>
          </a:xfrm>
          <a:prstGeom prst="rect">
            <a:avLst/>
          </a:prstGeom>
          <a:solidFill>
            <a:srgbClr val="0F79C1">
              <a:alpha val="10000"/>
            </a:srgbClr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/>
              <a:t>Name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0FBF0D-A6DD-457E-BC73-B7442C8989C0}"/>
              </a:ext>
            </a:extLst>
          </p:cNvPr>
          <p:cNvSpPr/>
          <p:nvPr/>
        </p:nvSpPr>
        <p:spPr>
          <a:xfrm>
            <a:off x="3750196" y="2002420"/>
            <a:ext cx="1203767" cy="3727048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dk1"/>
                </a:solidFill>
              </a:rPr>
              <a:t>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BAC279-D2B6-4964-9BF2-22FA48CA2AB9}"/>
              </a:ext>
            </a:extLst>
          </p:cNvPr>
          <p:cNvSpPr/>
          <p:nvPr/>
        </p:nvSpPr>
        <p:spPr>
          <a:xfrm>
            <a:off x="7238039" y="1628470"/>
            <a:ext cx="4224756" cy="1218902"/>
          </a:xfrm>
          <a:prstGeom prst="rect">
            <a:avLst/>
          </a:prstGeom>
          <a:solidFill>
            <a:srgbClr val="0F79C1">
              <a:alpha val="10000"/>
            </a:srgbClr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270" lIns="18000" rtlCol="0" anchor="t" anchorCtr="1"/>
          <a:lstStyle/>
          <a:p>
            <a:pPr algn="ctr"/>
            <a:r>
              <a:rPr lang="en-US" sz="1600"/>
              <a:t>Swimlane / Pool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FEDEA3-5EEC-495D-BBCD-1E7CF7D61FE3}"/>
              </a:ext>
            </a:extLst>
          </p:cNvPr>
          <p:cNvSpPr/>
          <p:nvPr/>
        </p:nvSpPr>
        <p:spPr>
          <a:xfrm>
            <a:off x="7569843" y="3325671"/>
            <a:ext cx="3896810" cy="1218902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270" lIns="18000" rtlCol="0" anchor="t" anchorCtr="1"/>
          <a:lstStyle/>
          <a:p>
            <a:pPr algn="ctr"/>
            <a:r>
              <a:rPr lang="en-US" sz="1600"/>
              <a:t>Name</a:t>
            </a: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59089-6AD3-4FD4-8DCE-7238F887572F}"/>
              </a:ext>
            </a:extLst>
          </p:cNvPr>
          <p:cNvSpPr/>
          <p:nvPr/>
        </p:nvSpPr>
        <p:spPr>
          <a:xfrm>
            <a:off x="7565985" y="4544573"/>
            <a:ext cx="3896810" cy="1218902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270" lIns="18000" rtlCol="0" anchor="t" anchorCtr="1"/>
          <a:lstStyle/>
          <a:p>
            <a:pPr algn="ctr"/>
            <a:r>
              <a:rPr lang="en-US" sz="1600"/>
              <a:t>Name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A28736-B305-4166-97BA-311E829D307C}"/>
              </a:ext>
            </a:extLst>
          </p:cNvPr>
          <p:cNvSpPr/>
          <p:nvPr/>
        </p:nvSpPr>
        <p:spPr>
          <a:xfrm>
            <a:off x="7249614" y="3325671"/>
            <a:ext cx="324088" cy="2437804"/>
          </a:xfrm>
          <a:prstGeom prst="rect">
            <a:avLst/>
          </a:prstGeom>
          <a:solidFill>
            <a:srgbClr val="0F79C1">
              <a:alpha val="10000"/>
            </a:srgbClr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vert270" wrap="square" lIns="18000" tIns="45720" rIns="91440" bIns="45720" numCol="1" spcCol="0" rtlCol="0" fromWordArt="0" anchor="t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5D0AB3-D8DE-46AC-A234-66793DBFF8FA}"/>
              </a:ext>
            </a:extLst>
          </p:cNvPr>
          <p:cNvSpPr/>
          <p:nvPr/>
        </p:nvSpPr>
        <p:spPr>
          <a:xfrm>
            <a:off x="512690" y="5791200"/>
            <a:ext cx="16367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</a:rPr>
              <a:t>Vertical Swimlane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2E2AFB-ECD8-485A-8CF5-EB73C95A586A}"/>
              </a:ext>
            </a:extLst>
          </p:cNvPr>
          <p:cNvSpPr/>
          <p:nvPr/>
        </p:nvSpPr>
        <p:spPr>
          <a:xfrm>
            <a:off x="2421595" y="5782355"/>
            <a:ext cx="26572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</a:rPr>
              <a:t>Vertical Swimlane (multi lanes)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DCA8A-D662-4C90-B2D0-590AE60D6F13}"/>
              </a:ext>
            </a:extLst>
          </p:cNvPr>
          <p:cNvSpPr/>
          <p:nvPr/>
        </p:nvSpPr>
        <p:spPr>
          <a:xfrm>
            <a:off x="8079894" y="5782355"/>
            <a:ext cx="28689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</a:rPr>
              <a:t>Horizontal Swimlane (multi lanes)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73582C-7CD2-48BA-9060-8489A507EA4D}"/>
              </a:ext>
            </a:extLst>
          </p:cNvPr>
          <p:cNvSpPr/>
          <p:nvPr/>
        </p:nvSpPr>
        <p:spPr>
          <a:xfrm>
            <a:off x="8426125" y="2881387"/>
            <a:ext cx="18485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</a:rPr>
              <a:t>Horizontal Swimlane</a:t>
            </a:r>
          </a:p>
        </p:txBody>
      </p:sp>
    </p:spTree>
    <p:extLst>
      <p:ext uri="{BB962C8B-B14F-4D97-AF65-F5344CB8AC3E}">
        <p14:creationId xmlns:p14="http://schemas.microsoft.com/office/powerpoint/2010/main" val="4063964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683" y="134937"/>
            <a:ext cx="5744633" cy="6123567"/>
          </a:xfrm>
        </p:spPr>
      </p:pic>
    </p:spTree>
    <p:extLst>
      <p:ext uri="{BB962C8B-B14F-4D97-AF65-F5344CB8AC3E}">
        <p14:creationId xmlns:p14="http://schemas.microsoft.com/office/powerpoint/2010/main" val="3782044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C3BF0C5-D2D5-344E-8815-5916FC6DA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567" y="172720"/>
            <a:ext cx="4191000" cy="606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C064020-B522-1345-A64F-21E74D1BD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5787"/>
            <a:ext cx="5469467" cy="6144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582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Практика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615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3966-6DEA-4DB5-9742-E0F6E296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Нарисовать диаграмму для процесса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C3287-7C9F-459D-B212-99786DD91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Функции в приложении </a:t>
            </a:r>
            <a:r>
              <a:rPr lang="en-US" dirty="0" err="1"/>
              <a:t>OnTaxi</a:t>
            </a:r>
            <a:r>
              <a:rPr lang="en-US" dirty="0"/>
              <a:t> – UML – Use Case Diagram</a:t>
            </a:r>
          </a:p>
          <a:p>
            <a:r>
              <a:rPr lang="ru-RU" dirty="0"/>
              <a:t>Заказ и доставка пиццы – </a:t>
            </a:r>
            <a:r>
              <a:rPr lang="en-US" dirty="0"/>
              <a:t>UML – 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1237190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7552267" cy="2204815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Дополнительные материалы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706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3966-6DEA-4DB5-9742-E0F6E296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материалы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C3287-7C9F-459D-B212-99786DD91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UML </a:t>
            </a:r>
            <a:r>
              <a:rPr lang="ru-RU" dirty="0"/>
              <a:t>нотация и диаграммы - </a:t>
            </a:r>
            <a:r>
              <a:rPr lang="en-US" dirty="0">
                <a:solidFill>
                  <a:srgbClr val="128DE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https://ru.wikipedia.org/wiki/UML#%D0%94%D0%B8%D0%B0%D0%B3%D1%80%D0%B0%D0%BC%D0%BC%D0%B0_%D0%B4%D0%B5%D1%8F%D1%82%D0%B5%D0%BB%D1%8C%D0%BD%D0%BE%D1%81%D1%82%D0%B8</a:t>
            </a:r>
            <a:endParaRPr lang="ru-RU" dirty="0">
              <a:solidFill>
                <a:srgbClr val="128DE0"/>
              </a:solidFill>
            </a:endParaRPr>
          </a:p>
          <a:p>
            <a:r>
              <a:rPr lang="ru-RU" dirty="0"/>
              <a:t>Диаграмма вариантов использования (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case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) – </a:t>
            </a:r>
            <a:r>
              <a:rPr lang="en-US" dirty="0">
                <a:solidFill>
                  <a:srgbClr val="128DE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http://khpi-iip.mipk.kharkiv.edu/library/case/leon/gl4/gl4.html#9</a:t>
            </a:r>
            <a:endParaRPr lang="ru-RU" dirty="0">
              <a:solidFill>
                <a:srgbClr val="128DE0"/>
              </a:solidFill>
            </a:endParaRPr>
          </a:p>
          <a:p>
            <a:r>
              <a:rPr lang="ru-RU" dirty="0"/>
              <a:t>Диаграмма вариантов использования (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case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) – </a:t>
            </a:r>
            <a:r>
              <a:rPr lang="en-US" dirty="0">
                <a:solidFill>
                  <a:srgbClr val="128DE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http://www.its.kpi.ua/itm/tkot/Students/Lec2_1_UML[p].pdf</a:t>
            </a:r>
            <a:endParaRPr lang="ru-RU" dirty="0">
              <a:solidFill>
                <a:srgbClr val="128DE0"/>
              </a:solidFill>
            </a:endParaRPr>
          </a:p>
          <a:p>
            <a:r>
              <a:rPr lang="ru-RU" dirty="0"/>
              <a:t>Диаграмма деятельности - </a:t>
            </a:r>
            <a:r>
              <a:rPr lang="en-US" dirty="0">
                <a:solidFill>
                  <a:srgbClr val="128DE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http://khpi-iip.mipk.kharkiv.edu/library/case/leon/gl7/gl7.html#3</a:t>
            </a:r>
            <a:endParaRPr lang="ru-RU" dirty="0">
              <a:solidFill>
                <a:srgbClr val="128DE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16667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Ретро</Template>
  <TotalTime>4698</TotalTime>
  <Words>708</Words>
  <Application>Microsoft Macintosh PowerPoint</Application>
  <PresentationFormat>Widescreen</PresentationFormat>
  <Paragraphs>117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Calibri Light</vt:lpstr>
      <vt:lpstr>Ретро</vt:lpstr>
      <vt:lpstr>Артефакты визуализации</vt:lpstr>
      <vt:lpstr>UML</vt:lpstr>
      <vt:lpstr>Наиболее распространенные UML диаграммы</vt:lpstr>
      <vt:lpstr>Use case diagram</vt:lpstr>
      <vt:lpstr>Use case diagram - диаграмма прецедентов / вариантов использования </vt:lpstr>
      <vt:lpstr>Элементы Use case diagram </vt:lpstr>
      <vt:lpstr>Актер и вариант использования</vt:lpstr>
      <vt:lpstr>Отношения в Use case diagram </vt:lpstr>
      <vt:lpstr>Multiplicity  - Кратность</vt:lpstr>
      <vt:lpstr>PowerPoint Presentation</vt:lpstr>
      <vt:lpstr>PowerPoint Presentation</vt:lpstr>
      <vt:lpstr>Activity diagram</vt:lpstr>
      <vt:lpstr>Activity diagram - диаграмма деятельности</vt:lpstr>
      <vt:lpstr>Элементы Activity diagram </vt:lpstr>
      <vt:lpstr>Элементы Activity diagram </vt:lpstr>
      <vt:lpstr>PowerPoint Presentation</vt:lpstr>
      <vt:lpstr>PowerPoint Presentation</vt:lpstr>
      <vt:lpstr>Практика</vt:lpstr>
      <vt:lpstr>Нарисовать диаграмму для процесса</vt:lpstr>
      <vt:lpstr>Дополнительные материалы</vt:lpstr>
      <vt:lpstr>Дополнительные материалы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</dc:title>
  <dc:creator>Olesia Korobko</dc:creator>
  <cp:lastModifiedBy>Olesia Popova</cp:lastModifiedBy>
  <cp:revision>140</cp:revision>
  <dcterms:created xsi:type="dcterms:W3CDTF">2019-07-08T17:35:39Z</dcterms:created>
  <dcterms:modified xsi:type="dcterms:W3CDTF">2020-09-23T08:51:51Z</dcterms:modified>
</cp:coreProperties>
</file>