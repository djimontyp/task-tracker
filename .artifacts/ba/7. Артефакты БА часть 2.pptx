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2" r:id="rId1"/>
  </p:sldMasterIdLst>
  <p:notesMasterIdLst>
    <p:notesMasterId r:id="rId29"/>
  </p:notesMasterIdLst>
  <p:sldIdLst>
    <p:sldId id="256" r:id="rId2"/>
    <p:sldId id="322" r:id="rId3"/>
    <p:sldId id="345" r:id="rId4"/>
    <p:sldId id="344" r:id="rId5"/>
    <p:sldId id="366" r:id="rId6"/>
    <p:sldId id="369" r:id="rId7"/>
    <p:sldId id="367" r:id="rId8"/>
    <p:sldId id="368" r:id="rId9"/>
    <p:sldId id="346" r:id="rId10"/>
    <p:sldId id="347" r:id="rId11"/>
    <p:sldId id="349" r:id="rId12"/>
    <p:sldId id="354" r:id="rId13"/>
    <p:sldId id="350" r:id="rId14"/>
    <p:sldId id="352" r:id="rId15"/>
    <p:sldId id="353" r:id="rId16"/>
    <p:sldId id="355" r:id="rId17"/>
    <p:sldId id="357" r:id="rId18"/>
    <p:sldId id="351" r:id="rId19"/>
    <p:sldId id="356" r:id="rId20"/>
    <p:sldId id="359" r:id="rId21"/>
    <p:sldId id="360" r:id="rId22"/>
    <p:sldId id="362" r:id="rId23"/>
    <p:sldId id="363" r:id="rId24"/>
    <p:sldId id="361" r:id="rId25"/>
    <p:sldId id="364" r:id="rId26"/>
    <p:sldId id="332" r:id="rId27"/>
    <p:sldId id="333" r:id="rId2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F79C1"/>
    <a:srgbClr val="128DE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80" autoAdjust="0"/>
    <p:restoredTop sz="94643"/>
  </p:normalViewPr>
  <p:slideViewPr>
    <p:cSldViewPr snapToGrid="0">
      <p:cViewPr varScale="1">
        <p:scale>
          <a:sx n="90" d="100"/>
          <a:sy n="90" d="100"/>
        </p:scale>
        <p:origin x="928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0DE1288-E632-8B4D-8CC6-5B7DC4DD9B2C}" type="datetimeFigureOut">
              <a:rPr lang="en-US" smtClean="0"/>
              <a:t>9/9/20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B16C4D0-8D06-CE46-BE84-522C91896C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74745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B16C4D0-8D06-CE46-BE84-522C91896C18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81093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" y="6334316"/>
            <a:ext cx="12192000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1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B4355C-3BC3-430F-A9AE-65E4E08468FB}" type="datetimeFigureOut">
              <a:rPr lang="uk-UA" smtClean="0"/>
              <a:t>09.09.20</a:t>
            </a:fld>
            <a:endParaRPr lang="uk-U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1. Введение</a:t>
            </a:r>
            <a:endParaRPr lang="uk-UA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04FE25-A201-4AD1-9B20-AD00DF8E21D9}" type="slidenum">
              <a:rPr lang="uk-UA" smtClean="0"/>
              <a:t>‹#›</a:t>
            </a:fld>
            <a:endParaRPr lang="uk-UA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505091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342900" indent="-342900">
              <a:buFont typeface="Arial" panose="020B0604020202020204" pitchFamily="34" charset="0"/>
              <a:buChar char="•"/>
              <a:defRPr/>
            </a:lvl1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8C39F3-65FC-4E3B-ADF4-8C79DC6953D5}" type="datetimeFigureOut">
              <a:rPr lang="uk-UA" smtClean="0"/>
              <a:t>09.09.20</a:t>
            </a:fld>
            <a:endParaRPr lang="uk-U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2D506E-8AB4-4D47-A18C-48C2F3230E94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4628235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Заголовок раздела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B4355C-3BC3-430F-A9AE-65E4E08468FB}" type="datetimeFigureOut">
              <a:rPr lang="uk-UA" smtClean="0"/>
              <a:t>09.09.20</a:t>
            </a:fld>
            <a:endParaRPr lang="uk-U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1. Введение</a:t>
            </a:r>
            <a:endParaRPr lang="uk-UA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04FE25-A201-4AD1-9B20-AD00DF8E21D9}" type="slidenum">
              <a:rPr lang="uk-UA" smtClean="0"/>
              <a:t>‹#›</a:t>
            </a:fld>
            <a:endParaRPr lang="uk-UA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782129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80" y="1845734"/>
            <a:ext cx="4937760" cy="4023359"/>
          </a:xfrm>
        </p:spPr>
        <p:txBody>
          <a:bodyPr/>
          <a:lstStyle>
            <a:lvl1pPr marL="342900" indent="-342900">
              <a:buFont typeface="Arial" panose="020B0604020202020204" pitchFamily="34" charset="0"/>
              <a:buChar char="•"/>
              <a:defRPr/>
            </a:lvl1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>
            <a:lvl1pPr marL="342900" indent="-342900">
              <a:buFont typeface="Arial" panose="020B0604020202020204" pitchFamily="34" charset="0"/>
              <a:buChar char="•"/>
              <a:defRPr/>
            </a:lvl1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B4355C-3BC3-430F-A9AE-65E4E08468FB}" type="datetimeFigureOut">
              <a:rPr lang="uk-UA" smtClean="0"/>
              <a:t>09.09.20</a:t>
            </a:fld>
            <a:endParaRPr lang="uk-U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1. Введение</a:t>
            </a:r>
            <a:endParaRPr lang="uk-UA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04FE25-A201-4AD1-9B20-AD00DF8E21D9}" type="slidenum">
              <a:rPr lang="uk-UA" smtClean="0"/>
              <a:t>‹#›</a:t>
            </a:fld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10135550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5"/>
            <a:ext cx="4937760" cy="3286760"/>
          </a:xfrm>
        </p:spPr>
        <p:txBody>
          <a:bodyPr/>
          <a:lstStyle>
            <a:lvl1pPr marL="342900" indent="-342900">
              <a:buFont typeface="Arial" panose="020B0604020202020204" pitchFamily="34" charset="0"/>
              <a:buChar char="•"/>
              <a:defRPr/>
            </a:lvl1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286760"/>
          </a:xfrm>
        </p:spPr>
        <p:txBody>
          <a:bodyPr/>
          <a:lstStyle>
            <a:lvl1pPr marL="342900" indent="-342900">
              <a:buFont typeface="Arial" panose="020B0604020202020204" pitchFamily="34" charset="0"/>
              <a:buChar char="•"/>
              <a:defRPr/>
            </a:lvl1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B4355C-3BC3-430F-A9AE-65E4E08468FB}" type="datetimeFigureOut">
              <a:rPr lang="uk-UA" smtClean="0"/>
              <a:t>09.09.20</a:t>
            </a:fld>
            <a:endParaRPr lang="uk-UA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1. Введение</a:t>
            </a:r>
            <a:endParaRPr lang="uk-UA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04FE25-A201-4AD1-9B20-AD00DF8E21D9}" type="slidenum">
              <a:rPr lang="uk-UA" smtClean="0"/>
              <a:t>‹#›</a:t>
            </a:fld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19141720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B4355C-3BC3-430F-A9AE-65E4E08468FB}" type="datetimeFigureOut">
              <a:rPr lang="uk-UA" smtClean="0"/>
              <a:t>09.09.20</a:t>
            </a:fld>
            <a:endParaRPr lang="uk-UA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1. Введение</a:t>
            </a:r>
            <a:endParaRPr lang="uk-UA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04FE25-A201-4AD1-9B20-AD00DF8E21D9}" type="slidenum">
              <a:rPr lang="uk-UA" smtClean="0"/>
              <a:t>‹#›</a:t>
            </a:fld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27289667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B4355C-3BC3-430F-A9AE-65E4E08468FB}" type="datetimeFigureOut">
              <a:rPr lang="uk-UA" smtClean="0"/>
              <a:t>09.09.20</a:t>
            </a:fld>
            <a:endParaRPr lang="uk-UA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ru-RU"/>
              <a:t>1. Введение</a:t>
            </a:r>
            <a:endParaRPr lang="uk-UA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04FE25-A201-4AD1-9B20-AD00DF8E21D9}" type="slidenum">
              <a:rPr lang="uk-UA" smtClean="0"/>
              <a:t>‹#›</a:t>
            </a:fld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41189236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29B4355C-3BC3-430F-A9AE-65E4E08468FB}" type="datetimeFigureOut">
              <a:rPr lang="uk-UA" smtClean="0"/>
              <a:t>09.09.20</a:t>
            </a:fld>
            <a:endParaRPr lang="uk-U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r>
              <a:rPr lang="ru-RU"/>
              <a:t>1. Введение</a:t>
            </a:r>
            <a:endParaRPr lang="uk-UA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504FE25-A201-4AD1-9B20-AD00DF8E21D9}" type="slidenum">
              <a:rPr lang="uk-UA" smtClean="0"/>
              <a:t>‹#›</a:t>
            </a:fld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12999916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645" cy="822960"/>
          </a:xfrm>
        </p:spPr>
        <p:txBody>
          <a:bodyPr tIns="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solidFill>
            <a:schemeClr val="bg2">
              <a:lumMod val="90000"/>
            </a:schemeClr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4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B4355C-3BC3-430F-A9AE-65E4E08468FB}" type="datetimeFigureOut">
              <a:rPr lang="uk-UA" smtClean="0"/>
              <a:t>09.09.20</a:t>
            </a:fld>
            <a:endParaRPr lang="uk-U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1. Введение</a:t>
            </a:r>
            <a:endParaRPr lang="uk-UA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04FE25-A201-4AD1-9B20-AD00DF8E21D9}" type="slidenum">
              <a:rPr lang="uk-UA" smtClean="0"/>
              <a:t>‹#›</a:t>
            </a:fld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29669438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B4355C-3BC3-430F-A9AE-65E4E08468FB}" type="datetimeFigureOut">
              <a:rPr lang="uk-UA" smtClean="0"/>
              <a:t>09.09.20</a:t>
            </a:fld>
            <a:endParaRPr lang="uk-U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1. Введение</a:t>
            </a:r>
            <a:endParaRPr lang="uk-UA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04FE25-A201-4AD1-9B20-AD00DF8E21D9}" type="slidenum">
              <a:rPr lang="uk-UA" smtClean="0"/>
              <a:t>‹#›</a:t>
            </a:fld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38680558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2302"/>
            <a:ext cx="2628900" cy="575989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2302"/>
            <a:ext cx="7734300" cy="5759898"/>
          </a:xfrm>
        </p:spPr>
        <p:txBody>
          <a:bodyPr vert="eaVert" lIns="45720" tIns="0" rIns="45720" bIns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B4355C-3BC3-430F-A9AE-65E4E08468FB}" type="datetimeFigureOut">
              <a:rPr lang="uk-UA" smtClean="0"/>
              <a:t>09.09.20</a:t>
            </a:fld>
            <a:endParaRPr lang="uk-U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1. Введение</a:t>
            </a:r>
            <a:endParaRPr lang="uk-UA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04FE25-A201-4AD1-9B20-AD00DF8E21D9}" type="slidenum">
              <a:rPr lang="uk-UA" smtClean="0"/>
              <a:t>‹#›</a:t>
            </a:fld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129378280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74" y="609600"/>
            <a:ext cx="10364452" cy="160509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74" y="2367093"/>
            <a:ext cx="3298976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74" y="2943355"/>
            <a:ext cx="3298976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52389" y="2367093"/>
            <a:ext cx="329152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1348" y="2943355"/>
            <a:ext cx="3303351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2367093"/>
            <a:ext cx="33049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73298" y="2943355"/>
            <a:ext cx="3304928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B4355C-3BC3-430F-A9AE-65E4E08468FB}" type="datetimeFigureOut">
              <a:rPr lang="uk-UA" smtClean="0"/>
              <a:t>09.09.20</a:t>
            </a:fld>
            <a:endParaRPr lang="uk-UA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1. Введение</a:t>
            </a:r>
            <a:endParaRPr lang="uk-UA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04FE25-A201-4AD1-9B20-AD00DF8E21D9}" type="slidenum">
              <a:rPr lang="uk-UA" smtClean="0"/>
              <a:t>‹#›</a:t>
            </a:fld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29475587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29B4355C-3BC3-430F-A9AE-65E4E08468FB}" type="datetimeFigureOut">
              <a:rPr lang="uk-UA" smtClean="0"/>
              <a:t>09.09.20</a:t>
            </a:fld>
            <a:endParaRPr lang="uk-U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r>
              <a:rPr lang="ru-RU"/>
              <a:t>1. Введение</a:t>
            </a:r>
            <a:endParaRPr lang="uk-UA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C504FE25-A201-4AD1-9B20-AD00DF8E21D9}" type="slidenum">
              <a:rPr lang="uk-UA" smtClean="0"/>
              <a:t>‹#›</a:t>
            </a:fld>
            <a:endParaRPr lang="uk-UA" dirty="0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397935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3" r:id="rId1"/>
    <p:sldLayoutId id="2147483694" r:id="rId2"/>
    <p:sldLayoutId id="2147483695" r:id="rId3"/>
    <p:sldLayoutId id="2147483696" r:id="rId4"/>
    <p:sldLayoutId id="2147483697" r:id="rId5"/>
    <p:sldLayoutId id="2147483698" r:id="rId6"/>
    <p:sldLayoutId id="2147483699" r:id="rId7"/>
    <p:sldLayoutId id="2147483700" r:id="rId8"/>
    <p:sldLayoutId id="2147483701" r:id="rId9"/>
    <p:sldLayoutId id="2147483702" r:id="rId10"/>
    <p:sldLayoutId id="2147483703" r:id="rId11"/>
    <p:sldLayoutId id="2147483704" r:id="rId12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8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hyperlink" Target="https://ru.wikipedia.org/wiki/%D0%A1%D1%86%D0%B5%D0%BD%D0%B0%D1%80%D0%B8%D0%B9_%D0%B8%D1%81%D0%BF%D0%BE%D0%BB%D1%8C%D0%B7%D0%BE%D0%B2%D0%B0%D0%BD%D0%B8%D1%8F" TargetMode="External"/><Relationship Id="rId3" Type="http://schemas.openxmlformats.org/officeDocument/2006/relationships/hyperlink" Target="https://analytics.infozone.pro/requirements-analysis/template-specification-requirements/" TargetMode="External"/><Relationship Id="rId7" Type="http://schemas.openxmlformats.org/officeDocument/2006/relationships/hyperlink" Target="https://habr.com/ru/company/luxoft/blog/84030/" TargetMode="External"/><Relationship Id="rId2" Type="http://schemas.openxmlformats.org/officeDocument/2006/relationships/hyperlink" Target="https://habr.com/ru/post/52681/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medium.com/@alexandertvar/%D0%BA%D0%B0%D0%BA-%D0%BF%D0%B8%D1%81%D0%B0%D1%82%D1%8C-user-story-2410093b23c2" TargetMode="External"/><Relationship Id="rId5" Type="http://schemas.openxmlformats.org/officeDocument/2006/relationships/hyperlink" Target="https://www.youtube.com/watch?v=6q5-cVeNjCE" TargetMode="External"/><Relationship Id="rId10" Type="http://schemas.openxmlformats.org/officeDocument/2006/relationships/hyperlink" Target="https://designpub.ru/%D1%80%D0%B0%D0%B7%D0%BD%D0%B8%D1%86%D0%B0-%D0%BC%D0%B5%D0%B6%D0%B4%D1%83-user-stories-%D0%B8-use-cases-5f52381150fa" TargetMode="External"/><Relationship Id="rId4" Type="http://schemas.openxmlformats.org/officeDocument/2006/relationships/hyperlink" Target="https://www.academia.edu/36372211/Razrabotka_trebovaniy_k_programmnomu_obespecheniyu_3_e_izdanie" TargetMode="External"/><Relationship Id="rId9" Type="http://schemas.openxmlformats.org/officeDocument/2006/relationships/hyperlink" Target="http://tynerblain.com/blog/2007/04/09/sample-use-case-example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1">
                <a:tint val="90000"/>
                <a:lumMod val="110000"/>
              </a:schemeClr>
            </a:gs>
            <a:gs pos="100000">
              <a:schemeClr val="bg1">
                <a:lumMod val="85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286933" y="2213361"/>
            <a:ext cx="6247721" cy="2204815"/>
          </a:xfrm>
        </p:spPr>
        <p:txBody>
          <a:bodyPr>
            <a:normAutofit/>
          </a:bodyPr>
          <a:lstStyle/>
          <a:p>
            <a:pPr algn="l"/>
            <a:r>
              <a:rPr lang="ru-RU" dirty="0"/>
              <a:t>Артефакты БА</a:t>
            </a:r>
            <a:endParaRPr lang="uk-UA" dirty="0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286934" y="4418176"/>
            <a:ext cx="6247721" cy="1264209"/>
          </a:xfrm>
        </p:spPr>
        <p:txBody>
          <a:bodyPr>
            <a:normAutofit/>
          </a:bodyPr>
          <a:lstStyle/>
          <a:p>
            <a:pPr algn="l"/>
            <a:r>
              <a:rPr lang="ru-RU" dirty="0">
                <a:solidFill>
                  <a:schemeClr val="tx1">
                    <a:lumMod val="50000"/>
                    <a:lumOff val="50000"/>
                  </a:schemeClr>
                </a:solidFill>
              </a:rPr>
              <a:t>Часть </a:t>
            </a:r>
            <a:r>
              <a:rPr lang="en-US">
                <a:solidFill>
                  <a:schemeClr val="tx1">
                    <a:lumMod val="50000"/>
                    <a:lumOff val="50000"/>
                  </a:schemeClr>
                </a:solidFill>
              </a:rPr>
              <a:t>2</a:t>
            </a:r>
            <a:endParaRPr lang="ru-RU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437003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Артефакты БА ч. </a:t>
            </a:r>
            <a:r>
              <a:rPr lang="en-US" dirty="0"/>
              <a:t>2</a:t>
            </a:r>
            <a:endParaRPr lang="uk-UA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Software requirements specification </a:t>
            </a:r>
            <a:r>
              <a:rPr lang="ru-RU" dirty="0"/>
              <a:t>(</a:t>
            </a:r>
            <a:r>
              <a:rPr lang="en-US" dirty="0"/>
              <a:t>SRS</a:t>
            </a:r>
            <a:r>
              <a:rPr lang="ru-RU" dirty="0"/>
              <a:t>) / Спецификация требований к ПО</a:t>
            </a:r>
          </a:p>
          <a:p>
            <a:r>
              <a:rPr lang="en-US" dirty="0"/>
              <a:t>Use Case / </a:t>
            </a:r>
            <a:r>
              <a:rPr lang="ru-RU" dirty="0"/>
              <a:t>Сценирий ипользования</a:t>
            </a:r>
            <a:endParaRPr lang="en-US" dirty="0"/>
          </a:p>
          <a:p>
            <a:r>
              <a:rPr lang="en-US" dirty="0"/>
              <a:t>User Story / </a:t>
            </a:r>
            <a:r>
              <a:rPr lang="ru-RU" dirty="0"/>
              <a:t>Пользовательская история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1956260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1">
                <a:tint val="90000"/>
                <a:lumMod val="110000"/>
              </a:schemeClr>
            </a:gs>
            <a:gs pos="100000">
              <a:schemeClr val="bg1">
                <a:shade val="64000"/>
                <a:lumMod val="88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1F395E0-10E0-4863-BE52-0F4A2798196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86933" y="2213361"/>
            <a:ext cx="6247721" cy="2204815"/>
          </a:xfrm>
        </p:spPr>
        <p:txBody>
          <a:bodyPr>
            <a:normAutofit/>
          </a:bodyPr>
          <a:lstStyle/>
          <a:p>
            <a:pPr algn="l"/>
            <a:r>
              <a:rPr lang="en-US" sz="4400" dirty="0"/>
              <a:t>Software requirements specification </a:t>
            </a:r>
            <a:r>
              <a:rPr lang="ru-RU" sz="4400" dirty="0"/>
              <a:t>(</a:t>
            </a:r>
            <a:r>
              <a:rPr lang="en-US" sz="4400" dirty="0"/>
              <a:t>SRS</a:t>
            </a:r>
            <a:r>
              <a:rPr lang="ru-RU" sz="4400" dirty="0"/>
              <a:t>) /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668B4C7-CF60-413E-BF81-3742A22D589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86934" y="4418176"/>
            <a:ext cx="6247721" cy="1264209"/>
          </a:xfrm>
        </p:spPr>
        <p:txBody>
          <a:bodyPr>
            <a:normAutofit/>
          </a:bodyPr>
          <a:lstStyle/>
          <a:p>
            <a:pPr algn="l"/>
            <a:r>
              <a:rPr lang="ru-RU" sz="2400" dirty="0"/>
              <a:t>Спецификация требований к ПО</a:t>
            </a:r>
            <a:endParaRPr lang="en-US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073023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6E8181-284B-427B-80A2-0AA90C64C0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SRS — Software Requirement Specification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B36D05-0265-4021-9A16-42F19C4B23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dirty="0"/>
              <a:t> — специальная документация для ПО которая содержит в себе информацию о том, как должна себя вести система, какие функции должна выполнять, какую нагрузку должна выдерживать и тд.</a:t>
            </a:r>
            <a:br>
              <a:rPr lang="ru-RU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7206332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59FDAC-04B1-8A48-AC34-B3F9D47F50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Шаблон </a:t>
            </a:r>
            <a:r>
              <a:rPr lang="en-US" dirty="0"/>
              <a:t>SRS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45F018F-EB31-7F46-ABE0-0344088D0EDD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Autofit/>
          </a:bodyPr>
          <a:lstStyle/>
          <a:p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b="1" dirty="0"/>
              <a:t>Содержание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b="1" dirty="0"/>
              <a:t>История изменения</a:t>
            </a:r>
            <a:endParaRPr lang="en-US" b="1" dirty="0"/>
          </a:p>
          <a:p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-UA" b="1" dirty="0"/>
              <a:t>1. </a:t>
            </a:r>
            <a:r>
              <a:rPr lang="uk-UA" b="1" dirty="0" err="1"/>
              <a:t>Введение</a:t>
            </a:r>
            <a:br>
              <a:rPr lang="uk-UA" dirty="0"/>
            </a:br>
            <a:r>
              <a:rPr lang="uk-UA" dirty="0"/>
              <a:t>1.1 </a:t>
            </a:r>
            <a:r>
              <a:rPr lang="uk-UA" dirty="0" err="1"/>
              <a:t>Назначение</a:t>
            </a:r>
            <a:br>
              <a:rPr lang="uk-UA" dirty="0"/>
            </a:br>
            <a:r>
              <a:rPr lang="uk-UA" dirty="0"/>
              <a:t>1.2 </a:t>
            </a:r>
            <a:r>
              <a:rPr lang="uk-UA" dirty="0" err="1"/>
              <a:t>Соглашения</a:t>
            </a:r>
            <a:r>
              <a:rPr lang="uk-UA" dirty="0"/>
              <a:t>, </a:t>
            </a:r>
            <a:r>
              <a:rPr lang="uk-UA" dirty="0" err="1"/>
              <a:t>принятые</a:t>
            </a:r>
            <a:r>
              <a:rPr lang="uk-UA" dirty="0"/>
              <a:t> в документах</a:t>
            </a:r>
            <a:br>
              <a:rPr lang="uk-UA" dirty="0"/>
            </a:br>
            <a:r>
              <a:rPr lang="uk-UA" dirty="0"/>
              <a:t>1.3 </a:t>
            </a:r>
            <a:r>
              <a:rPr lang="uk-UA" dirty="0" err="1"/>
              <a:t>Границы</a:t>
            </a:r>
            <a:r>
              <a:rPr lang="uk-UA" dirty="0"/>
              <a:t> </a:t>
            </a:r>
            <a:r>
              <a:rPr lang="uk-UA" dirty="0" err="1"/>
              <a:t>проекта</a:t>
            </a:r>
            <a:br>
              <a:rPr lang="uk-UA" dirty="0"/>
            </a:br>
            <a:r>
              <a:rPr lang="uk-UA" dirty="0"/>
              <a:t>1.4 </a:t>
            </a:r>
            <a:r>
              <a:rPr lang="uk-UA" dirty="0" err="1"/>
              <a:t>Ссылки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D1E3D850-7914-2742-B33A-C6793CD287B0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Table of Contents</a:t>
            </a:r>
            <a:endParaRPr lang="en-US" i="1" dirty="0"/>
          </a:p>
          <a:p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Revision History</a:t>
            </a:r>
            <a:endParaRPr lang="en-US" i="1" dirty="0"/>
          </a:p>
          <a:p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b="1" dirty="0"/>
              <a:t>1. </a:t>
            </a:r>
            <a:r>
              <a:rPr lang="en-US" b="1" dirty="0"/>
              <a:t>Introduction</a:t>
            </a:r>
            <a:endParaRPr lang="en-US" b="1" i="1" dirty="0"/>
          </a:p>
          <a:p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/>
              <a:t>1.1 </a:t>
            </a:r>
            <a:r>
              <a:rPr lang="en-US" dirty="0"/>
              <a:t>Purpose</a:t>
            </a:r>
            <a:endParaRPr lang="en-US" i="1" dirty="0"/>
          </a:p>
          <a:p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/>
              <a:t>1.2 </a:t>
            </a:r>
            <a:r>
              <a:rPr lang="en-US" dirty="0"/>
              <a:t>Document Conventions</a:t>
            </a:r>
            <a:endParaRPr lang="en-US" i="1" dirty="0"/>
          </a:p>
          <a:p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/>
              <a:t>1.3 </a:t>
            </a:r>
            <a:r>
              <a:rPr lang="en-US" dirty="0"/>
              <a:t>Project Scope</a:t>
            </a:r>
            <a:endParaRPr lang="en-US" i="1" dirty="0"/>
          </a:p>
          <a:p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/>
              <a:t>1.4 </a:t>
            </a:r>
            <a:r>
              <a:rPr lang="en-US" dirty="0"/>
              <a:t>References</a:t>
            </a:r>
            <a:endParaRPr lang="en-US" i="1" dirty="0"/>
          </a:p>
        </p:txBody>
      </p:sp>
    </p:spTree>
    <p:extLst>
      <p:ext uri="{BB962C8B-B14F-4D97-AF65-F5344CB8AC3E}">
        <p14:creationId xmlns:p14="http://schemas.microsoft.com/office/powerpoint/2010/main" val="327203943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59FDAC-04B1-8A48-AC34-B3F9D47F50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Шаблон </a:t>
            </a:r>
            <a:r>
              <a:rPr lang="en-US" dirty="0"/>
              <a:t>SRS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45F018F-EB31-7F46-ABE0-0344088D0EDD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Autofit/>
          </a:bodyPr>
          <a:lstStyle/>
          <a:p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-UA" b="1" dirty="0"/>
              <a:t>2. </a:t>
            </a:r>
            <a:r>
              <a:rPr lang="uk-UA" b="1" dirty="0" err="1"/>
              <a:t>Общее</a:t>
            </a:r>
            <a:r>
              <a:rPr lang="uk-UA" b="1" dirty="0"/>
              <a:t> </a:t>
            </a:r>
            <a:r>
              <a:rPr lang="uk-UA" b="1" dirty="0" err="1"/>
              <a:t>описание</a:t>
            </a:r>
            <a:br>
              <a:rPr lang="uk-UA" dirty="0"/>
            </a:br>
            <a:r>
              <a:rPr lang="uk-UA" dirty="0"/>
              <a:t>2.1 </a:t>
            </a:r>
            <a:r>
              <a:rPr lang="uk-UA" dirty="0" err="1"/>
              <a:t>Общий</a:t>
            </a:r>
            <a:r>
              <a:rPr lang="uk-UA" dirty="0"/>
              <a:t> </a:t>
            </a:r>
            <a:r>
              <a:rPr lang="uk-UA" dirty="0" err="1"/>
              <a:t>взгляд</a:t>
            </a:r>
            <a:r>
              <a:rPr lang="uk-UA" dirty="0"/>
              <a:t> на продукт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-UA" dirty="0"/>
              <a:t>2.2 Список </a:t>
            </a:r>
            <a:r>
              <a:rPr lang="uk-UA" dirty="0" err="1"/>
              <a:t>функций</a:t>
            </a:r>
            <a:r>
              <a:rPr lang="uk-UA" dirty="0"/>
              <a:t> </a:t>
            </a:r>
            <a:r>
              <a:rPr lang="uk-UA" dirty="0" err="1"/>
              <a:t>продукта</a:t>
            </a:r>
            <a:br>
              <a:rPr lang="uk-UA" dirty="0"/>
            </a:br>
            <a:r>
              <a:rPr lang="uk-UA" dirty="0"/>
              <a:t>2.3 </a:t>
            </a:r>
            <a:r>
              <a:rPr lang="uk-UA" dirty="0" err="1"/>
              <a:t>Классы</a:t>
            </a:r>
            <a:r>
              <a:rPr lang="uk-UA" dirty="0"/>
              <a:t> </a:t>
            </a:r>
            <a:r>
              <a:rPr lang="uk-UA" dirty="0" err="1"/>
              <a:t>и</a:t>
            </a:r>
            <a:r>
              <a:rPr lang="uk-UA" dirty="0"/>
              <a:t> характеристики </a:t>
            </a:r>
            <a:r>
              <a:rPr lang="uk-UA" dirty="0" err="1"/>
              <a:t>пользователей</a:t>
            </a:r>
            <a:br>
              <a:rPr lang="uk-UA" dirty="0"/>
            </a:br>
            <a:r>
              <a:rPr lang="uk-UA" dirty="0"/>
              <a:t>2.4 </a:t>
            </a:r>
            <a:r>
              <a:rPr lang="uk-UA" dirty="0" err="1"/>
              <a:t>Операционная</a:t>
            </a:r>
            <a:r>
              <a:rPr lang="uk-UA" dirty="0"/>
              <a:t> </a:t>
            </a:r>
            <a:r>
              <a:rPr lang="uk-UA" dirty="0" err="1"/>
              <a:t>среда</a:t>
            </a:r>
            <a:br>
              <a:rPr lang="uk-UA" dirty="0"/>
            </a:br>
            <a:r>
              <a:rPr lang="uk-UA" dirty="0"/>
              <a:t>2.5 </a:t>
            </a:r>
            <a:r>
              <a:rPr lang="uk-UA" dirty="0" err="1"/>
              <a:t>Ограничения</a:t>
            </a:r>
            <a:r>
              <a:rPr lang="uk-UA" dirty="0"/>
              <a:t> </a:t>
            </a:r>
            <a:r>
              <a:rPr lang="uk-UA" dirty="0" err="1"/>
              <a:t>дизайна</a:t>
            </a:r>
            <a:r>
              <a:rPr lang="uk-UA" dirty="0"/>
              <a:t> </a:t>
            </a:r>
            <a:r>
              <a:rPr lang="uk-UA" dirty="0" err="1"/>
              <a:t>и</a:t>
            </a:r>
            <a:r>
              <a:rPr lang="uk-UA" dirty="0"/>
              <a:t> </a:t>
            </a:r>
            <a:r>
              <a:rPr lang="uk-UA" dirty="0" err="1"/>
              <a:t>реализации</a:t>
            </a:r>
            <a:br>
              <a:rPr lang="uk-UA" dirty="0"/>
            </a:br>
            <a:r>
              <a:rPr lang="uk-UA" dirty="0"/>
              <a:t>2.6 </a:t>
            </a:r>
            <a:r>
              <a:rPr lang="uk-UA" dirty="0" err="1"/>
              <a:t>Предположения</a:t>
            </a:r>
            <a:r>
              <a:rPr lang="uk-UA" dirty="0"/>
              <a:t> </a:t>
            </a:r>
            <a:r>
              <a:rPr lang="uk-UA" dirty="0" err="1"/>
              <a:t>и</a:t>
            </a:r>
            <a:r>
              <a:rPr lang="uk-UA" dirty="0"/>
              <a:t> </a:t>
            </a:r>
            <a:r>
              <a:rPr lang="uk-UA" dirty="0" err="1"/>
              <a:t>зависимости</a:t>
            </a:r>
            <a:br>
              <a:rPr lang="uk-UA" dirty="0"/>
            </a:br>
            <a:r>
              <a:rPr lang="uk-UA" b="1" dirty="0"/>
              <a:t>3. </a:t>
            </a:r>
            <a:r>
              <a:rPr lang="uk-UA" b="1" dirty="0" err="1"/>
              <a:t>Функции</a:t>
            </a:r>
            <a:r>
              <a:rPr lang="uk-UA" b="1" dirty="0"/>
              <a:t> </a:t>
            </a:r>
            <a:r>
              <a:rPr lang="uk-UA" b="1" dirty="0" err="1"/>
              <a:t>системы</a:t>
            </a:r>
            <a:br>
              <a:rPr lang="uk-UA" dirty="0"/>
            </a:br>
            <a:r>
              <a:rPr lang="uk-UA" dirty="0"/>
              <a:t>3.</a:t>
            </a:r>
            <a:r>
              <a:rPr lang="en-US" dirty="0"/>
              <a:t>x </a:t>
            </a:r>
            <a:r>
              <a:rPr lang="uk-UA" dirty="0" err="1"/>
              <a:t>Функция</a:t>
            </a:r>
            <a:r>
              <a:rPr lang="uk-UA" dirty="0"/>
              <a:t> </a:t>
            </a:r>
            <a:r>
              <a:rPr lang="uk-UA" dirty="0" err="1"/>
              <a:t>системы</a:t>
            </a:r>
            <a:r>
              <a:rPr lang="uk-UA" dirty="0"/>
              <a:t> </a:t>
            </a:r>
            <a:r>
              <a:rPr lang="en-US" dirty="0"/>
              <a:t>X</a:t>
            </a:r>
            <a:br>
              <a:rPr lang="en-US" dirty="0"/>
            </a:br>
            <a:r>
              <a:rPr lang="en-US" dirty="0"/>
              <a:t>3.x.1 </a:t>
            </a:r>
            <a:r>
              <a:rPr lang="uk-UA" dirty="0" err="1"/>
              <a:t>Описание</a:t>
            </a:r>
            <a:br>
              <a:rPr lang="uk-UA" dirty="0"/>
            </a:br>
            <a:r>
              <a:rPr lang="uk-UA" dirty="0"/>
              <a:t>3.</a:t>
            </a:r>
            <a:r>
              <a:rPr lang="en-US" dirty="0"/>
              <a:t>x.2 </a:t>
            </a:r>
            <a:r>
              <a:rPr lang="uk-UA" dirty="0" err="1"/>
              <a:t>Функциональные</a:t>
            </a:r>
            <a:r>
              <a:rPr lang="uk-UA" dirty="0"/>
              <a:t> </a:t>
            </a:r>
            <a:r>
              <a:rPr lang="uk-UA" dirty="0" err="1"/>
              <a:t>требования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D1E3D850-7914-2742-B33A-C6793CD287B0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b="1" dirty="0"/>
              <a:t>2. </a:t>
            </a:r>
            <a:r>
              <a:rPr lang="en-US" b="1" dirty="0"/>
              <a:t>Overall Description</a:t>
            </a:r>
            <a:endParaRPr lang="en-US" b="1" i="1" dirty="0"/>
          </a:p>
          <a:p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/>
              <a:t>2.1 </a:t>
            </a:r>
            <a:r>
              <a:rPr lang="en-US" dirty="0"/>
              <a:t>Product Perspective</a:t>
            </a:r>
            <a:endParaRPr lang="en-US" i="1" dirty="0"/>
          </a:p>
          <a:p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/>
              <a:t>2.2 </a:t>
            </a:r>
            <a:r>
              <a:rPr lang="en-US" dirty="0"/>
              <a:t>Product Features</a:t>
            </a:r>
            <a:endParaRPr lang="en-US" i="1" dirty="0"/>
          </a:p>
          <a:p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/>
              <a:t>2.3 </a:t>
            </a:r>
            <a:r>
              <a:rPr lang="en-US" dirty="0"/>
              <a:t>User Classes and Characteristics</a:t>
            </a:r>
            <a:endParaRPr lang="en-US" i="1" dirty="0"/>
          </a:p>
          <a:p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/>
              <a:t>2.4 </a:t>
            </a:r>
            <a:r>
              <a:rPr lang="en-US" dirty="0"/>
              <a:t>Operating Environment</a:t>
            </a:r>
            <a:endParaRPr lang="en-US" i="1" dirty="0"/>
          </a:p>
          <a:p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/>
              <a:t>2.5 </a:t>
            </a:r>
            <a:r>
              <a:rPr lang="en-US" dirty="0"/>
              <a:t>Design and Implementation Constraints</a:t>
            </a:r>
            <a:endParaRPr lang="en-US" i="1" dirty="0"/>
          </a:p>
          <a:p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/>
              <a:t>2.6 </a:t>
            </a:r>
            <a:r>
              <a:rPr lang="en-US" dirty="0"/>
              <a:t>Assumptions and Dependencies</a:t>
            </a:r>
            <a:endParaRPr lang="en-US" i="1" dirty="0"/>
          </a:p>
          <a:p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b="1" dirty="0"/>
              <a:t>3. </a:t>
            </a:r>
            <a:r>
              <a:rPr lang="en-US" b="1" dirty="0"/>
              <a:t>System Features</a:t>
            </a:r>
            <a:endParaRPr lang="en-US" b="1" i="1" dirty="0"/>
          </a:p>
          <a:p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/>
              <a:t>3.1 </a:t>
            </a:r>
            <a:r>
              <a:rPr lang="en-US" dirty="0"/>
              <a:t>System Feature 1</a:t>
            </a:r>
            <a:endParaRPr lang="en-US" i="1" dirty="0"/>
          </a:p>
          <a:p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/>
              <a:t>3.2 </a:t>
            </a:r>
            <a:r>
              <a:rPr lang="en-US" dirty="0"/>
              <a:t>System Feature 2 (and so on)</a:t>
            </a:r>
          </a:p>
        </p:txBody>
      </p:sp>
    </p:spTree>
    <p:extLst>
      <p:ext uri="{BB962C8B-B14F-4D97-AF65-F5344CB8AC3E}">
        <p14:creationId xmlns:p14="http://schemas.microsoft.com/office/powerpoint/2010/main" val="44134594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59FDAC-04B1-8A48-AC34-B3F9D47F50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Шаблон </a:t>
            </a:r>
            <a:r>
              <a:rPr lang="en-US" dirty="0"/>
              <a:t>SRS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45F018F-EB31-7F46-ABE0-0344088D0EDD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-UA" b="1" dirty="0"/>
              <a:t>4. </a:t>
            </a:r>
            <a:r>
              <a:rPr lang="uk-UA" b="1" dirty="0" err="1"/>
              <a:t>Требования</a:t>
            </a:r>
            <a:r>
              <a:rPr lang="uk-UA" b="1" dirty="0"/>
              <a:t> </a:t>
            </a:r>
            <a:r>
              <a:rPr lang="uk-UA" b="1" dirty="0" err="1"/>
              <a:t>к</a:t>
            </a:r>
            <a:r>
              <a:rPr lang="uk-UA" b="1" dirty="0"/>
              <a:t> </a:t>
            </a:r>
            <a:r>
              <a:rPr lang="uk-UA" b="1" dirty="0" err="1"/>
              <a:t>данным</a:t>
            </a:r>
            <a:br>
              <a:rPr lang="uk-UA" dirty="0"/>
            </a:br>
            <a:r>
              <a:rPr lang="uk-UA" dirty="0"/>
              <a:t>4.1 </a:t>
            </a:r>
            <a:r>
              <a:rPr lang="uk-UA" dirty="0" err="1"/>
              <a:t>Логическая</a:t>
            </a:r>
            <a:r>
              <a:rPr lang="uk-UA" dirty="0"/>
              <a:t> модель </a:t>
            </a:r>
            <a:r>
              <a:rPr lang="uk-UA" dirty="0" err="1"/>
              <a:t>данных</a:t>
            </a:r>
            <a:br>
              <a:rPr lang="uk-UA" dirty="0"/>
            </a:br>
            <a:r>
              <a:rPr lang="uk-UA" dirty="0"/>
              <a:t>4.2 </a:t>
            </a:r>
            <a:r>
              <a:rPr lang="uk-UA" dirty="0" err="1"/>
              <a:t>Словарь</a:t>
            </a:r>
            <a:r>
              <a:rPr lang="uk-UA" dirty="0"/>
              <a:t> </a:t>
            </a:r>
            <a:r>
              <a:rPr lang="uk-UA" dirty="0" err="1"/>
              <a:t>данных</a:t>
            </a:r>
            <a:br>
              <a:rPr lang="uk-UA" dirty="0"/>
            </a:br>
            <a:r>
              <a:rPr lang="uk-UA" dirty="0"/>
              <a:t>4.3 </a:t>
            </a:r>
            <a:r>
              <a:rPr lang="uk-UA" dirty="0" err="1"/>
              <a:t>Отчеты</a:t>
            </a:r>
            <a:br>
              <a:rPr lang="uk-UA" dirty="0"/>
            </a:br>
            <a:r>
              <a:rPr lang="uk-UA" dirty="0"/>
              <a:t>4.4 </a:t>
            </a:r>
            <a:r>
              <a:rPr lang="uk-UA" dirty="0" err="1"/>
              <a:t>Получение</a:t>
            </a:r>
            <a:r>
              <a:rPr lang="uk-UA" dirty="0"/>
              <a:t>, </a:t>
            </a:r>
            <a:r>
              <a:rPr lang="uk-UA" dirty="0" err="1"/>
              <a:t>целостность</a:t>
            </a:r>
            <a:r>
              <a:rPr lang="uk-UA" dirty="0"/>
              <a:t>, </a:t>
            </a:r>
            <a:r>
              <a:rPr lang="uk-UA" dirty="0" err="1"/>
              <a:t>хранение</a:t>
            </a:r>
            <a:r>
              <a:rPr lang="uk-UA" dirty="0"/>
              <a:t> </a:t>
            </a:r>
            <a:r>
              <a:rPr lang="uk-UA" dirty="0" err="1"/>
              <a:t>и</a:t>
            </a:r>
            <a:r>
              <a:rPr lang="uk-UA" dirty="0"/>
              <a:t> </a:t>
            </a:r>
            <a:r>
              <a:rPr lang="uk-UA" dirty="0" err="1"/>
              <a:t>утилизация</a:t>
            </a:r>
            <a:r>
              <a:rPr lang="uk-UA" dirty="0"/>
              <a:t> </a:t>
            </a:r>
            <a:r>
              <a:rPr lang="uk-UA" dirty="0" err="1"/>
              <a:t>данных</a:t>
            </a:r>
            <a:endParaRPr lang="en-US" b="1" dirty="0"/>
          </a:p>
          <a:p>
            <a:pPr marL="0" indent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-UA" b="1" dirty="0"/>
              <a:t>5. </a:t>
            </a:r>
            <a:r>
              <a:rPr lang="uk-UA" b="1" dirty="0" err="1"/>
              <a:t>Требования</a:t>
            </a:r>
            <a:r>
              <a:rPr lang="uk-UA" b="1" dirty="0"/>
              <a:t> </a:t>
            </a:r>
            <a:r>
              <a:rPr lang="uk-UA" b="1" dirty="0" err="1"/>
              <a:t>к</a:t>
            </a:r>
            <a:r>
              <a:rPr lang="uk-UA" b="1" dirty="0"/>
              <a:t> </a:t>
            </a:r>
            <a:r>
              <a:rPr lang="uk-UA" b="1" dirty="0" err="1"/>
              <a:t>внешним</a:t>
            </a:r>
            <a:r>
              <a:rPr lang="uk-UA" b="1" dirty="0"/>
              <a:t> </a:t>
            </a:r>
            <a:r>
              <a:rPr lang="uk-UA" b="1" dirty="0" err="1"/>
              <a:t>интерфейсам</a:t>
            </a:r>
            <a:br>
              <a:rPr lang="uk-UA" dirty="0"/>
            </a:br>
            <a:r>
              <a:rPr lang="uk-UA" dirty="0"/>
              <a:t>5.1 </a:t>
            </a:r>
            <a:r>
              <a:rPr lang="uk-UA" dirty="0" err="1"/>
              <a:t>Пользовательские</a:t>
            </a:r>
            <a:r>
              <a:rPr lang="uk-UA" dirty="0"/>
              <a:t> </a:t>
            </a:r>
            <a:r>
              <a:rPr lang="uk-UA" dirty="0" err="1"/>
              <a:t>интерфейсы</a:t>
            </a:r>
            <a:br>
              <a:rPr lang="uk-UA" dirty="0"/>
            </a:br>
            <a:r>
              <a:rPr lang="uk-UA" dirty="0"/>
              <a:t>5.2 </a:t>
            </a:r>
            <a:r>
              <a:rPr lang="uk-UA" dirty="0" err="1"/>
              <a:t>Интерфейсы</a:t>
            </a:r>
            <a:r>
              <a:rPr lang="uk-UA" dirty="0"/>
              <a:t> ПО</a:t>
            </a:r>
            <a:br>
              <a:rPr lang="uk-UA" dirty="0"/>
            </a:br>
            <a:r>
              <a:rPr lang="uk-UA" dirty="0"/>
              <a:t>5.3 </a:t>
            </a:r>
            <a:r>
              <a:rPr lang="uk-UA" dirty="0" err="1"/>
              <a:t>Интерфейсы</a:t>
            </a:r>
            <a:r>
              <a:rPr lang="uk-UA" dirty="0"/>
              <a:t> </a:t>
            </a:r>
            <a:r>
              <a:rPr lang="uk-UA" dirty="0" err="1"/>
              <a:t>оборудования</a:t>
            </a:r>
            <a:br>
              <a:rPr lang="uk-UA" dirty="0"/>
            </a:br>
            <a:r>
              <a:rPr lang="uk-UA" dirty="0"/>
              <a:t>5.4 </a:t>
            </a:r>
            <a:r>
              <a:rPr lang="uk-UA" dirty="0" err="1"/>
              <a:t>Коммуникационные</a:t>
            </a:r>
            <a:r>
              <a:rPr lang="uk-UA" dirty="0"/>
              <a:t> </a:t>
            </a:r>
            <a:r>
              <a:rPr lang="uk-UA" dirty="0" err="1"/>
              <a:t>интерфейсы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D1E3D850-7914-2742-B33A-C6793CD287B0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dirty="0"/>
              <a:t>5. External Interface Requirements</a:t>
            </a:r>
            <a:endParaRPr lang="en-US" b="1" i="1" dirty="0"/>
          </a:p>
          <a:p>
            <a:pPr marL="0" indent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5.1 User Interfaces</a:t>
            </a:r>
            <a:endParaRPr lang="en-US" i="1" dirty="0"/>
          </a:p>
          <a:p>
            <a:pPr marL="0" indent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5.2 Hardware Interfaces</a:t>
            </a:r>
            <a:endParaRPr lang="en-US" i="1" dirty="0"/>
          </a:p>
          <a:p>
            <a:pPr marL="0" indent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5.3 Software Interfaces</a:t>
            </a:r>
            <a:endParaRPr lang="en-US" i="1" dirty="0"/>
          </a:p>
          <a:p>
            <a:pPr marL="0" indent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5.4 Communications Interfaces</a:t>
            </a:r>
          </a:p>
          <a:p>
            <a:pPr marL="0" indent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dirty="0"/>
              <a:t>4. Requirements</a:t>
            </a:r>
          </a:p>
          <a:p>
            <a:pPr marL="0" indent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4.1 Logical Data Model </a:t>
            </a:r>
          </a:p>
          <a:p>
            <a:pPr marL="0" indent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4.2 Data Dictionary</a:t>
            </a:r>
          </a:p>
          <a:p>
            <a:pPr marL="0" indent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4.3 Reports</a:t>
            </a:r>
          </a:p>
          <a:p>
            <a:pPr marL="0" indent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4.4 Data Integrity, Retention, and Disposal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i="1" dirty="0"/>
          </a:p>
        </p:txBody>
      </p:sp>
    </p:spTree>
    <p:extLst>
      <p:ext uri="{BB962C8B-B14F-4D97-AF65-F5344CB8AC3E}">
        <p14:creationId xmlns:p14="http://schemas.microsoft.com/office/powerpoint/2010/main" val="415373871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59FDAC-04B1-8A48-AC34-B3F9D47F50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Шаблон </a:t>
            </a:r>
            <a:r>
              <a:rPr lang="en-US" dirty="0"/>
              <a:t>SRS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45F018F-EB31-7F46-ABE0-0344088D0EDD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lnSpc>
                <a:spcPct val="130000"/>
              </a:lnSpc>
              <a:spcBef>
                <a:spcPts val="0"/>
              </a:spcBef>
              <a:buNone/>
            </a:pPr>
            <a:r>
              <a:rPr lang="uk-UA" b="1" dirty="0"/>
              <a:t>6. </a:t>
            </a:r>
            <a:r>
              <a:rPr lang="uk-UA" b="1" dirty="0" err="1"/>
              <a:t>Атрибуты</a:t>
            </a:r>
            <a:r>
              <a:rPr lang="uk-UA" b="1" dirty="0"/>
              <a:t> </a:t>
            </a:r>
            <a:r>
              <a:rPr lang="uk-UA" b="1" dirty="0" err="1"/>
              <a:t>качества</a:t>
            </a:r>
            <a:br>
              <a:rPr lang="uk-UA" dirty="0"/>
            </a:br>
            <a:r>
              <a:rPr lang="uk-UA" dirty="0"/>
              <a:t>6.1 </a:t>
            </a:r>
            <a:r>
              <a:rPr lang="uk-UA" dirty="0" err="1"/>
              <a:t>Удобство</a:t>
            </a:r>
            <a:r>
              <a:rPr lang="uk-UA" dirty="0"/>
              <a:t> </a:t>
            </a:r>
            <a:r>
              <a:rPr lang="uk-UA" dirty="0" err="1"/>
              <a:t>использования</a:t>
            </a:r>
            <a:br>
              <a:rPr lang="uk-UA" dirty="0"/>
            </a:br>
            <a:r>
              <a:rPr lang="uk-UA" dirty="0"/>
              <a:t>6.2 </a:t>
            </a:r>
            <a:r>
              <a:rPr lang="uk-UA" dirty="0" err="1"/>
              <a:t>Производительность</a:t>
            </a:r>
            <a:br>
              <a:rPr lang="uk-UA" dirty="0"/>
            </a:br>
            <a:r>
              <a:rPr lang="uk-UA" dirty="0"/>
              <a:t>6.3 </a:t>
            </a:r>
            <a:r>
              <a:rPr lang="uk-UA" dirty="0" err="1"/>
              <a:t>Безопасность</a:t>
            </a:r>
            <a:br>
              <a:rPr lang="uk-UA" dirty="0"/>
            </a:br>
            <a:r>
              <a:rPr lang="uk-UA" dirty="0"/>
              <a:t>6.4 </a:t>
            </a:r>
            <a:r>
              <a:rPr lang="uk-UA" dirty="0" err="1"/>
              <a:t>Техника</a:t>
            </a:r>
            <a:r>
              <a:rPr lang="uk-UA" dirty="0"/>
              <a:t> </a:t>
            </a:r>
            <a:r>
              <a:rPr lang="uk-UA" dirty="0" err="1"/>
              <a:t>безопасности</a:t>
            </a:r>
            <a:br>
              <a:rPr lang="uk-UA" dirty="0"/>
            </a:br>
            <a:r>
              <a:rPr lang="uk-UA" dirty="0"/>
              <a:t>6.</a:t>
            </a:r>
            <a:r>
              <a:rPr lang="en-US" dirty="0"/>
              <a:t>x [</a:t>
            </a:r>
            <a:r>
              <a:rPr lang="uk-UA" dirty="0" err="1"/>
              <a:t>Другие</a:t>
            </a:r>
            <a:r>
              <a:rPr lang="uk-UA" dirty="0"/>
              <a:t>]</a:t>
            </a:r>
            <a:endParaRPr lang="en-US" dirty="0"/>
          </a:p>
          <a:p>
            <a:pPr marL="0" indent="0">
              <a:lnSpc>
                <a:spcPct val="130000"/>
              </a:lnSpc>
              <a:spcBef>
                <a:spcPts val="0"/>
              </a:spcBef>
              <a:buNone/>
            </a:pPr>
            <a:r>
              <a:rPr lang="uk-UA" b="1" dirty="0"/>
              <a:t>7. </a:t>
            </a:r>
            <a:r>
              <a:rPr lang="uk-UA" b="1" dirty="0" err="1"/>
              <a:t>Требования</a:t>
            </a:r>
            <a:r>
              <a:rPr lang="uk-UA" b="1" dirty="0"/>
              <a:t> по </a:t>
            </a:r>
            <a:r>
              <a:rPr lang="uk-UA" b="1" dirty="0" err="1"/>
              <a:t>интернационализации</a:t>
            </a:r>
            <a:r>
              <a:rPr lang="uk-UA" b="1" dirty="0"/>
              <a:t> </a:t>
            </a:r>
            <a:r>
              <a:rPr lang="uk-UA" b="1" dirty="0" err="1"/>
              <a:t>и</a:t>
            </a:r>
            <a:r>
              <a:rPr lang="uk-UA" b="1" dirty="0"/>
              <a:t> </a:t>
            </a:r>
            <a:r>
              <a:rPr lang="uk-UA" b="1" dirty="0" err="1"/>
              <a:t>локализации</a:t>
            </a:r>
            <a:endParaRPr lang="en-US" b="1" dirty="0"/>
          </a:p>
          <a:p>
            <a:pPr marL="0" indent="0">
              <a:lnSpc>
                <a:spcPct val="130000"/>
              </a:lnSpc>
              <a:spcBef>
                <a:spcPts val="0"/>
              </a:spcBef>
              <a:buNone/>
            </a:pPr>
            <a:r>
              <a:rPr lang="uk-UA" b="1" dirty="0"/>
              <a:t>8. </a:t>
            </a:r>
            <a:r>
              <a:rPr lang="uk-UA" b="1" dirty="0" err="1"/>
              <a:t>Остальные</a:t>
            </a:r>
            <a:r>
              <a:rPr lang="uk-UA" b="1" dirty="0"/>
              <a:t> </a:t>
            </a:r>
            <a:r>
              <a:rPr lang="uk-UA" b="1" dirty="0" err="1"/>
              <a:t>требования</a:t>
            </a:r>
            <a:endParaRPr lang="en-US" b="1" dirty="0"/>
          </a:p>
          <a:p>
            <a:pPr marL="0" indent="0">
              <a:lnSpc>
                <a:spcPct val="130000"/>
              </a:lnSpc>
              <a:spcBef>
                <a:spcPts val="0"/>
              </a:spcBef>
              <a:buNone/>
            </a:pPr>
            <a:r>
              <a:rPr lang="uk-UA" b="1" dirty="0" err="1"/>
              <a:t>Приложение</a:t>
            </a:r>
            <a:r>
              <a:rPr lang="uk-UA" b="1" dirty="0"/>
              <a:t> </a:t>
            </a:r>
            <a:r>
              <a:rPr lang="en-US" b="1" dirty="0"/>
              <a:t>A. </a:t>
            </a:r>
            <a:r>
              <a:rPr lang="uk-UA" b="1" dirty="0" err="1"/>
              <a:t>Словарь</a:t>
            </a:r>
            <a:r>
              <a:rPr lang="uk-UA" b="1" dirty="0"/>
              <a:t> </a:t>
            </a:r>
            <a:r>
              <a:rPr lang="uk-UA" b="1" dirty="0" err="1"/>
              <a:t>терминов</a:t>
            </a:r>
            <a:br>
              <a:rPr lang="uk-UA" dirty="0"/>
            </a:br>
            <a:r>
              <a:rPr lang="uk-UA" b="1" dirty="0" err="1"/>
              <a:t>Приложение</a:t>
            </a:r>
            <a:r>
              <a:rPr lang="uk-UA" b="1" dirty="0"/>
              <a:t> Б. </a:t>
            </a:r>
            <a:r>
              <a:rPr lang="uk-UA" b="1" dirty="0" err="1"/>
              <a:t>Модели</a:t>
            </a:r>
            <a:r>
              <a:rPr lang="uk-UA" b="1" dirty="0"/>
              <a:t> </a:t>
            </a:r>
            <a:r>
              <a:rPr lang="uk-UA" b="1" dirty="0" err="1"/>
              <a:t>анализа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D1E3D850-7914-2742-B33A-C6793CD287B0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dirty="0"/>
              <a:t>6. Other Nonfunctional Requirements</a:t>
            </a:r>
            <a:endParaRPr lang="en-US" b="1" i="1" dirty="0"/>
          </a:p>
          <a:p>
            <a:pPr marL="0" indent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6.1 Performance Requirements</a:t>
            </a:r>
            <a:endParaRPr lang="en-US" i="1" dirty="0"/>
          </a:p>
          <a:p>
            <a:pPr marL="0" indent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6.2 Safety Requirements</a:t>
            </a:r>
            <a:endParaRPr lang="en-US" i="1" dirty="0"/>
          </a:p>
          <a:p>
            <a:pPr marL="0" indent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6.3 Security Requirements</a:t>
            </a:r>
            <a:endParaRPr lang="en-US" i="1" dirty="0"/>
          </a:p>
          <a:p>
            <a:pPr marL="0" indent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6.4 Software Quality Attributes</a:t>
            </a:r>
          </a:p>
          <a:p>
            <a:pPr marL="0" indent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6.X Other</a:t>
            </a:r>
          </a:p>
          <a:p>
            <a:pPr marL="0" indent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dirty="0"/>
              <a:t>7. Internationalization &amp; localization requirements</a:t>
            </a:r>
          </a:p>
          <a:p>
            <a:pPr marL="0" indent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dirty="0"/>
              <a:t>8. Other Requirements</a:t>
            </a:r>
            <a:endParaRPr lang="en-US" b="1" i="1" dirty="0"/>
          </a:p>
          <a:p>
            <a:pPr marL="0" indent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dirty="0"/>
              <a:t>Appendix A: Glossary</a:t>
            </a:r>
            <a:endParaRPr lang="en-US" b="1" i="1" dirty="0"/>
          </a:p>
          <a:p>
            <a:pPr marL="0" indent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dirty="0"/>
              <a:t>Appendix B: Analysis Models</a:t>
            </a:r>
          </a:p>
        </p:txBody>
      </p:sp>
    </p:spTree>
    <p:extLst>
      <p:ext uri="{BB962C8B-B14F-4D97-AF65-F5344CB8AC3E}">
        <p14:creationId xmlns:p14="http://schemas.microsoft.com/office/powerpoint/2010/main" val="145329105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ECDAF7-5064-4002-ADBD-614E6D6C02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Светы по составлению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97E845-08B2-4F6A-81C2-1BC6B5E363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/>
            <a:r>
              <a:rPr lang="ru-RU" dirty="0"/>
              <a:t>подходящий шаблон;</a:t>
            </a:r>
            <a:endParaRPr lang="en-US" dirty="0"/>
          </a:p>
          <a:p>
            <a:pPr lvl="0"/>
            <a:r>
              <a:rPr lang="ru-RU" dirty="0"/>
              <a:t>единообразное именование разделов;</a:t>
            </a:r>
          </a:p>
          <a:p>
            <a:r>
              <a:rPr lang="ru-RU" dirty="0"/>
              <a:t>единообразное описаний;</a:t>
            </a:r>
            <a:endParaRPr lang="en-US" dirty="0"/>
          </a:p>
          <a:p>
            <a:pPr lvl="0"/>
            <a:r>
              <a:rPr lang="ru-RU" dirty="0"/>
              <a:t>визуальное выделение;</a:t>
            </a:r>
            <a:endParaRPr lang="en-US" dirty="0"/>
          </a:p>
          <a:p>
            <a:pPr lvl="0"/>
            <a:r>
              <a:rPr lang="ru-RU" dirty="0"/>
              <a:t>структура и оглавление;</a:t>
            </a:r>
            <a:endParaRPr lang="en-US" dirty="0"/>
          </a:p>
          <a:p>
            <a:pPr lvl="0"/>
            <a:r>
              <a:rPr lang="ru-RU" dirty="0"/>
              <a:t>номерование таблиц и рисунков;</a:t>
            </a:r>
            <a:endParaRPr lang="en-US" dirty="0"/>
          </a:p>
          <a:p>
            <a:pPr lvl="0"/>
            <a:r>
              <a:rPr lang="ru-RU" dirty="0"/>
              <a:t>перекрестные ссылки  и гиперссылки;</a:t>
            </a:r>
            <a:endParaRPr lang="en-US" dirty="0"/>
          </a:p>
          <a:p>
            <a:pPr lvl="0"/>
            <a:r>
              <a:rPr lang="ru-RU" dirty="0"/>
              <a:t>чередование текста, таблиц и рисунков;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6121814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EA5AA7-648B-43D1-A37B-0AE0667167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Пример 1</a:t>
            </a:r>
            <a:endParaRPr lang="en-US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4F62BAA-DCA5-4D33-A063-BBD6551122E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54286" y="375459"/>
            <a:ext cx="7450686" cy="5929745"/>
          </a:xfrm>
        </p:spPr>
      </p:pic>
      <p:sp>
        <p:nvSpPr>
          <p:cNvPr id="3" name="Текст 2"/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799835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EA5AA7-648B-43D1-A37B-0AE0667167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Пример 2</a:t>
            </a:r>
            <a:endParaRPr lang="en-US" dirty="0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29019" y="398719"/>
            <a:ext cx="6871854" cy="6269682"/>
          </a:xfrm>
        </p:spPr>
      </p:pic>
      <p:sp>
        <p:nvSpPr>
          <p:cNvPr id="3" name="Текст 2"/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22899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Преимущества и недостатки </a:t>
            </a:r>
            <a:r>
              <a:rPr lang="en-US" dirty="0"/>
              <a:t>SRS</a:t>
            </a:r>
            <a:endParaRPr lang="ru-RU" dirty="0"/>
          </a:p>
        </p:txBody>
      </p:sp>
      <p:sp>
        <p:nvSpPr>
          <p:cNvPr id="5" name="Текст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Преимущества</a:t>
            </a:r>
            <a:endParaRPr lang="uk-UA" dirty="0"/>
          </a:p>
        </p:txBody>
      </p:sp>
      <p:sp>
        <p:nvSpPr>
          <p:cNvPr id="7" name="Объект 6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ru-RU" dirty="0"/>
              <a:t>Покрывает как функциональные, так и нефункциональные требования;</a:t>
            </a:r>
          </a:p>
          <a:p>
            <a:r>
              <a:rPr lang="ru-RU" dirty="0"/>
              <a:t>Снижает риск недопонимания на ранних стадиях;</a:t>
            </a:r>
          </a:p>
          <a:p>
            <a:r>
              <a:rPr lang="ru-RU" dirty="0"/>
              <a:t>Снижает риск утери требований;</a:t>
            </a:r>
          </a:p>
          <a:p>
            <a:r>
              <a:rPr lang="ru-RU" dirty="0"/>
              <a:t>Облегчает тестирование;</a:t>
            </a:r>
          </a:p>
          <a:p>
            <a:r>
              <a:rPr lang="ru-RU" dirty="0"/>
              <a:t>Помогает запланировать загрузку команды и выявить зависимости.</a:t>
            </a:r>
            <a:endParaRPr lang="uk-UA" dirty="0"/>
          </a:p>
        </p:txBody>
      </p:sp>
      <p:sp>
        <p:nvSpPr>
          <p:cNvPr id="6" name="Текст 5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ru-RU" dirty="0"/>
              <a:t>Недостатки</a:t>
            </a:r>
            <a:endParaRPr lang="uk-UA" dirty="0"/>
          </a:p>
        </p:txBody>
      </p:sp>
      <p:sp>
        <p:nvSpPr>
          <p:cNvPr id="8" name="Объект 7"/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r>
              <a:rPr lang="ru-RU" dirty="0"/>
              <a:t>Подготовка занимает много времени;</a:t>
            </a:r>
          </a:p>
          <a:p>
            <a:r>
              <a:rPr lang="ru-RU" dirty="0"/>
              <a:t>Сложна к прочтению и пониманию;</a:t>
            </a:r>
          </a:p>
          <a:p>
            <a:r>
              <a:rPr lang="ru-RU" dirty="0"/>
              <a:t>Сложно поддерживать в актуальном состоянии.</a:t>
            </a:r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86043165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1">
                <a:tint val="90000"/>
                <a:lumMod val="110000"/>
              </a:schemeClr>
            </a:gs>
            <a:gs pos="100000">
              <a:schemeClr val="bg1">
                <a:shade val="64000"/>
                <a:lumMod val="88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1F395E0-10E0-4863-BE52-0F4A2798196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86933" y="2213361"/>
            <a:ext cx="6247721" cy="2204815"/>
          </a:xfrm>
        </p:spPr>
        <p:txBody>
          <a:bodyPr>
            <a:normAutofit/>
          </a:bodyPr>
          <a:lstStyle/>
          <a:p>
            <a:pPr algn="l"/>
            <a:r>
              <a:rPr lang="en-US" sz="4400" dirty="0"/>
              <a:t>Use</a:t>
            </a:r>
            <a:r>
              <a:rPr lang="ru-RU" sz="4400" dirty="0"/>
              <a:t> </a:t>
            </a:r>
            <a:r>
              <a:rPr lang="en-US" sz="4400" dirty="0"/>
              <a:t>Case</a:t>
            </a:r>
            <a:endParaRPr lang="en-US" sz="4100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668B4C7-CF60-413E-BF81-3742A22D589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86934" y="4418176"/>
            <a:ext cx="6247721" cy="1264209"/>
          </a:xfrm>
        </p:spPr>
        <p:txBody>
          <a:bodyPr>
            <a:normAutofit/>
          </a:bodyPr>
          <a:lstStyle/>
          <a:p>
            <a:pPr algn="l"/>
            <a:r>
              <a:rPr lang="ru-RU" dirty="0">
                <a:solidFill>
                  <a:schemeClr val="tx1">
                    <a:lumMod val="50000"/>
                    <a:lumOff val="50000"/>
                  </a:schemeClr>
                </a:solidFill>
              </a:rPr>
              <a:t>Сценарий использования</a:t>
            </a:r>
            <a:endParaRPr lang="en-US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4827754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Сценарий использования</a:t>
            </a:r>
            <a:endParaRPr lang="uk-UA" dirty="0"/>
          </a:p>
        </p:txBody>
      </p:sp>
      <p:sp>
        <p:nvSpPr>
          <p:cNvPr id="12" name="Объект 1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— это описание поведения системы, когда она взаимодействует с кем-то (или чем-то) из внешней среды.</a:t>
            </a:r>
            <a:endParaRPr lang="uk-UA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644296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Заголовок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Атрибуты</a:t>
            </a:r>
            <a:endParaRPr lang="uk-UA" dirty="0"/>
          </a:p>
        </p:txBody>
      </p:sp>
      <p:sp>
        <p:nvSpPr>
          <p:cNvPr id="8" name="Объект 7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ID + Name</a:t>
            </a:r>
            <a:r>
              <a:rPr lang="ru-RU" dirty="0"/>
              <a:t>;</a:t>
            </a:r>
            <a:endParaRPr lang="en-US" dirty="0"/>
          </a:p>
          <a:p>
            <a:r>
              <a:rPr lang="en-US" dirty="0"/>
              <a:t>Description</a:t>
            </a:r>
            <a:r>
              <a:rPr lang="ru-RU" dirty="0"/>
              <a:t>;</a:t>
            </a:r>
            <a:endParaRPr lang="en-US" dirty="0"/>
          </a:p>
          <a:p>
            <a:r>
              <a:rPr lang="en-US" dirty="0"/>
              <a:t>Actors</a:t>
            </a:r>
            <a:r>
              <a:rPr lang="ru-RU" dirty="0"/>
              <a:t>;</a:t>
            </a:r>
            <a:endParaRPr lang="en-US" dirty="0"/>
          </a:p>
          <a:p>
            <a:r>
              <a:rPr lang="en-US" dirty="0"/>
              <a:t>Pre-conditions</a:t>
            </a:r>
            <a:r>
              <a:rPr lang="ru-RU" dirty="0"/>
              <a:t>;</a:t>
            </a:r>
            <a:endParaRPr lang="en-US" dirty="0"/>
          </a:p>
          <a:p>
            <a:r>
              <a:rPr lang="en-US" dirty="0"/>
              <a:t>Trigger</a:t>
            </a:r>
            <a:r>
              <a:rPr lang="ru-RU" dirty="0"/>
              <a:t>;</a:t>
            </a:r>
            <a:endParaRPr lang="en-US" dirty="0"/>
          </a:p>
          <a:p>
            <a:r>
              <a:rPr lang="en-US" dirty="0"/>
              <a:t>Main Success Scenario</a:t>
            </a:r>
            <a:r>
              <a:rPr lang="ru-RU" dirty="0"/>
              <a:t>;</a:t>
            </a:r>
            <a:endParaRPr lang="en-US" dirty="0"/>
          </a:p>
          <a:p>
            <a:r>
              <a:rPr lang="en-US" dirty="0"/>
              <a:t>Extensions</a:t>
            </a:r>
            <a:r>
              <a:rPr lang="ru-RU" dirty="0"/>
              <a:t>;</a:t>
            </a:r>
            <a:endParaRPr lang="en-US" dirty="0"/>
          </a:p>
          <a:p>
            <a:r>
              <a:rPr lang="en-US" dirty="0"/>
              <a:t>Post-condition</a:t>
            </a:r>
            <a:r>
              <a:rPr lang="ru-RU" dirty="0"/>
              <a:t>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3242434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Пример</a:t>
            </a:r>
            <a:endParaRPr lang="uk-UA" dirty="0"/>
          </a:p>
        </p:txBody>
      </p:sp>
      <p:graphicFrame>
        <p:nvGraphicFramePr>
          <p:cNvPr id="4" name="Объект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9375516"/>
              </p:ext>
            </p:extLst>
          </p:nvPr>
        </p:nvGraphicFramePr>
        <p:xfrm>
          <a:off x="4445038" y="704216"/>
          <a:ext cx="7444508" cy="5449567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860684">
                  <a:extLst>
                    <a:ext uri="{9D8B030D-6E8A-4147-A177-3AD203B41FA5}">
                      <a16:colId xmlns:a16="http://schemas.microsoft.com/office/drawing/2014/main" val="1369623724"/>
                    </a:ext>
                  </a:extLst>
                </a:gridCol>
                <a:gridCol w="5583824">
                  <a:extLst>
                    <a:ext uri="{9D8B030D-6E8A-4147-A177-3AD203B41FA5}">
                      <a16:colId xmlns:a16="http://schemas.microsoft.com/office/drawing/2014/main" val="1158870325"/>
                    </a:ext>
                  </a:extLst>
                </a:gridCol>
              </a:tblGrid>
              <a:tr h="428836"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 i="0" u="none" strike="noStrike" err="1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ID+Name</a:t>
                      </a:r>
                      <a:endParaRPr lang="en-US" sz="1200">
                        <a:effectLst/>
                        <a:latin typeface="+mn-lt"/>
                      </a:endParaRPr>
                    </a:p>
                  </a:txBody>
                  <a:tcPr marL="52616" marR="52616" marT="63500" marB="63500"/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#123 Login with email &amp; password</a:t>
                      </a:r>
                      <a:endParaRPr lang="en-US" sz="1200">
                        <a:effectLst/>
                        <a:latin typeface="+mn-lt"/>
                      </a:endParaRPr>
                    </a:p>
                  </a:txBody>
                  <a:tcPr marL="52616" marR="52616" marT="63500" marB="63500"/>
                </a:tc>
                <a:extLst>
                  <a:ext uri="{0D108BD9-81ED-4DB2-BD59-A6C34878D82A}">
                    <a16:rowId xmlns:a16="http://schemas.microsoft.com/office/drawing/2014/main" val="2359039322"/>
                  </a:ext>
                </a:extLst>
              </a:tr>
              <a:tr h="428836"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Description</a:t>
                      </a:r>
                      <a:endParaRPr lang="en-US" sz="1200">
                        <a:effectLst/>
                        <a:latin typeface="+mn-lt"/>
                      </a:endParaRPr>
                    </a:p>
                  </a:txBody>
                  <a:tcPr marL="52616" marR="52616" marT="63500" marB="63500"/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User logs into one’s account</a:t>
                      </a:r>
                      <a:endParaRPr lang="en-US" sz="1200" dirty="0">
                        <a:effectLst/>
                        <a:latin typeface="+mn-lt"/>
                      </a:endParaRPr>
                    </a:p>
                  </a:txBody>
                  <a:tcPr marL="52616" marR="52616" marT="63500" marB="63500"/>
                </a:tc>
                <a:extLst>
                  <a:ext uri="{0D108BD9-81ED-4DB2-BD59-A6C34878D82A}">
                    <a16:rowId xmlns:a16="http://schemas.microsoft.com/office/drawing/2014/main" val="2706490028"/>
                  </a:ext>
                </a:extLst>
              </a:tr>
              <a:tr h="428836"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Actors</a:t>
                      </a:r>
                      <a:endParaRPr lang="en-US" sz="1200">
                        <a:effectLst/>
                        <a:latin typeface="+mn-lt"/>
                      </a:endParaRPr>
                    </a:p>
                  </a:txBody>
                  <a:tcPr marL="52616" marR="52616" marT="63500" marB="63500"/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Registered User</a:t>
                      </a:r>
                      <a:endParaRPr lang="en-US" sz="1200" dirty="0">
                        <a:effectLst/>
                        <a:latin typeface="+mn-lt"/>
                      </a:endParaRPr>
                    </a:p>
                  </a:txBody>
                  <a:tcPr marL="52616" marR="52616" marT="63500" marB="63500"/>
                </a:tc>
                <a:extLst>
                  <a:ext uri="{0D108BD9-81ED-4DB2-BD59-A6C34878D82A}">
                    <a16:rowId xmlns:a16="http://schemas.microsoft.com/office/drawing/2014/main" val="83694463"/>
                  </a:ext>
                </a:extLst>
              </a:tr>
              <a:tr h="399790"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Pre-conditions</a:t>
                      </a:r>
                      <a:endParaRPr lang="en-US" sz="1200" dirty="0">
                        <a:effectLst/>
                        <a:latin typeface="+mn-lt"/>
                      </a:endParaRPr>
                    </a:p>
                  </a:txBody>
                  <a:tcPr marL="52616" marR="52616" marT="63500" marB="63500"/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User is not logged in</a:t>
                      </a:r>
                      <a:endParaRPr lang="en-US" sz="1200" dirty="0">
                        <a:effectLst/>
                        <a:latin typeface="+mn-lt"/>
                      </a:endParaRPr>
                    </a:p>
                  </a:txBody>
                  <a:tcPr marL="52616" marR="52616" marT="63500" marB="63500"/>
                </a:tc>
                <a:extLst>
                  <a:ext uri="{0D108BD9-81ED-4DB2-BD59-A6C34878D82A}">
                    <a16:rowId xmlns:a16="http://schemas.microsoft.com/office/drawing/2014/main" val="1092209617"/>
                  </a:ext>
                </a:extLst>
              </a:tr>
              <a:tr h="360885"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 dirty="0">
                          <a:effectLst/>
                          <a:latin typeface="+mn-lt"/>
                        </a:rPr>
                        <a:t>Trigger</a:t>
                      </a:r>
                    </a:p>
                  </a:txBody>
                  <a:tcPr marL="52616" marR="52616" marT="63500" marB="63500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User goes to ‘Login’ page</a:t>
                      </a:r>
                      <a:endParaRPr lang="en-US" sz="1200" dirty="0">
                        <a:effectLst/>
                        <a:latin typeface="+mn-lt"/>
                      </a:endParaRPr>
                    </a:p>
                  </a:txBody>
                  <a:tcPr marL="52616" marR="52616" marT="63500" marB="63500"/>
                </a:tc>
                <a:extLst>
                  <a:ext uri="{0D108BD9-81ED-4DB2-BD59-A6C34878D82A}">
                    <a16:rowId xmlns:a16="http://schemas.microsoft.com/office/drawing/2014/main" val="374684062"/>
                  </a:ext>
                </a:extLst>
              </a:tr>
              <a:tr h="948092"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Main success scenario</a:t>
                      </a:r>
                      <a:endParaRPr lang="en-US" sz="1200">
                        <a:effectLst/>
                        <a:latin typeface="+mn-lt"/>
                      </a:endParaRPr>
                    </a:p>
                  </a:txBody>
                  <a:tcPr marL="52616" marR="52616" marT="63500" marB="63500"/>
                </a:tc>
                <a:tc>
                  <a:txBody>
                    <a:bodyPr/>
                    <a:lstStyle/>
                    <a:p>
                      <a:pPr rtl="0" fontAlgn="base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+mj-lt"/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1. User fills ‘Email’ field with a email, that one has signed up with</a:t>
                      </a:r>
                    </a:p>
                    <a:p>
                      <a:pPr rtl="0" fontAlgn="base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+mj-lt"/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2. User fills ‘Password’ field with a password, that one has signed up with</a:t>
                      </a:r>
                    </a:p>
                    <a:p>
                      <a:pPr rtl="0" fontAlgn="base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+mj-lt"/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3. ‘Login’ button becomes active</a:t>
                      </a:r>
                    </a:p>
                    <a:p>
                      <a:pPr rtl="0" fontAlgn="base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+mj-lt"/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4. User clicks ‘Login’ button </a:t>
                      </a:r>
                    </a:p>
                  </a:txBody>
                  <a:tcPr marL="52616" marR="52616" marT="63500" marB="63500"/>
                </a:tc>
                <a:extLst>
                  <a:ext uri="{0D108BD9-81ED-4DB2-BD59-A6C34878D82A}">
                    <a16:rowId xmlns:a16="http://schemas.microsoft.com/office/drawing/2014/main" val="2142558235"/>
                  </a:ext>
                </a:extLst>
              </a:tr>
              <a:tr h="1114995">
                <a:tc rowSpan="2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Alternative scenarios</a:t>
                      </a:r>
                      <a:endParaRPr lang="en-US" sz="1200" dirty="0">
                        <a:effectLst/>
                        <a:latin typeface="+mn-lt"/>
                      </a:endParaRPr>
                    </a:p>
                  </a:txBody>
                  <a:tcPr marL="52616" marR="52616" marT="63500" marB="63500"/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1a. User enters wrong email</a:t>
                      </a:r>
                      <a:endParaRPr lang="en-US" sz="1200">
                        <a:effectLst/>
                        <a:latin typeface="+mn-lt"/>
                      </a:endParaRPr>
                    </a:p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2a. User fills ‘Password’ field </a:t>
                      </a:r>
                      <a:endParaRPr lang="en-US" sz="1200">
                        <a:effectLst/>
                        <a:latin typeface="+mn-lt"/>
                      </a:endParaRPr>
                    </a:p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3a. ‘Login’ button becomes active</a:t>
                      </a:r>
                      <a:endParaRPr lang="en-US" sz="1200">
                        <a:effectLst/>
                        <a:latin typeface="+mn-lt"/>
                      </a:endParaRPr>
                    </a:p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4a. User clicks ‘Login’ button </a:t>
                      </a:r>
                      <a:endParaRPr lang="en-US" sz="1200">
                        <a:effectLst/>
                        <a:latin typeface="+mn-lt"/>
                      </a:endParaRPr>
                    </a:p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5a. ‘There’s no account with such email’ warning message is displayed</a:t>
                      </a:r>
                      <a:endParaRPr lang="en-US" sz="1200">
                        <a:effectLst/>
                        <a:latin typeface="+mn-lt"/>
                      </a:endParaRPr>
                    </a:p>
                  </a:txBody>
                  <a:tcPr marL="52616" marR="52616" marT="63500" marB="63500"/>
                </a:tc>
                <a:extLst>
                  <a:ext uri="{0D108BD9-81ED-4DB2-BD59-A6C34878D82A}">
                    <a16:rowId xmlns:a16="http://schemas.microsoft.com/office/drawing/2014/main" val="3426465127"/>
                  </a:ext>
                </a:extLst>
              </a:tr>
              <a:tr h="910461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2b. User enters wrong password </a:t>
                      </a:r>
                      <a:endParaRPr lang="en-US" sz="1200" dirty="0">
                        <a:effectLst/>
                        <a:latin typeface="+mn-lt"/>
                      </a:endParaRPr>
                    </a:p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3b. ‘Login’ button becomes active</a:t>
                      </a:r>
                      <a:endParaRPr lang="en-US" sz="1200" dirty="0">
                        <a:effectLst/>
                        <a:latin typeface="+mn-lt"/>
                      </a:endParaRPr>
                    </a:p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4b. User clicks ‘Login’ button</a:t>
                      </a:r>
                      <a:endParaRPr lang="en-US" sz="1200" dirty="0">
                        <a:effectLst/>
                        <a:latin typeface="+mn-lt"/>
                      </a:endParaRPr>
                    </a:p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5b. ‘Wrong password’ warning message is displayed</a:t>
                      </a:r>
                      <a:endParaRPr lang="en-US" sz="1200" dirty="0">
                        <a:effectLst/>
                        <a:latin typeface="+mn-lt"/>
                      </a:endParaRPr>
                    </a:p>
                  </a:txBody>
                  <a:tcPr marL="52616" marR="52616" marT="63500" marB="63500"/>
                </a:tc>
                <a:extLst>
                  <a:ext uri="{0D108BD9-81ED-4DB2-BD59-A6C34878D82A}">
                    <a16:rowId xmlns:a16="http://schemas.microsoft.com/office/drawing/2014/main" val="1878070866"/>
                  </a:ext>
                </a:extLst>
              </a:tr>
              <a:tr h="428836"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Post-conditions</a:t>
                      </a:r>
                      <a:endParaRPr lang="en-US" sz="1200">
                        <a:effectLst/>
                        <a:latin typeface="+mn-lt"/>
                      </a:endParaRPr>
                    </a:p>
                  </a:txBody>
                  <a:tcPr marL="52616" marR="52616" marT="63500" marB="63500"/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User is logged in and can use one’s account</a:t>
                      </a:r>
                      <a:endParaRPr lang="en-US" sz="1200" dirty="0">
                        <a:effectLst/>
                        <a:latin typeface="+mn-lt"/>
                      </a:endParaRPr>
                    </a:p>
                  </a:txBody>
                  <a:tcPr marL="52616" marR="52616" marT="63500" marB="63500"/>
                </a:tc>
                <a:extLst>
                  <a:ext uri="{0D108BD9-81ED-4DB2-BD59-A6C34878D82A}">
                    <a16:rowId xmlns:a16="http://schemas.microsoft.com/office/drawing/2014/main" val="3675044186"/>
                  </a:ext>
                </a:extLst>
              </a:tr>
            </a:tbl>
          </a:graphicData>
        </a:graphic>
      </p:graphicFrame>
      <p:sp>
        <p:nvSpPr>
          <p:cNvPr id="3" name="Текст 2"/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81432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Преимущества и недостатки </a:t>
            </a:r>
            <a:r>
              <a:rPr lang="en-US" dirty="0"/>
              <a:t>Use Case</a:t>
            </a:r>
            <a:endParaRPr lang="ru-RU" dirty="0"/>
          </a:p>
        </p:txBody>
      </p:sp>
      <p:sp>
        <p:nvSpPr>
          <p:cNvPr id="5" name="Текст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Преимущества</a:t>
            </a:r>
            <a:endParaRPr lang="uk-UA" dirty="0"/>
          </a:p>
        </p:txBody>
      </p:sp>
      <p:sp>
        <p:nvSpPr>
          <p:cNvPr id="7" name="Объект 6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ru-RU" dirty="0"/>
              <a:t>Хорошо подходит для оценки, планирования и валидации усилий команды разработки;</a:t>
            </a:r>
          </a:p>
          <a:p>
            <a:r>
              <a:rPr lang="ru-RU" dirty="0"/>
              <a:t>Может обновляться в любой итерации;</a:t>
            </a:r>
          </a:p>
          <a:p>
            <a:r>
              <a:rPr lang="ru-RU" dirty="0"/>
              <a:t>Альтернативные сценарии покрывают дополнительное поведение;</a:t>
            </a:r>
          </a:p>
          <a:p>
            <a:r>
              <a:rPr lang="ru-RU" dirty="0"/>
              <a:t>Понятны и для бизнеса и для разработчиков.</a:t>
            </a:r>
            <a:endParaRPr lang="uk-UA" dirty="0"/>
          </a:p>
        </p:txBody>
      </p:sp>
      <p:sp>
        <p:nvSpPr>
          <p:cNvPr id="6" name="Текст 5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ru-RU" dirty="0"/>
              <a:t>Недостатки</a:t>
            </a:r>
            <a:endParaRPr lang="uk-UA" dirty="0"/>
          </a:p>
        </p:txBody>
      </p:sp>
      <p:sp>
        <p:nvSpPr>
          <p:cNvPr id="8" name="Объект 7"/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r>
              <a:rPr lang="ru-RU" dirty="0"/>
              <a:t>Не объясняет полезности функционала;</a:t>
            </a:r>
          </a:p>
          <a:p>
            <a:r>
              <a:rPr lang="ru-RU" dirty="0"/>
              <a:t>Не покрывает нефункциональные требования;</a:t>
            </a:r>
          </a:p>
          <a:p>
            <a:r>
              <a:rPr lang="ru-RU" dirty="0"/>
              <a:t>Функционал подается раздельно, не прослеживает зависимость между его частями;</a:t>
            </a:r>
          </a:p>
          <a:p>
            <a:r>
              <a:rPr lang="ru-RU" dirty="0"/>
              <a:t>Подготовка занимает немало времени.</a:t>
            </a:r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208783923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1">
                <a:tint val="90000"/>
                <a:lumMod val="110000"/>
              </a:schemeClr>
            </a:gs>
            <a:gs pos="100000">
              <a:schemeClr val="bg1">
                <a:shade val="64000"/>
                <a:lumMod val="88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1F395E0-10E0-4863-BE52-0F4A2798196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86933" y="2213361"/>
            <a:ext cx="6247721" cy="2204815"/>
          </a:xfrm>
        </p:spPr>
        <p:txBody>
          <a:bodyPr>
            <a:normAutofit/>
          </a:bodyPr>
          <a:lstStyle/>
          <a:p>
            <a:pPr algn="l"/>
            <a:r>
              <a:rPr lang="en-US" sz="4400" dirty="0"/>
              <a:t>User Story</a:t>
            </a:r>
            <a:endParaRPr lang="en-US" sz="4100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668B4C7-CF60-413E-BF81-3742A22D589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86934" y="4418176"/>
            <a:ext cx="6247721" cy="1264209"/>
          </a:xfrm>
        </p:spPr>
        <p:txBody>
          <a:bodyPr>
            <a:normAutofit/>
          </a:bodyPr>
          <a:lstStyle/>
          <a:p>
            <a:pPr algn="l"/>
            <a:r>
              <a:rPr lang="ru-RU" dirty="0">
                <a:solidFill>
                  <a:schemeClr val="tx1">
                    <a:lumMod val="50000"/>
                    <a:lumOff val="50000"/>
                  </a:schemeClr>
                </a:solidFill>
              </a:rPr>
              <a:t>Пользовательская история</a:t>
            </a:r>
            <a:endParaRPr lang="en-US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4293656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User Story</a:t>
            </a:r>
            <a:endParaRPr lang="uk-UA" dirty="0"/>
          </a:p>
        </p:txBody>
      </p:sp>
      <p:pic>
        <p:nvPicPr>
          <p:cNvPr id="4" name="Picture 5">
            <a:extLst>
              <a:ext uri="{FF2B5EF4-FFF2-40B4-BE49-F238E27FC236}">
                <a16:creationId xmlns:a16="http://schemas.microsoft.com/office/drawing/2014/main" id="{3C2CC157-C822-4EE8-91D9-0B262B2B074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53728" y="1864051"/>
            <a:ext cx="6678143" cy="42152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132399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7">
            <a:extLst>
              <a:ext uri="{FF2B5EF4-FFF2-40B4-BE49-F238E27FC236}">
                <a16:creationId xmlns:a16="http://schemas.microsoft.com/office/drawing/2014/main" id="{0C9786A8-F70D-4DBB-906E-448C2D33CD1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63805" y="55420"/>
            <a:ext cx="5060375" cy="62714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491669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Пример:</a:t>
            </a:r>
            <a:endParaRPr lang="uk-UA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dirty="0"/>
              <a:t>User Story #123 </a:t>
            </a:r>
            <a:r>
              <a:rPr lang="en-US" b="1" dirty="0"/>
              <a:t>Sign in</a:t>
            </a:r>
          </a:p>
          <a:p>
            <a:pPr marL="228578" indent="0">
              <a:buNone/>
            </a:pPr>
            <a:r>
              <a:rPr lang="en-US" b="1" dirty="0">
                <a:solidFill>
                  <a:srgbClr val="008ACF"/>
                </a:solidFill>
              </a:rPr>
              <a:t>As a</a:t>
            </a:r>
            <a:r>
              <a:rPr lang="en-US" dirty="0">
                <a:solidFill>
                  <a:srgbClr val="000000"/>
                </a:solidFill>
              </a:rPr>
              <a:t> not registered user </a:t>
            </a:r>
            <a:endParaRPr lang="en-US" dirty="0"/>
          </a:p>
          <a:p>
            <a:pPr marL="228578" indent="0">
              <a:buNone/>
            </a:pPr>
            <a:r>
              <a:rPr lang="en-US" b="1" dirty="0">
                <a:solidFill>
                  <a:srgbClr val="008ACF"/>
                </a:solidFill>
              </a:rPr>
              <a:t>I want </a:t>
            </a:r>
            <a:r>
              <a:rPr lang="en-US" dirty="0">
                <a:solidFill>
                  <a:srgbClr val="000000"/>
                </a:solidFill>
              </a:rPr>
              <a:t>sign into system</a:t>
            </a:r>
            <a:endParaRPr lang="en-US" dirty="0"/>
          </a:p>
          <a:p>
            <a:pPr marL="228578" indent="0">
              <a:buNone/>
            </a:pPr>
            <a:r>
              <a:rPr lang="en-US" b="1" dirty="0">
                <a:solidFill>
                  <a:srgbClr val="008ACF"/>
                </a:solidFill>
              </a:rPr>
              <a:t>So that</a:t>
            </a:r>
            <a:r>
              <a:rPr lang="en-US" dirty="0">
                <a:solidFill>
                  <a:srgbClr val="008ACF"/>
                </a:solidFill>
              </a:rPr>
              <a:t> </a:t>
            </a:r>
            <a:r>
              <a:rPr lang="en-US" dirty="0">
                <a:solidFill>
                  <a:srgbClr val="8F45C7"/>
                </a:solidFill>
              </a:rPr>
              <a:t>I </a:t>
            </a:r>
            <a:r>
              <a:rPr lang="en-US" dirty="0">
                <a:solidFill>
                  <a:srgbClr val="000000"/>
                </a:solidFill>
              </a:rPr>
              <a:t>can create my profile and purchase goods</a:t>
            </a:r>
            <a:endParaRPr lang="en-US" dirty="0"/>
          </a:p>
          <a:p>
            <a:pPr marL="0" indent="0">
              <a:buNone/>
            </a:pPr>
            <a:r>
              <a:rPr lang="en-US" b="1" dirty="0"/>
              <a:t>Acceptance criteria</a:t>
            </a:r>
            <a:r>
              <a:rPr lang="en-US" b="1" dirty="0">
                <a:solidFill>
                  <a:srgbClr val="000000"/>
                </a:solidFill>
              </a:rPr>
              <a:t>:</a:t>
            </a:r>
            <a:endParaRPr lang="en-US" b="1" dirty="0"/>
          </a:p>
          <a:p>
            <a:r>
              <a:rPr lang="en-US" dirty="0">
                <a:solidFill>
                  <a:srgbClr val="000000"/>
                </a:solidFill>
              </a:rPr>
              <a:t>user shall have an option to call login form (‘Login’ button in header for guest)</a:t>
            </a:r>
          </a:p>
          <a:p>
            <a:r>
              <a:rPr lang="en-US" dirty="0">
                <a:solidFill>
                  <a:srgbClr val="000000"/>
                </a:solidFill>
              </a:rPr>
              <a:t>login form shall contain fields for email &amp; password and ‘Submit’ button</a:t>
            </a:r>
            <a:endParaRPr lang="ru-RU" dirty="0">
              <a:solidFill>
                <a:srgbClr val="000000"/>
              </a:solidFill>
            </a:endParaRPr>
          </a:p>
          <a:p>
            <a:r>
              <a:rPr lang="en-US" sz="2100" dirty="0">
                <a:solidFill>
                  <a:srgbClr val="000000"/>
                </a:solidFill>
              </a:rPr>
              <a:t>‘Email’ field validations rules: shall contain ‘@’ and at least 2 characters after it</a:t>
            </a:r>
          </a:p>
          <a:p>
            <a:r>
              <a:rPr lang="en-US" sz="2100" dirty="0">
                <a:solidFill>
                  <a:srgbClr val="000000"/>
                </a:solidFill>
              </a:rPr>
              <a:t>‘Password’ field validations rules: min 4, max 8 characters, Latin letters and digits only</a:t>
            </a:r>
          </a:p>
          <a:p>
            <a:r>
              <a:rPr lang="en-US" sz="2100" dirty="0">
                <a:solidFill>
                  <a:srgbClr val="000000"/>
                </a:solidFill>
              </a:rPr>
              <a:t>user should be notified if the field input doesn’t satisfy validation rules</a:t>
            </a:r>
          </a:p>
          <a:p>
            <a:r>
              <a:rPr lang="en-US" sz="2100" dirty="0">
                <a:solidFill>
                  <a:srgbClr val="000000"/>
                </a:solidFill>
              </a:rPr>
              <a:t>‘Submit’ button shall be disabled until both fields are filled correctly </a:t>
            </a:r>
          </a:p>
          <a:p>
            <a:endParaRPr lang="uk-UA" dirty="0"/>
          </a:p>
        </p:txBody>
      </p:sp>
      <p:pic>
        <p:nvPicPr>
          <p:cNvPr id="4" name="Picture 5">
            <a:extLst>
              <a:ext uri="{FF2B5EF4-FFF2-40B4-BE49-F238E27FC236}">
                <a16:creationId xmlns:a16="http://schemas.microsoft.com/office/drawing/2014/main" id="{0A1C4B77-EC4F-4A64-9E32-E2AADEF9035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98123" y="0"/>
            <a:ext cx="3293877" cy="34027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607814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Иерархия</a:t>
            </a:r>
            <a:endParaRPr lang="uk-UA" dirty="0"/>
          </a:p>
        </p:txBody>
      </p:sp>
      <p:pic>
        <p:nvPicPr>
          <p:cNvPr id="5" name="Picture 15">
            <a:extLst>
              <a:ext uri="{FF2B5EF4-FFF2-40B4-BE49-F238E27FC236}">
                <a16:creationId xmlns:a16="http://schemas.microsoft.com/office/drawing/2014/main" id="{4B86D086-D8EA-470A-9403-9C3C3F4D23B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58561" y="1047277"/>
            <a:ext cx="7274877" cy="54080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666734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User Story must be INVEST</a:t>
            </a:r>
            <a:endParaRPr lang="uk-UA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I</a:t>
            </a:r>
            <a:r>
              <a:rPr lang="en-US" dirty="0"/>
              <a:t>ndependent</a:t>
            </a:r>
          </a:p>
          <a:p>
            <a:r>
              <a:rPr lang="en-US" b="1" dirty="0"/>
              <a:t>N</a:t>
            </a:r>
            <a:r>
              <a:rPr lang="en-US" dirty="0"/>
              <a:t>egotiable</a:t>
            </a:r>
          </a:p>
          <a:p>
            <a:r>
              <a:rPr lang="en-US" b="1" dirty="0"/>
              <a:t>V</a:t>
            </a:r>
            <a:r>
              <a:rPr lang="en-US" dirty="0"/>
              <a:t>aluable</a:t>
            </a:r>
          </a:p>
          <a:p>
            <a:r>
              <a:rPr lang="en-US" b="1" dirty="0"/>
              <a:t>E</a:t>
            </a:r>
            <a:r>
              <a:rPr lang="en-US" dirty="0"/>
              <a:t>stimable</a:t>
            </a:r>
          </a:p>
          <a:p>
            <a:r>
              <a:rPr lang="en-US" b="1" dirty="0"/>
              <a:t>S</a:t>
            </a:r>
            <a:r>
              <a:rPr lang="en-US" dirty="0"/>
              <a:t>mall</a:t>
            </a:r>
          </a:p>
          <a:p>
            <a:r>
              <a:rPr lang="en-US" b="1" dirty="0"/>
              <a:t>T</a:t>
            </a:r>
            <a:r>
              <a:rPr lang="en-US" dirty="0"/>
              <a:t>estable</a:t>
            </a:r>
          </a:p>
          <a:p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226930671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Преимущества и недостатки </a:t>
            </a:r>
            <a:r>
              <a:rPr lang="en-US" dirty="0"/>
              <a:t>User Story</a:t>
            </a:r>
            <a:endParaRPr lang="ru-RU" dirty="0"/>
          </a:p>
        </p:txBody>
      </p:sp>
      <p:sp>
        <p:nvSpPr>
          <p:cNvPr id="5" name="Текст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Преимущества</a:t>
            </a:r>
            <a:endParaRPr lang="uk-UA" dirty="0"/>
          </a:p>
        </p:txBody>
      </p:sp>
      <p:sp>
        <p:nvSpPr>
          <p:cNvPr id="7" name="Объект 6"/>
          <p:cNvSpPr>
            <a:spLocks noGrp="1"/>
          </p:cNvSpPr>
          <p:nvPr>
            <p:ph sz="half" idx="2"/>
          </p:nvPr>
        </p:nvSpPr>
        <p:spPr/>
        <p:txBody>
          <a:bodyPr>
            <a:normAutofit fontScale="85000" lnSpcReduction="10000"/>
          </a:bodyPr>
          <a:lstStyle/>
          <a:p>
            <a:r>
              <a:rPr lang="ru-RU" dirty="0"/>
              <a:t>Хорошо подходит для оценки, планирования и валидации усилий команды разработки;</a:t>
            </a:r>
          </a:p>
          <a:p>
            <a:r>
              <a:rPr lang="ru-RU" dirty="0"/>
              <a:t>Понятны и для бизнеса и для разработчиков;</a:t>
            </a:r>
          </a:p>
          <a:p>
            <a:r>
              <a:rPr lang="ru-RU" dirty="0"/>
              <a:t>Быстрая и простая в подготовке;</a:t>
            </a:r>
          </a:p>
          <a:p>
            <a:r>
              <a:rPr lang="ru-RU" dirty="0"/>
              <a:t>Достаточно маленькая и понятная для точной оценки;</a:t>
            </a:r>
          </a:p>
          <a:p>
            <a:r>
              <a:rPr lang="ru-RU" dirty="0"/>
              <a:t>Ориентирована на пользователя и его потребности;</a:t>
            </a:r>
          </a:p>
          <a:p>
            <a:r>
              <a:rPr lang="ru-RU" dirty="0"/>
              <a:t>Отображает полную картину продукта;</a:t>
            </a:r>
          </a:p>
          <a:p>
            <a:r>
              <a:rPr lang="ru-RU" dirty="0"/>
              <a:t>Легко описывает разрастание функционала;</a:t>
            </a:r>
            <a:endParaRPr lang="uk-UA" dirty="0"/>
          </a:p>
        </p:txBody>
      </p:sp>
      <p:sp>
        <p:nvSpPr>
          <p:cNvPr id="6" name="Текст 5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ru-RU" dirty="0"/>
              <a:t>Недостатки</a:t>
            </a:r>
            <a:endParaRPr lang="uk-UA" dirty="0"/>
          </a:p>
        </p:txBody>
      </p:sp>
      <p:sp>
        <p:nvSpPr>
          <p:cNvPr id="8" name="Объект 7"/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r>
              <a:rPr lang="ru-RU" dirty="0"/>
              <a:t>Сложно адаптируется для нефункциональных требований;</a:t>
            </a:r>
          </a:p>
          <a:p>
            <a:r>
              <a:rPr lang="ru-RU" dirty="0"/>
              <a:t>Не подходит для описания технических задач.</a:t>
            </a:r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310416408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Заголовок 6"/>
          <p:cNvSpPr>
            <a:spLocks noGrp="1"/>
          </p:cNvSpPr>
          <p:nvPr>
            <p:ph type="title"/>
          </p:nvPr>
        </p:nvSpPr>
        <p:spPr>
          <a:xfrm>
            <a:off x="913774" y="609600"/>
            <a:ext cx="10364452" cy="919397"/>
          </a:xfrm>
        </p:spPr>
        <p:txBody>
          <a:bodyPr/>
          <a:lstStyle/>
          <a:p>
            <a:r>
              <a:rPr lang="ru-RU" dirty="0"/>
              <a:t>Когда применять</a:t>
            </a:r>
            <a:endParaRPr lang="uk-UA" dirty="0"/>
          </a:p>
        </p:txBody>
      </p:sp>
      <p:sp>
        <p:nvSpPr>
          <p:cNvPr id="8" name="Текст 7"/>
          <p:cNvSpPr>
            <a:spLocks noGrp="1"/>
          </p:cNvSpPr>
          <p:nvPr>
            <p:ph type="body" idx="1"/>
          </p:nvPr>
        </p:nvSpPr>
        <p:spPr>
          <a:xfrm>
            <a:off x="913774" y="1707527"/>
            <a:ext cx="3298976" cy="576262"/>
          </a:xfrm>
        </p:spPr>
        <p:txBody>
          <a:bodyPr/>
          <a:lstStyle/>
          <a:p>
            <a:pPr algn="l"/>
            <a:r>
              <a:rPr lang="en-US" dirty="0"/>
              <a:t>SRS</a:t>
            </a:r>
            <a:endParaRPr lang="uk-UA" dirty="0"/>
          </a:p>
        </p:txBody>
      </p:sp>
      <p:sp>
        <p:nvSpPr>
          <p:cNvPr id="11" name="Текст 10"/>
          <p:cNvSpPr>
            <a:spLocks noGrp="1"/>
          </p:cNvSpPr>
          <p:nvPr>
            <p:ph type="body" sz="half" idx="15"/>
          </p:nvPr>
        </p:nvSpPr>
        <p:spPr>
          <a:xfrm>
            <a:off x="913774" y="2283789"/>
            <a:ext cx="3298976" cy="3727267"/>
          </a:xfrm>
        </p:spPr>
        <p:txBody>
          <a:bodyPr/>
          <a:lstStyle/>
          <a:p>
            <a:pPr algn="l"/>
            <a:r>
              <a:rPr lang="ru-RU" sz="1800" dirty="0"/>
              <a:t>Длительные проекты, когда есть достаточно времени для подготовки документации и внешние условия достаточно стабильны</a:t>
            </a:r>
            <a:endParaRPr lang="uk-UA" sz="1800" dirty="0"/>
          </a:p>
        </p:txBody>
      </p:sp>
      <p:sp>
        <p:nvSpPr>
          <p:cNvPr id="9" name="Текст 8"/>
          <p:cNvSpPr>
            <a:spLocks noGrp="1"/>
          </p:cNvSpPr>
          <p:nvPr>
            <p:ph type="body" sz="quarter" idx="3"/>
          </p:nvPr>
        </p:nvSpPr>
        <p:spPr>
          <a:xfrm>
            <a:off x="4452389" y="1707527"/>
            <a:ext cx="3291521" cy="576262"/>
          </a:xfrm>
        </p:spPr>
        <p:txBody>
          <a:bodyPr/>
          <a:lstStyle/>
          <a:p>
            <a:pPr algn="l"/>
            <a:r>
              <a:rPr lang="en-US" dirty="0"/>
              <a:t>Use Case</a:t>
            </a:r>
            <a:endParaRPr lang="uk-UA" dirty="0"/>
          </a:p>
        </p:txBody>
      </p:sp>
      <p:sp>
        <p:nvSpPr>
          <p:cNvPr id="12" name="Текст 11"/>
          <p:cNvSpPr>
            <a:spLocks noGrp="1"/>
          </p:cNvSpPr>
          <p:nvPr>
            <p:ph type="body" sz="half" idx="16"/>
          </p:nvPr>
        </p:nvSpPr>
        <p:spPr>
          <a:xfrm>
            <a:off x="4441348" y="2283789"/>
            <a:ext cx="3303351" cy="3727267"/>
          </a:xfrm>
        </p:spPr>
        <p:txBody>
          <a:bodyPr>
            <a:normAutofit/>
          </a:bodyPr>
          <a:lstStyle/>
          <a:p>
            <a:pPr algn="l"/>
            <a:r>
              <a:rPr lang="ru-RU" sz="1800" dirty="0"/>
              <a:t>Системы, которые содержат множество альтернативных сценариев и требуют соблюдения четкой последовательности действий</a:t>
            </a:r>
            <a:endParaRPr lang="uk-UA" sz="1800" dirty="0"/>
          </a:p>
        </p:txBody>
      </p:sp>
      <p:sp>
        <p:nvSpPr>
          <p:cNvPr id="10" name="Текст 9"/>
          <p:cNvSpPr>
            <a:spLocks noGrp="1"/>
          </p:cNvSpPr>
          <p:nvPr>
            <p:ph type="body" sz="quarter" idx="13"/>
          </p:nvPr>
        </p:nvSpPr>
        <p:spPr>
          <a:xfrm>
            <a:off x="7973298" y="1707527"/>
            <a:ext cx="3304928" cy="576262"/>
          </a:xfrm>
        </p:spPr>
        <p:txBody>
          <a:bodyPr/>
          <a:lstStyle/>
          <a:p>
            <a:pPr algn="l"/>
            <a:r>
              <a:rPr lang="en-US" dirty="0"/>
              <a:t>User Story</a:t>
            </a:r>
            <a:endParaRPr lang="uk-UA" dirty="0"/>
          </a:p>
        </p:txBody>
      </p:sp>
      <p:sp>
        <p:nvSpPr>
          <p:cNvPr id="13" name="Текст 12"/>
          <p:cNvSpPr>
            <a:spLocks noGrp="1"/>
          </p:cNvSpPr>
          <p:nvPr>
            <p:ph type="body" sz="half" idx="17"/>
          </p:nvPr>
        </p:nvSpPr>
        <p:spPr>
          <a:xfrm>
            <a:off x="7973298" y="2283789"/>
            <a:ext cx="3304928" cy="3727267"/>
          </a:xfrm>
        </p:spPr>
        <p:txBody>
          <a:bodyPr>
            <a:normAutofit/>
          </a:bodyPr>
          <a:lstStyle/>
          <a:p>
            <a:pPr algn="l"/>
            <a:r>
              <a:rPr lang="ru-RU" sz="1800" dirty="0"/>
              <a:t>Системы, которые должны быть гибкими и быстро реагировать на внешние изменения. Особенно успешны, при наличии ответственного и вовлеченного Владельца Продукта</a:t>
            </a:r>
            <a:endParaRPr lang="uk-UA" sz="1800" dirty="0"/>
          </a:p>
        </p:txBody>
      </p:sp>
    </p:spTree>
    <p:extLst>
      <p:ext uri="{BB962C8B-B14F-4D97-AF65-F5344CB8AC3E}">
        <p14:creationId xmlns:p14="http://schemas.microsoft.com/office/powerpoint/2010/main" val="58307490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1">
                <a:tint val="90000"/>
                <a:lumMod val="110000"/>
              </a:schemeClr>
            </a:gs>
            <a:gs pos="100000">
              <a:schemeClr val="bg1">
                <a:shade val="64000"/>
                <a:lumMod val="88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1F395E0-10E0-4863-BE52-0F4A2798196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86933" y="2213361"/>
            <a:ext cx="6247721" cy="2204815"/>
          </a:xfrm>
        </p:spPr>
        <p:txBody>
          <a:bodyPr>
            <a:normAutofit/>
          </a:bodyPr>
          <a:lstStyle/>
          <a:p>
            <a:pPr algn="l"/>
            <a:r>
              <a:rPr lang="ru-RU" sz="4400" dirty="0"/>
              <a:t>Дополнительные материалы</a:t>
            </a:r>
            <a:endParaRPr lang="en-US" sz="4100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668B4C7-CF60-413E-BF81-3742A22D589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86934" y="4418176"/>
            <a:ext cx="6247721" cy="1264209"/>
          </a:xfrm>
        </p:spPr>
        <p:txBody>
          <a:bodyPr>
            <a:normAutofit/>
          </a:bodyPr>
          <a:lstStyle/>
          <a:p>
            <a:pPr algn="l"/>
            <a:endParaRPr lang="en-US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3783121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6536DC-7644-4949-A894-630306A010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845733"/>
            <a:ext cx="10058400" cy="4355041"/>
          </a:xfrm>
        </p:spPr>
        <p:txBody>
          <a:bodyPr>
            <a:normAutofit fontScale="62500" lnSpcReduction="20000"/>
          </a:bodyPr>
          <a:lstStyle/>
          <a:p>
            <a:r>
              <a:rPr lang="en-US" dirty="0"/>
              <a:t>SRS: </a:t>
            </a:r>
            <a:r>
              <a:rPr lang="en-US" dirty="0">
                <a:hlinkClick r:id="rId2"/>
              </a:rPr>
              <a:t>https://habr.com/ru/post/52681/</a:t>
            </a:r>
            <a:endParaRPr lang="en-US" dirty="0"/>
          </a:p>
          <a:p>
            <a:r>
              <a:rPr lang="ru-RU" dirty="0"/>
              <a:t>Шаблон </a:t>
            </a:r>
            <a:r>
              <a:rPr lang="en-US" dirty="0"/>
              <a:t>SRS: </a:t>
            </a:r>
            <a:r>
              <a:rPr lang="en-US" dirty="0">
                <a:hlinkClick r:id="rId3"/>
              </a:rPr>
              <a:t>https://analytics.infozone.pro/requirements-analysis/template-specification-requirements/</a:t>
            </a:r>
            <a:r>
              <a:rPr lang="en-US" dirty="0"/>
              <a:t> </a:t>
            </a:r>
            <a:endParaRPr lang="ru-RU" dirty="0"/>
          </a:p>
          <a:p>
            <a:r>
              <a:rPr lang="ru-RU" dirty="0" err="1"/>
              <a:t>Вигерс</a:t>
            </a:r>
            <a:r>
              <a:rPr lang="ru-RU" dirty="0"/>
              <a:t> Карл, Битти Джой. - Разработка требований к программному обеспечению. 3-е изд., дополненное. </a:t>
            </a:r>
            <a:r>
              <a:rPr lang="uk-UA" dirty="0"/>
              <a:t>Глава 10 </a:t>
            </a:r>
            <a:r>
              <a:rPr lang="uk-UA" dirty="0" err="1"/>
              <a:t>Документирование</a:t>
            </a:r>
            <a:r>
              <a:rPr lang="uk-UA" dirty="0"/>
              <a:t> </a:t>
            </a:r>
            <a:r>
              <a:rPr lang="uk-UA" dirty="0" err="1"/>
              <a:t>требований</a:t>
            </a:r>
            <a:r>
              <a:rPr lang="uk-UA" dirty="0"/>
              <a:t>. </a:t>
            </a:r>
            <a:r>
              <a:rPr lang="ru-RU" dirty="0"/>
              <a:t>– с. 223 (Шаблон спецификации требований к ПО): </a:t>
            </a:r>
            <a:r>
              <a:rPr lang="en-US" dirty="0">
                <a:hlinkClick r:id="rId4"/>
              </a:rPr>
              <a:t>https://www.academia.edu/36372211/Razrabotka_trebovaniy_k_programmnomu_obespecheniyu_3_e_izdanie</a:t>
            </a:r>
            <a:endParaRPr lang="en-US" dirty="0"/>
          </a:p>
          <a:p>
            <a:r>
              <a:rPr lang="ru-RU" dirty="0" err="1"/>
              <a:t>Вигерс</a:t>
            </a:r>
            <a:r>
              <a:rPr lang="ru-RU" dirty="0"/>
              <a:t> Карл, Битти Джой. - Разработка требований к программному обеспечению. 3-е изд., дополненное. Глава 8 Как понять требования пользователей</a:t>
            </a:r>
            <a:r>
              <a:rPr lang="en-US" dirty="0"/>
              <a:t> (o Use Case </a:t>
            </a:r>
            <a:r>
              <a:rPr lang="ru-RU" dirty="0"/>
              <a:t>и </a:t>
            </a:r>
            <a:r>
              <a:rPr lang="en-US" dirty="0"/>
              <a:t>Use Case Diagram)</a:t>
            </a:r>
            <a:endParaRPr lang="ru-RU" dirty="0"/>
          </a:p>
          <a:p>
            <a:r>
              <a:rPr lang="en-US" dirty="0"/>
              <a:t>Mike Cohn - User Stories: </a:t>
            </a:r>
            <a:r>
              <a:rPr lang="en-US" dirty="0">
                <a:hlinkClick r:id="rId5"/>
              </a:rPr>
              <a:t>https://www.youtube.com/watch?v=6q5-cVeNjCE</a:t>
            </a:r>
            <a:endParaRPr lang="en-US" dirty="0"/>
          </a:p>
          <a:p>
            <a:r>
              <a:rPr lang="uk-UA" dirty="0" err="1"/>
              <a:t>Как</a:t>
            </a:r>
            <a:r>
              <a:rPr lang="uk-UA" dirty="0"/>
              <a:t> </a:t>
            </a:r>
            <a:r>
              <a:rPr lang="uk-UA" dirty="0" err="1"/>
              <a:t>писать</a:t>
            </a:r>
            <a:r>
              <a:rPr lang="uk-UA" dirty="0"/>
              <a:t> </a:t>
            </a:r>
            <a:r>
              <a:rPr lang="en-US" dirty="0"/>
              <a:t>User Story </a:t>
            </a:r>
            <a:r>
              <a:rPr lang="en-US" dirty="0">
                <a:hlinkClick r:id="rId6"/>
              </a:rPr>
              <a:t>https://medium.com/@alexandertvar/%D0%BA%D0%B0%D0%BA-%D0%BF%D0%B8%D1%81%D0%B0%D1%82%D1%8C-user-story-2410093b23c2</a:t>
            </a:r>
            <a:endParaRPr lang="ru-RU" dirty="0"/>
          </a:p>
          <a:p>
            <a:r>
              <a:rPr lang="en-US" dirty="0"/>
              <a:t>INVEST: </a:t>
            </a:r>
            <a:r>
              <a:rPr lang="en-US" dirty="0">
                <a:hlinkClick r:id="rId7"/>
              </a:rPr>
              <a:t>https://habr.com/ru/company/luxoft/blog/84030/</a:t>
            </a:r>
            <a:endParaRPr lang="en-US" dirty="0"/>
          </a:p>
          <a:p>
            <a:r>
              <a:rPr lang="ru-RU" dirty="0"/>
              <a:t>Сценарий использования</a:t>
            </a:r>
            <a:r>
              <a:rPr lang="en-US" dirty="0"/>
              <a:t> : </a:t>
            </a:r>
            <a:r>
              <a:rPr lang="en-US" dirty="0">
                <a:hlinkClick r:id="rId8"/>
              </a:rPr>
              <a:t>https://ru.wikipedia.org/wiki/%D0%A1%D1%86%D0%B5%D0%BD%D0%B0%D1%80%D0%B8%D0%B9_%D0%B8%D1%81%D0%BF%D0%BE%D0%BB%D1%8C%D0%B7%D0%BE%D0%B2%D0%B0%D0%BD%D0%B8%D1%8F</a:t>
            </a:r>
            <a:endParaRPr lang="ru-RU" dirty="0"/>
          </a:p>
          <a:p>
            <a:r>
              <a:rPr lang="en-US" dirty="0"/>
              <a:t>Sample Use Case Example: </a:t>
            </a:r>
            <a:r>
              <a:rPr lang="en-US" dirty="0">
                <a:hlinkClick r:id="rId9"/>
              </a:rPr>
              <a:t>http://tynerblain.com/blog/2007/04/09/sample-use-case-example/</a:t>
            </a:r>
            <a:endParaRPr lang="en-US" dirty="0"/>
          </a:p>
          <a:p>
            <a:r>
              <a:rPr lang="en-US" dirty="0"/>
              <a:t>User stories vs Use cases vs Scenarios vs Agile user stories? </a:t>
            </a:r>
            <a:r>
              <a:rPr lang="en-US" dirty="0">
                <a:hlinkClick r:id="rId10"/>
              </a:rPr>
              <a:t>https://designpub.ru/%D1%80%D0%B0%D0%B7%D0%BD%D0%B8%D1%86%D0%B0-%D0%BC%D0%B5%D0%B6%D0%B4%D1%83-user-stories-%D0%B8-use-cases-5f52381150fa</a:t>
            </a:r>
            <a:endParaRPr lang="en-US" dirty="0"/>
          </a:p>
          <a:p>
            <a:endParaRPr lang="ru-RU" dirty="0"/>
          </a:p>
          <a:p>
            <a:endParaRPr lang="ru-RU" dirty="0"/>
          </a:p>
          <a:p>
            <a:endParaRPr lang="en-US" dirty="0"/>
          </a:p>
          <a:p>
            <a:endParaRPr lang="en-US" dirty="0"/>
          </a:p>
          <a:p>
            <a:pPr marL="0" indent="0">
              <a:buNone/>
            </a:pPr>
            <a:endParaRPr lang="ru-RU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18251918"/>
      </p:ext>
    </p:extLst>
  </p:cSld>
  <p:clrMapOvr>
    <a:masterClrMapping/>
  </p:clrMapOvr>
</p:sld>
</file>

<file path=ppt/theme/theme1.xml><?xml version="1.0" encoding="utf-8"?>
<a:theme xmlns:a="http://schemas.openxmlformats.org/drawingml/2006/main" name="Ретро">
  <a:themeElements>
    <a:clrScheme name="Ретро">
      <a:dk1>
        <a:sysClr val="windowText" lastClr="000000"/>
      </a:dk1>
      <a:lt1>
        <a:sysClr val="window" lastClr="FFFFFF"/>
      </a:lt1>
      <a:dk2>
        <a:srgbClr val="344068"/>
      </a:dk2>
      <a:lt2>
        <a:srgbClr val="D9E0E6"/>
      </a:lt2>
      <a:accent1>
        <a:srgbClr val="1CADE4"/>
      </a:accent1>
      <a:accent2>
        <a:srgbClr val="2683C6"/>
      </a:accent2>
      <a:accent3>
        <a:srgbClr val="28C4CC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Ретро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Ретро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9CC26709-368C-4D72-9060-94E5B3FF3CD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4032</TotalTime>
  <Words>1431</Words>
  <Application>Microsoft Macintosh PowerPoint</Application>
  <PresentationFormat>Widescreen</PresentationFormat>
  <Paragraphs>196</Paragraphs>
  <Slides>27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1" baseType="lpstr">
      <vt:lpstr>Arial</vt:lpstr>
      <vt:lpstr>Calibri</vt:lpstr>
      <vt:lpstr>Calibri Light</vt:lpstr>
      <vt:lpstr>Ретро</vt:lpstr>
      <vt:lpstr>Артефакты БА</vt:lpstr>
      <vt:lpstr>Артефакты БА ч. 2</vt:lpstr>
      <vt:lpstr>Software requirements specification (SRS) /</vt:lpstr>
      <vt:lpstr>SRS — Software Requirement Specification</vt:lpstr>
      <vt:lpstr>Шаблон SRS</vt:lpstr>
      <vt:lpstr>Шаблон SRS</vt:lpstr>
      <vt:lpstr>Шаблон SRS</vt:lpstr>
      <vt:lpstr>Шаблон SRS</vt:lpstr>
      <vt:lpstr>Светы по составлению</vt:lpstr>
      <vt:lpstr>Пример 1</vt:lpstr>
      <vt:lpstr>Пример 2</vt:lpstr>
      <vt:lpstr>Преимущества и недостатки SRS</vt:lpstr>
      <vt:lpstr>Use Case</vt:lpstr>
      <vt:lpstr>Сценарий использования</vt:lpstr>
      <vt:lpstr>Атрибуты</vt:lpstr>
      <vt:lpstr>Пример</vt:lpstr>
      <vt:lpstr>Преимущества и недостатки Use Case</vt:lpstr>
      <vt:lpstr>User Story</vt:lpstr>
      <vt:lpstr>User Story</vt:lpstr>
      <vt:lpstr>PowerPoint Presentation</vt:lpstr>
      <vt:lpstr>Пример:</vt:lpstr>
      <vt:lpstr>Иерархия</vt:lpstr>
      <vt:lpstr>User Story must be INVEST</vt:lpstr>
      <vt:lpstr>Преимущества и недостатки User Story</vt:lpstr>
      <vt:lpstr>Когда применять</vt:lpstr>
      <vt:lpstr>Дополнительные материалы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Введение</dc:title>
  <dc:creator>Olesia Korobko</dc:creator>
  <cp:lastModifiedBy>Olesia Popova</cp:lastModifiedBy>
  <cp:revision>84</cp:revision>
  <dcterms:created xsi:type="dcterms:W3CDTF">2019-07-08T17:35:39Z</dcterms:created>
  <dcterms:modified xsi:type="dcterms:W3CDTF">2020-09-09T10:21:44Z</dcterms:modified>
</cp:coreProperties>
</file>