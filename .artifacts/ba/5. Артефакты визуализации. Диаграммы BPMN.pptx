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31"/>
  </p:notesMasterIdLst>
  <p:sldIdLst>
    <p:sldId id="256" r:id="rId2"/>
    <p:sldId id="366" r:id="rId3"/>
    <p:sldId id="401" r:id="rId4"/>
    <p:sldId id="400" r:id="rId5"/>
    <p:sldId id="407" r:id="rId6"/>
    <p:sldId id="402" r:id="rId7"/>
    <p:sldId id="409" r:id="rId8"/>
    <p:sldId id="410" r:id="rId9"/>
    <p:sldId id="423" r:id="rId10"/>
    <p:sldId id="430" r:id="rId11"/>
    <p:sldId id="411" r:id="rId12"/>
    <p:sldId id="412" r:id="rId13"/>
    <p:sldId id="405" r:id="rId14"/>
    <p:sldId id="424" r:id="rId15"/>
    <p:sldId id="425" r:id="rId16"/>
    <p:sldId id="427" r:id="rId17"/>
    <p:sldId id="426" r:id="rId18"/>
    <p:sldId id="428" r:id="rId19"/>
    <p:sldId id="390" r:id="rId20"/>
    <p:sldId id="408" r:id="rId21"/>
    <p:sldId id="413" r:id="rId22"/>
    <p:sldId id="422" r:id="rId23"/>
    <p:sldId id="429" r:id="rId24"/>
    <p:sldId id="385" r:id="rId25"/>
    <p:sldId id="414" r:id="rId26"/>
    <p:sldId id="419" r:id="rId27"/>
    <p:sldId id="418" r:id="rId28"/>
    <p:sldId id="420" r:id="rId29"/>
    <p:sldId id="42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79C1"/>
    <a:srgbClr val="128D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5209" autoAdjust="0"/>
  </p:normalViewPr>
  <p:slideViewPr>
    <p:cSldViewPr snapToGrid="0">
      <p:cViewPr varScale="1">
        <p:scale>
          <a:sx n="88" d="100"/>
          <a:sy n="88" d="100"/>
        </p:scale>
        <p:origin x="42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2579C-437B-4B88-BDE6-483EC68E97D4}" type="datetimeFigureOut">
              <a:rPr lang="uk-UA" smtClean="0"/>
              <a:t>26.09.2020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7690FE-35A5-4CCB-93D6-B8E58183C5A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9766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690FE-35A5-4CCB-93D6-B8E58183C5AC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7689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690FE-35A5-4CCB-93D6-B8E58183C5AC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30157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690FE-35A5-4CCB-93D6-B8E58183C5AC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75578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690FE-35A5-4CCB-93D6-B8E58183C5AC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10862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690FE-35A5-4CCB-93D6-B8E58183C5AC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07972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690FE-35A5-4CCB-93D6-B8E58183C5AC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63605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690FE-35A5-4CCB-93D6-B8E58183C5AC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64400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26.09.2020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8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26.09.2020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7263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26.09.2020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458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26.09.2020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01105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915886"/>
            <a:ext cx="4937760" cy="666448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4478" y="1915886"/>
            <a:ext cx="4937760" cy="666448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26.09.2020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6165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26.09.2020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13120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26.09.2020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35665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9B4355C-3BC3-430F-A9AE-65E4E08468FB}" type="datetimeFigureOut">
              <a:rPr lang="uk-UA" smtClean="0"/>
              <a:t>26.09.2020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4572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26.09.2020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71721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26.09.2020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76330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355C-3BC3-430F-A9AE-65E4E08468FB}" type="datetimeFigureOut">
              <a:rPr lang="uk-UA" smtClean="0"/>
              <a:t>26.09.2020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0133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9B4355C-3BC3-430F-A9AE-65E4E08468FB}" type="datetimeFigureOut">
              <a:rPr lang="uk-UA" smtClean="0"/>
              <a:t>26.09.2020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1. Введение</a:t>
            </a:r>
            <a:endParaRPr lang="uk-U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504FE25-A201-4AD1-9B20-AD00DF8E21D9}" type="slidenum">
              <a:rPr lang="uk-UA" smtClean="0"/>
              <a:t>‹#›</a:t>
            </a:fld>
            <a:endParaRPr lang="uk-UA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164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rzbpm.ru/knowledge/bpmn-2-0-iz-chego-sostoit-model-biznes-processa.html" TargetMode="External"/><Relationship Id="rId2" Type="http://schemas.openxmlformats.org/officeDocument/2006/relationships/hyperlink" Target="https://sites.google.com/site/anisimovkhv/learning/pris/lecture/tema8/tema8_4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pmn2.ru/blog/top-25-oshibok-bpmn" TargetMode="External"/><Relationship Id="rId4" Type="http://schemas.openxmlformats.org/officeDocument/2006/relationships/hyperlink" Target="https://www.elma-bpm.ru/bpmn2/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Артефакты визуализации</a:t>
            </a:r>
            <a:endParaRPr lang="uk-UA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Диаграммы</a:t>
            </a:r>
            <a:r>
              <a:rPr lang="en-US" dirty="0"/>
              <a:t> (BPMN)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700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BPMN</a:t>
            </a:r>
            <a:endParaRPr lang="en-US" sz="4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8051030" cy="126420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Business Process Model and Notation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706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ru-RU" dirty="0"/>
              <a:t>. </a:t>
            </a:r>
            <a:r>
              <a:rPr lang="uk-UA" dirty="0" err="1"/>
              <a:t>Зоны</a:t>
            </a:r>
            <a:r>
              <a:rPr lang="uk-UA" dirty="0"/>
              <a:t> </a:t>
            </a:r>
            <a:r>
              <a:rPr lang="uk-UA" dirty="0" err="1"/>
              <a:t>ответственности</a:t>
            </a:r>
            <a:r>
              <a:rPr lang="uk-UA" dirty="0"/>
              <a:t> - </a:t>
            </a:r>
            <a:r>
              <a:rPr lang="en-US" dirty="0" err="1"/>
              <a:t>Swimlanes</a:t>
            </a:r>
            <a:endParaRPr lang="uk-UA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4065770"/>
              </p:ext>
            </p:extLst>
          </p:nvPr>
        </p:nvGraphicFramePr>
        <p:xfrm>
          <a:off x="1096963" y="1846263"/>
          <a:ext cx="10058400" cy="227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13037">
                  <a:extLst>
                    <a:ext uri="{9D8B030D-6E8A-4147-A177-3AD203B41FA5}">
                      <a16:colId xmlns:a16="http://schemas.microsoft.com/office/drawing/2014/main" val="1799091092"/>
                    </a:ext>
                  </a:extLst>
                </a:gridCol>
                <a:gridCol w="2321013">
                  <a:extLst>
                    <a:ext uri="{9D8B030D-6E8A-4147-A177-3AD203B41FA5}">
                      <a16:colId xmlns:a16="http://schemas.microsoft.com/office/drawing/2014/main" val="188717913"/>
                    </a:ext>
                  </a:extLst>
                </a:gridCol>
                <a:gridCol w="5024350">
                  <a:extLst>
                    <a:ext uri="{9D8B030D-6E8A-4147-A177-3AD203B41FA5}">
                      <a16:colId xmlns:a16="http://schemas.microsoft.com/office/drawing/2014/main" val="1064345968"/>
                    </a:ext>
                  </a:extLst>
                </a:gridCol>
              </a:tblGrid>
              <a:tr h="1137275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uk-UA" dirty="0">
                          <a:effectLst/>
                        </a:rPr>
                        <a:t>Пул,</a:t>
                      </a:r>
                      <a:br>
                        <a:rPr lang="uk-UA" dirty="0">
                          <a:effectLst/>
                        </a:rPr>
                      </a:br>
                      <a:r>
                        <a:rPr lang="uk-UA" dirty="0">
                          <a:effectLst/>
                        </a:rPr>
                        <a:t>участник</a:t>
                      </a:r>
                      <a:br>
                        <a:rPr lang="uk-UA" dirty="0">
                          <a:effectLst/>
                        </a:rPr>
                      </a:br>
                      <a:r>
                        <a:rPr lang="uk-UA" dirty="0">
                          <a:effectLst/>
                        </a:rPr>
                        <a:t>(</a:t>
                      </a:r>
                      <a:r>
                        <a:rPr lang="en-US" dirty="0">
                          <a:effectLst/>
                        </a:rPr>
                        <a:t>Pool,</a:t>
                      </a:r>
                      <a:r>
                        <a:rPr lang="ru-RU" dirty="0">
                          <a:effectLst/>
                        </a:rPr>
                        <a:t> </a:t>
                      </a:r>
                      <a:r>
                        <a:rPr lang="en-US" dirty="0">
                          <a:effectLst/>
                        </a:rPr>
                        <a:t>Participant)</a:t>
                      </a:r>
                    </a:p>
                  </a:txBody>
                  <a:tcPr marL="174706" marR="36979" marT="38100" marB="381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dirty="0">
                          <a:effectLst/>
                        </a:rPr>
                        <a:t>Структурное подразделение, которому поручено выполнение действия (фирма, организация, отдел, служба).</a:t>
                      </a:r>
                    </a:p>
                  </a:txBody>
                  <a:tcPr marL="174706" marR="174706" marT="38100" marB="38100" anchor="ctr"/>
                </a:tc>
                <a:extLst>
                  <a:ext uri="{0D108BD9-81ED-4DB2-BD59-A6C34878D82A}">
                    <a16:rowId xmlns:a16="http://schemas.microsoft.com/office/drawing/2014/main" val="1185066205"/>
                  </a:ext>
                </a:extLst>
              </a:tr>
              <a:tr h="1137275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uk-UA" dirty="0">
                          <a:effectLst/>
                        </a:rPr>
                        <a:t>Дорожка</a:t>
                      </a:r>
                      <a:br>
                        <a:rPr lang="uk-UA" dirty="0">
                          <a:effectLst/>
                        </a:rPr>
                      </a:br>
                      <a:r>
                        <a:rPr lang="uk-UA" dirty="0">
                          <a:effectLst/>
                        </a:rPr>
                        <a:t>(</a:t>
                      </a:r>
                      <a:r>
                        <a:rPr lang="en-US" dirty="0">
                          <a:effectLst/>
                        </a:rPr>
                        <a:t>Lane)</a:t>
                      </a:r>
                    </a:p>
                  </a:txBody>
                  <a:tcPr marL="174706" marR="36979" marT="38100" marB="381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dirty="0">
                          <a:effectLst/>
                        </a:rPr>
                        <a:t>Должность исполнителя или роль субъекта, которому поручено выполнение действия. Составная часть организационной единицы.</a:t>
                      </a:r>
                    </a:p>
                  </a:txBody>
                  <a:tcPr marL="174706" marR="174706" marT="38100" marB="38100" anchor="ctr"/>
                </a:tc>
                <a:extLst>
                  <a:ext uri="{0D108BD9-81ED-4DB2-BD59-A6C34878D82A}">
                    <a16:rowId xmlns:a16="http://schemas.microsoft.com/office/drawing/2014/main" val="2377420067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89518D97-1C24-46D8-A402-3643597E834C}"/>
              </a:ext>
            </a:extLst>
          </p:cNvPr>
          <p:cNvSpPr/>
          <p:nvPr/>
        </p:nvSpPr>
        <p:spPr>
          <a:xfrm>
            <a:off x="1195724" y="1980788"/>
            <a:ext cx="2077411" cy="824177"/>
          </a:xfrm>
          <a:prstGeom prst="rect">
            <a:avLst/>
          </a:prstGeom>
          <a:solidFill>
            <a:srgbClr val="0F79C1">
              <a:alpha val="10000"/>
            </a:srgbClr>
          </a:solidFill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vert270" lIns="18000" rtlCol="0" anchor="t" anchorCtr="1"/>
          <a:lstStyle/>
          <a:p>
            <a:pPr algn="ctr"/>
            <a:r>
              <a:rPr lang="en-US" sz="1400" dirty="0"/>
              <a:t>Name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14A0BA-EEFE-42FC-83CB-F8C00B2101B2}"/>
              </a:ext>
            </a:extLst>
          </p:cNvPr>
          <p:cNvSpPr/>
          <p:nvPr/>
        </p:nvSpPr>
        <p:spPr>
          <a:xfrm>
            <a:off x="1512095" y="3114297"/>
            <a:ext cx="1761040" cy="437851"/>
          </a:xfrm>
          <a:prstGeom prst="rect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vert270" lIns="18000" rtlCol="0" anchor="t" anchorCtr="1"/>
          <a:lstStyle/>
          <a:p>
            <a:pPr algn="ctr"/>
            <a:r>
              <a:rPr lang="en-US" sz="1100" dirty="0"/>
              <a:t>Name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27C32F-E2C0-4E6B-8687-AEEB08594EA8}"/>
              </a:ext>
            </a:extLst>
          </p:cNvPr>
          <p:cNvSpPr/>
          <p:nvPr/>
        </p:nvSpPr>
        <p:spPr>
          <a:xfrm>
            <a:off x="1188007" y="3112606"/>
            <a:ext cx="324088" cy="877393"/>
          </a:xfrm>
          <a:prstGeom prst="rect">
            <a:avLst/>
          </a:prstGeom>
          <a:solidFill>
            <a:srgbClr val="0F79C1">
              <a:alpha val="10000"/>
            </a:srgbClr>
          </a:solidFill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Overflow="overflow" horzOverflow="overflow" vert="vert270" wrap="square" lIns="18000" tIns="45720" rIns="91440" bIns="45720" numCol="1" spcCol="0" rtlCol="0" fromWordArt="0" anchor="t" anchorCtr="1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/>
              <a:t>Name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A58231-B1FF-46BC-846E-1579859C0CBC}"/>
              </a:ext>
            </a:extLst>
          </p:cNvPr>
          <p:cNvSpPr/>
          <p:nvPr/>
        </p:nvSpPr>
        <p:spPr>
          <a:xfrm>
            <a:off x="1512095" y="3552148"/>
            <a:ext cx="1761040" cy="437851"/>
          </a:xfrm>
          <a:prstGeom prst="rect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vert270" lIns="18000" rtlCol="0" anchor="t" anchorCtr="1"/>
          <a:lstStyle/>
          <a:p>
            <a:pPr algn="ctr"/>
            <a:r>
              <a:rPr lang="en-US" sz="1100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541179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2. </a:t>
            </a:r>
            <a:r>
              <a:rPr lang="ru-RU" dirty="0"/>
              <a:t>О</a:t>
            </a:r>
            <a:r>
              <a:rPr lang="uk-UA" dirty="0" err="1"/>
              <a:t>бъекты</a:t>
            </a:r>
            <a:r>
              <a:rPr lang="uk-UA" dirty="0"/>
              <a:t> </a:t>
            </a:r>
            <a:r>
              <a:rPr lang="uk-UA" dirty="0" err="1"/>
              <a:t>потока</a:t>
            </a:r>
            <a:r>
              <a:rPr lang="uk-UA" dirty="0"/>
              <a:t> </a:t>
            </a:r>
            <a:r>
              <a:rPr lang="en-US" dirty="0"/>
              <a:t>- Flow Objects</a:t>
            </a:r>
            <a:endParaRPr lang="uk-UA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0158058"/>
              </p:ext>
            </p:extLst>
          </p:nvPr>
        </p:nvGraphicFramePr>
        <p:xfrm>
          <a:off x="1096963" y="1846263"/>
          <a:ext cx="10058400" cy="34632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3335">
                  <a:extLst>
                    <a:ext uri="{9D8B030D-6E8A-4147-A177-3AD203B41FA5}">
                      <a16:colId xmlns:a16="http://schemas.microsoft.com/office/drawing/2014/main" val="1799091092"/>
                    </a:ext>
                  </a:extLst>
                </a:gridCol>
                <a:gridCol w="1796204">
                  <a:extLst>
                    <a:ext uri="{9D8B030D-6E8A-4147-A177-3AD203B41FA5}">
                      <a16:colId xmlns:a16="http://schemas.microsoft.com/office/drawing/2014/main" val="188717913"/>
                    </a:ext>
                  </a:extLst>
                </a:gridCol>
                <a:gridCol w="5948861">
                  <a:extLst>
                    <a:ext uri="{9D8B030D-6E8A-4147-A177-3AD203B41FA5}">
                      <a16:colId xmlns:a16="http://schemas.microsoft.com/office/drawing/2014/main" val="1064345968"/>
                    </a:ext>
                  </a:extLst>
                </a:gridCol>
              </a:tblGrid>
              <a:tr h="1137275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Событие</a:t>
                      </a:r>
                      <a:r>
                        <a:rPr lang="uk-UA" dirty="0"/>
                        <a:t/>
                      </a:r>
                      <a:br>
                        <a:rPr lang="uk-UA" dirty="0"/>
                      </a:b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Event)</a:t>
                      </a:r>
                      <a:endParaRPr lang="uk-UA" dirty="0"/>
                    </a:p>
                  </a:txBody>
                  <a:tcPr marL="174706" marR="88751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Факт (ситуация, набор условий или обстоятельств), который активирует или оказывает влияние на дальнейшее развитие процессов.</a:t>
                      </a:r>
                      <a:endParaRPr lang="uk-UA" dirty="0"/>
                    </a:p>
                  </a:txBody>
                  <a:tcPr marL="174706" marR="88751"/>
                </a:tc>
                <a:extLst>
                  <a:ext uri="{0D108BD9-81ED-4DB2-BD59-A6C34878D82A}">
                    <a16:rowId xmlns:a16="http://schemas.microsoft.com/office/drawing/2014/main" val="1185066205"/>
                  </a:ext>
                </a:extLst>
              </a:tr>
              <a:tr h="1137275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Действие</a:t>
                      </a: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uk-UA" dirty="0"/>
                        <a:t/>
                      </a:r>
                      <a:br>
                        <a:rPr lang="uk-UA" dirty="0"/>
                      </a:br>
                      <a:r>
                        <a:rPr lang="uk-UA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деятельность</a:t>
                      </a:r>
                      <a:r>
                        <a:rPr lang="uk-UA" dirty="0"/>
                        <a:t/>
                      </a:r>
                      <a:br>
                        <a:rPr lang="uk-UA" dirty="0"/>
                      </a:b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Activity)</a:t>
                      </a:r>
                      <a:endParaRPr lang="uk-UA" dirty="0"/>
                    </a:p>
                  </a:txBody>
                  <a:tcPr marL="174706" marR="88751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Действие или набор действий, выполняемых исполнителем в ходе процесса. </a:t>
                      </a:r>
                      <a:endParaRPr lang="uk-UA" dirty="0"/>
                    </a:p>
                  </a:txBody>
                  <a:tcPr marL="174706" marR="88751"/>
                </a:tc>
                <a:extLst>
                  <a:ext uri="{0D108BD9-81ED-4DB2-BD59-A6C34878D82A}">
                    <a16:rowId xmlns:a16="http://schemas.microsoft.com/office/drawing/2014/main" val="2377420067"/>
                  </a:ext>
                </a:extLst>
              </a:tr>
              <a:tr h="1137275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Шлюз,</a:t>
                      </a:r>
                      <a:r>
                        <a:rPr lang="uk-UA" dirty="0"/>
                        <a:t/>
                      </a:r>
                      <a:br>
                        <a:rPr lang="uk-UA" dirty="0"/>
                      </a:br>
                      <a:r>
                        <a:rPr lang="uk-UA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логический</a:t>
                      </a: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оператор</a:t>
                      </a:r>
                      <a:r>
                        <a:rPr lang="uk-UA" dirty="0"/>
                        <a:t/>
                      </a:r>
                      <a:br>
                        <a:rPr lang="uk-UA" dirty="0"/>
                      </a:b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Gateway)</a:t>
                      </a:r>
                      <a:endParaRPr lang="uk-UA" dirty="0"/>
                    </a:p>
                  </a:txBody>
                  <a:tcPr marL="174706" marR="88751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Используется для обозначения слияния и/или ветвления потока событий и действий.</a:t>
                      </a:r>
                      <a:endParaRPr lang="uk-UA" dirty="0"/>
                    </a:p>
                  </a:txBody>
                  <a:tcPr marL="174706" marR="88751"/>
                </a:tc>
                <a:extLst>
                  <a:ext uri="{0D108BD9-81ED-4DB2-BD59-A6C34878D82A}">
                    <a16:rowId xmlns:a16="http://schemas.microsoft.com/office/drawing/2014/main" val="2069209183"/>
                  </a:ext>
                </a:extLst>
              </a:tr>
            </a:tbl>
          </a:graphicData>
        </a:graphic>
      </p:graphicFrame>
      <p:sp>
        <p:nvSpPr>
          <p:cNvPr id="3" name="Овал 2"/>
          <p:cNvSpPr/>
          <p:nvPr/>
        </p:nvSpPr>
        <p:spPr>
          <a:xfrm>
            <a:off x="1639745" y="1964532"/>
            <a:ext cx="914400" cy="9144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415027" y="3091685"/>
            <a:ext cx="1371600" cy="914400"/>
          </a:xfrm>
          <a:prstGeom prst="roundRect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Ромб 5"/>
          <p:cNvSpPr/>
          <p:nvPr/>
        </p:nvSpPr>
        <p:spPr>
          <a:xfrm>
            <a:off x="1639745" y="4228777"/>
            <a:ext cx="914400" cy="914400"/>
          </a:xfrm>
          <a:prstGeom prst="diamond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27976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События: по триггеру</a:t>
            </a:r>
            <a:endParaRPr lang="uk-UA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5477343"/>
              </p:ext>
            </p:extLst>
          </p:nvPr>
        </p:nvGraphicFramePr>
        <p:xfrm>
          <a:off x="1096963" y="1846263"/>
          <a:ext cx="10058400" cy="41821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3335">
                  <a:extLst>
                    <a:ext uri="{9D8B030D-6E8A-4147-A177-3AD203B41FA5}">
                      <a16:colId xmlns:a16="http://schemas.microsoft.com/office/drawing/2014/main" val="1799091092"/>
                    </a:ext>
                  </a:extLst>
                </a:gridCol>
                <a:gridCol w="2720715">
                  <a:extLst>
                    <a:ext uri="{9D8B030D-6E8A-4147-A177-3AD203B41FA5}">
                      <a16:colId xmlns:a16="http://schemas.microsoft.com/office/drawing/2014/main" val="188717913"/>
                    </a:ext>
                  </a:extLst>
                </a:gridCol>
                <a:gridCol w="5024350">
                  <a:extLst>
                    <a:ext uri="{9D8B030D-6E8A-4147-A177-3AD203B41FA5}">
                      <a16:colId xmlns:a16="http://schemas.microsoft.com/office/drawing/2014/main" val="1064345968"/>
                    </a:ext>
                  </a:extLst>
                </a:gridCol>
              </a:tblGrid>
              <a:tr h="460374">
                <a:tc>
                  <a:txBody>
                    <a:bodyPr/>
                    <a:lstStyle/>
                    <a:p>
                      <a:r>
                        <a:rPr lang="uk-UA" b="1" dirty="0"/>
                        <a:t>Маркер</a:t>
                      </a:r>
                    </a:p>
                  </a:txBody>
                  <a:tcPr marL="174706" marR="88751"/>
                </a:tc>
                <a:tc>
                  <a:txBody>
                    <a:bodyPr/>
                    <a:lstStyle/>
                    <a:p>
                      <a:r>
                        <a:rPr lang="uk-UA" b="1" dirty="0">
                          <a:effectLst/>
                        </a:rPr>
                        <a:t>Тип тригера</a:t>
                      </a:r>
                    </a:p>
                  </a:txBody>
                  <a:tcPr marL="174706" marR="92449" marT="38100" marB="38100"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</a:rPr>
                        <a:t>Описание</a:t>
                      </a:r>
                    </a:p>
                  </a:txBody>
                  <a:tcPr marL="174706" marR="92449" marT="38100" marB="38100"/>
                </a:tc>
                <a:extLst>
                  <a:ext uri="{0D108BD9-81ED-4DB2-BD59-A6C34878D82A}">
                    <a16:rowId xmlns:a16="http://schemas.microsoft.com/office/drawing/2014/main" val="1185066205"/>
                  </a:ext>
                </a:extLst>
              </a:tr>
              <a:tr h="930909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Неопределенное</a:t>
                      </a:r>
                      <a:r>
                        <a:rPr lang="uk-UA" dirty="0"/>
                        <a:t/>
                      </a:r>
                      <a:br>
                        <a:rPr lang="uk-UA" dirty="0"/>
                      </a:b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None)</a:t>
                      </a:r>
                      <a:endParaRPr lang="uk-UA" dirty="0">
                        <a:effectLst/>
                      </a:endParaRPr>
                    </a:p>
                  </a:txBody>
                  <a:tcPr marL="92449" marR="92449" marT="38100" marB="38100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Отсутствие маркера предполагает отсутствие у Стартового события определенного триггера. </a:t>
                      </a:r>
                    </a:p>
                  </a:txBody>
                  <a:tcPr marL="92449" marR="92449" marT="38100" marB="38100"/>
                </a:tc>
                <a:extLst>
                  <a:ext uri="{0D108BD9-81ED-4DB2-BD59-A6C34878D82A}">
                    <a16:rowId xmlns:a16="http://schemas.microsoft.com/office/drawing/2014/main" val="2377420067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Сообщение</a:t>
                      </a:r>
                      <a:r>
                        <a:rPr lang="uk-UA" dirty="0"/>
                        <a:t/>
                      </a:r>
                      <a:br>
                        <a:rPr lang="uk-UA" dirty="0"/>
                      </a:b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Message)</a:t>
                      </a:r>
                      <a:endParaRPr lang="uk-UA" dirty="0">
                        <a:effectLst/>
                      </a:endParaRPr>
                    </a:p>
                  </a:txBody>
                  <a:tcPr marL="92449" marR="92449" marT="38100" marB="38100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От Участника поступает Сообщение, которое инициирует запуск Процесса.</a:t>
                      </a:r>
                    </a:p>
                  </a:txBody>
                  <a:tcPr marL="92449" marR="92449" marT="38100" marB="38100"/>
                </a:tc>
                <a:extLst>
                  <a:ext uri="{0D108BD9-81ED-4DB2-BD59-A6C34878D82A}">
                    <a16:rowId xmlns:a16="http://schemas.microsoft.com/office/drawing/2014/main" val="619182399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Таймер</a:t>
                      </a:r>
                      <a:r>
                        <a:rPr lang="uk-UA" dirty="0"/>
                        <a:t/>
                      </a:r>
                      <a:br>
                        <a:rPr lang="uk-UA" dirty="0"/>
                      </a:b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Timer)</a:t>
                      </a:r>
                      <a:endParaRPr lang="uk-UA" dirty="0">
                        <a:effectLst/>
                      </a:endParaRPr>
                    </a:p>
                  </a:txBody>
                  <a:tcPr marL="92449" marR="92449" marT="38100" marB="38100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Определенный временной интервал или цикл</a:t>
                      </a:r>
                      <a:r>
                        <a:rPr lang="en-US" dirty="0">
                          <a:effectLst/>
                        </a:rPr>
                        <a:t>.</a:t>
                      </a:r>
                      <a:endParaRPr lang="ru-RU" dirty="0">
                        <a:effectLst/>
                      </a:endParaRPr>
                    </a:p>
                  </a:txBody>
                  <a:tcPr marL="92449" marR="92449" marT="38100" marB="38100"/>
                </a:tc>
                <a:extLst>
                  <a:ext uri="{0D108BD9-81ED-4DB2-BD59-A6C34878D82A}">
                    <a16:rowId xmlns:a16="http://schemas.microsoft.com/office/drawing/2014/main" val="1281030564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Завершение</a:t>
                      </a:r>
                      <a:r>
                        <a:rPr lang="uk-UA" dirty="0"/>
                        <a:t/>
                      </a:r>
                      <a:br>
                        <a:rPr lang="uk-UA" dirty="0"/>
                      </a:b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Terminate)</a:t>
                      </a:r>
                      <a:endParaRPr lang="uk-UA" dirty="0">
                        <a:effectLst/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Отражает факт немедленного завершения всего процесса.</a:t>
                      </a:r>
                      <a:endParaRPr lang="ru-RU" dirty="0">
                        <a:effectLst/>
                      </a:endParaRPr>
                    </a:p>
                  </a:txBody>
                  <a:tcPr marL="95250" marR="95250" marT="38100" marB="38100"/>
                </a:tc>
                <a:extLst>
                  <a:ext uri="{0D108BD9-81ED-4DB2-BD59-A6C34878D82A}">
                    <a16:rowId xmlns:a16="http://schemas.microsoft.com/office/drawing/2014/main" val="1782041922"/>
                  </a:ext>
                </a:extLst>
              </a:tr>
            </a:tbl>
          </a:graphicData>
        </a:graphic>
      </p:graphicFrame>
      <p:sp>
        <p:nvSpPr>
          <p:cNvPr id="25" name="Овал 2">
            <a:extLst>
              <a:ext uri="{FF2B5EF4-FFF2-40B4-BE49-F238E27FC236}">
                <a16:creationId xmlns:a16="http://schemas.microsoft.com/office/drawing/2014/main" id="{6CE7B2A8-C177-4A57-A75E-CF3D8E92B720}"/>
              </a:ext>
            </a:extLst>
          </p:cNvPr>
          <p:cNvSpPr/>
          <p:nvPr/>
        </p:nvSpPr>
        <p:spPr>
          <a:xfrm>
            <a:off x="1706420" y="2411918"/>
            <a:ext cx="720000" cy="7200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2" name="Овал 2">
            <a:extLst>
              <a:ext uri="{FF2B5EF4-FFF2-40B4-BE49-F238E27FC236}">
                <a16:creationId xmlns:a16="http://schemas.microsoft.com/office/drawing/2014/main" id="{B5F99B28-32D8-4C87-A28A-770D936F0C60}"/>
              </a:ext>
            </a:extLst>
          </p:cNvPr>
          <p:cNvSpPr/>
          <p:nvPr/>
        </p:nvSpPr>
        <p:spPr>
          <a:xfrm>
            <a:off x="1706420" y="3353594"/>
            <a:ext cx="720000" cy="7200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3" name="Овал 2">
            <a:extLst>
              <a:ext uri="{FF2B5EF4-FFF2-40B4-BE49-F238E27FC236}">
                <a16:creationId xmlns:a16="http://schemas.microsoft.com/office/drawing/2014/main" id="{7A21AC2B-444F-483F-BD06-91FF64728257}"/>
              </a:ext>
            </a:extLst>
          </p:cNvPr>
          <p:cNvSpPr/>
          <p:nvPr/>
        </p:nvSpPr>
        <p:spPr>
          <a:xfrm>
            <a:off x="1706420" y="4295270"/>
            <a:ext cx="720000" cy="7200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6" name="Овал 2">
            <a:extLst>
              <a:ext uri="{FF2B5EF4-FFF2-40B4-BE49-F238E27FC236}">
                <a16:creationId xmlns:a16="http://schemas.microsoft.com/office/drawing/2014/main" id="{6E29E722-1AAA-44DE-8F47-68BA44E4CFA9}"/>
              </a:ext>
            </a:extLst>
          </p:cNvPr>
          <p:cNvSpPr/>
          <p:nvPr/>
        </p:nvSpPr>
        <p:spPr>
          <a:xfrm>
            <a:off x="1848569" y="4439270"/>
            <a:ext cx="432000" cy="4320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8" name="Прямоугольник 6">
            <a:extLst>
              <a:ext uri="{FF2B5EF4-FFF2-40B4-BE49-F238E27FC236}">
                <a16:creationId xmlns:a16="http://schemas.microsoft.com/office/drawing/2014/main" id="{55340DF6-C3CC-4A98-B285-91FCC1151C00}"/>
              </a:ext>
            </a:extLst>
          </p:cNvPr>
          <p:cNvSpPr/>
          <p:nvPr/>
        </p:nvSpPr>
        <p:spPr>
          <a:xfrm>
            <a:off x="1848569" y="3594633"/>
            <a:ext cx="446451" cy="250621"/>
          </a:xfrm>
          <a:prstGeom prst="rect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9" name="Равнобедренный треугольник 7">
            <a:extLst>
              <a:ext uri="{FF2B5EF4-FFF2-40B4-BE49-F238E27FC236}">
                <a16:creationId xmlns:a16="http://schemas.microsoft.com/office/drawing/2014/main" id="{2B69AF6B-E2EF-4888-AB45-7EA62BACB2BF}"/>
              </a:ext>
            </a:extLst>
          </p:cNvPr>
          <p:cNvSpPr/>
          <p:nvPr/>
        </p:nvSpPr>
        <p:spPr>
          <a:xfrm rot="10800000">
            <a:off x="1848569" y="3595541"/>
            <a:ext cx="446450" cy="166344"/>
          </a:xfrm>
          <a:prstGeom prst="triangl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CAE66E-20E4-4423-8D84-A43030F1AADD}"/>
              </a:ext>
            </a:extLst>
          </p:cNvPr>
          <p:cNvCxnSpPr>
            <a:cxnSpLocks/>
            <a:stCxn id="36" idx="0"/>
          </p:cNvCxnSpPr>
          <p:nvPr/>
        </p:nvCxnSpPr>
        <p:spPr>
          <a:xfrm>
            <a:off x="2064569" y="4439270"/>
            <a:ext cx="0" cy="230477"/>
          </a:xfrm>
          <a:prstGeom prst="lin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E810B2F-92AB-416E-904D-E91DBD9463E6}"/>
              </a:ext>
            </a:extLst>
          </p:cNvPr>
          <p:cNvCxnSpPr>
            <a:cxnSpLocks/>
          </p:cNvCxnSpPr>
          <p:nvPr/>
        </p:nvCxnSpPr>
        <p:spPr>
          <a:xfrm flipH="1">
            <a:off x="2064569" y="4593143"/>
            <a:ext cx="107131" cy="64508"/>
          </a:xfrm>
          <a:prstGeom prst="lin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cxnSp>
      <p:sp>
        <p:nvSpPr>
          <p:cNvPr id="16" name="Овал 2">
            <a:extLst>
              <a:ext uri="{FF2B5EF4-FFF2-40B4-BE49-F238E27FC236}">
                <a16:creationId xmlns:a16="http://schemas.microsoft.com/office/drawing/2014/main" id="{CE3C7675-9E98-3542-8E85-4183930F9DA8}"/>
              </a:ext>
            </a:extLst>
          </p:cNvPr>
          <p:cNvSpPr/>
          <p:nvPr/>
        </p:nvSpPr>
        <p:spPr>
          <a:xfrm>
            <a:off x="1704569" y="5201774"/>
            <a:ext cx="720000" cy="720000"/>
          </a:xfrm>
          <a:prstGeom prst="ellipse">
            <a:avLst/>
          </a:prstGeom>
          <a:noFill/>
          <a:ln w="63500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Овал 2">
            <a:extLst>
              <a:ext uri="{FF2B5EF4-FFF2-40B4-BE49-F238E27FC236}">
                <a16:creationId xmlns:a16="http://schemas.microsoft.com/office/drawing/2014/main" id="{C711617A-792D-CC40-8F22-131E2E12801D}"/>
              </a:ext>
            </a:extLst>
          </p:cNvPr>
          <p:cNvSpPr>
            <a:spLocks noChangeAspect="1"/>
          </p:cNvSpPr>
          <p:nvPr/>
        </p:nvSpPr>
        <p:spPr>
          <a:xfrm>
            <a:off x="1822869" y="5320074"/>
            <a:ext cx="483400" cy="483400"/>
          </a:xfrm>
          <a:prstGeom prst="ellipse">
            <a:avLst/>
          </a:prstGeom>
          <a:solidFill>
            <a:srgbClr val="0F79C1"/>
          </a:solidFill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56661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События: по триггеру</a:t>
            </a:r>
            <a:endParaRPr lang="uk-UA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6056198"/>
              </p:ext>
            </p:extLst>
          </p:nvPr>
        </p:nvGraphicFramePr>
        <p:xfrm>
          <a:off x="1205345" y="1846263"/>
          <a:ext cx="9950018" cy="32486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3757">
                  <a:extLst>
                    <a:ext uri="{9D8B030D-6E8A-4147-A177-3AD203B41FA5}">
                      <a16:colId xmlns:a16="http://schemas.microsoft.com/office/drawing/2014/main" val="1799091092"/>
                    </a:ext>
                  </a:extLst>
                </a:gridCol>
                <a:gridCol w="2452665">
                  <a:extLst>
                    <a:ext uri="{9D8B030D-6E8A-4147-A177-3AD203B41FA5}">
                      <a16:colId xmlns:a16="http://schemas.microsoft.com/office/drawing/2014/main" val="188717913"/>
                    </a:ext>
                  </a:extLst>
                </a:gridCol>
                <a:gridCol w="5713596">
                  <a:extLst>
                    <a:ext uri="{9D8B030D-6E8A-4147-A177-3AD203B41FA5}">
                      <a16:colId xmlns:a16="http://schemas.microsoft.com/office/drawing/2014/main" val="1064345968"/>
                    </a:ext>
                  </a:extLst>
                </a:gridCol>
              </a:tblGrid>
              <a:tr h="460374">
                <a:tc>
                  <a:txBody>
                    <a:bodyPr/>
                    <a:lstStyle/>
                    <a:p>
                      <a:r>
                        <a:rPr lang="uk-UA" b="1" dirty="0"/>
                        <a:t>Маркер</a:t>
                      </a:r>
                    </a:p>
                  </a:txBody>
                  <a:tcPr marL="174706" marR="88751"/>
                </a:tc>
                <a:tc>
                  <a:txBody>
                    <a:bodyPr/>
                    <a:lstStyle/>
                    <a:p>
                      <a:r>
                        <a:rPr lang="uk-UA" b="1" dirty="0">
                          <a:effectLst/>
                        </a:rPr>
                        <a:t>Тип тригера</a:t>
                      </a:r>
                    </a:p>
                  </a:txBody>
                  <a:tcPr marL="174706" marR="92449" marT="38100" marB="38100"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</a:rPr>
                        <a:t>Описание</a:t>
                      </a:r>
                    </a:p>
                  </a:txBody>
                  <a:tcPr marL="174706" marR="92449" marT="38100" marB="38100"/>
                </a:tc>
                <a:extLst>
                  <a:ext uri="{0D108BD9-81ED-4DB2-BD59-A6C34878D82A}">
                    <a16:rowId xmlns:a16="http://schemas.microsoft.com/office/drawing/2014/main" val="1185066205"/>
                  </a:ext>
                </a:extLst>
              </a:tr>
              <a:tr h="930909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Сигнал</a:t>
                      </a:r>
                      <a:r>
                        <a:rPr lang="uk-UA" dirty="0"/>
                        <a:t/>
                      </a:r>
                      <a:br>
                        <a:rPr lang="uk-UA" dirty="0"/>
                      </a:b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Signal)</a:t>
                      </a:r>
                      <a:endParaRPr lang="uk-UA" dirty="0">
                        <a:effectLst/>
                      </a:endParaRPr>
                    </a:p>
                  </a:txBody>
                  <a:tcPr marL="174706" marR="174706" marT="38100" marB="38100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Переданный из другого Процесса сигнал поступает в текущий Процесс и инициирует его запуск.</a:t>
                      </a:r>
                    </a:p>
                  </a:txBody>
                  <a:tcPr marL="174706" marR="174706" marT="38100" marB="38100"/>
                </a:tc>
                <a:extLst>
                  <a:ext uri="{0D108BD9-81ED-4DB2-BD59-A6C34878D82A}">
                    <a16:rowId xmlns:a16="http://schemas.microsoft.com/office/drawing/2014/main" val="2377420067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Ошибка</a:t>
                      </a:r>
                      <a:r>
                        <a:rPr lang="uk-UA" dirty="0"/>
                        <a:t/>
                      </a:r>
                      <a:br>
                        <a:rPr lang="uk-UA" dirty="0"/>
                      </a:b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Error)</a:t>
                      </a:r>
                      <a:endParaRPr lang="uk-UA" dirty="0">
                        <a:effectLst/>
                      </a:endParaRPr>
                    </a:p>
                  </a:txBody>
                  <a:tcPr marL="92449" marR="92449" marT="38100" marB="38100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Отражает факт возникновения и/или обработки ошибки в процессе. Ошибки могут иметь различные типы.</a:t>
                      </a:r>
                      <a:endParaRPr lang="ru-RU" dirty="0">
                        <a:effectLst/>
                      </a:endParaRPr>
                    </a:p>
                  </a:txBody>
                  <a:tcPr marL="92449" marR="92449" marT="38100" marB="38100"/>
                </a:tc>
                <a:extLst>
                  <a:ext uri="{0D108BD9-81ED-4DB2-BD59-A6C34878D82A}">
                    <a16:rowId xmlns:a16="http://schemas.microsoft.com/office/drawing/2014/main" val="619182399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r>
                        <a:rPr lang="uk-UA" dirty="0" err="1">
                          <a:effectLst/>
                        </a:rPr>
                        <a:t>Отмена</a:t>
                      </a:r>
                      <a:endParaRPr lang="uk-UA" dirty="0">
                        <a:effectLst/>
                      </a:endParaRPr>
                    </a:p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(Cancel)</a:t>
                      </a:r>
                      <a:endParaRPr lang="uk-UA" dirty="0">
                        <a:effectLst/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Отражает факт неудачного завершения (прерывания) процесса.</a:t>
                      </a:r>
                      <a:endParaRPr lang="ru-RU" dirty="0">
                        <a:effectLst/>
                      </a:endParaRPr>
                    </a:p>
                  </a:txBody>
                  <a:tcPr marL="95250" marR="95250" marT="38100" marB="38100"/>
                </a:tc>
                <a:extLst>
                  <a:ext uri="{0D108BD9-81ED-4DB2-BD59-A6C34878D82A}">
                    <a16:rowId xmlns:a16="http://schemas.microsoft.com/office/drawing/2014/main" val="1281030564"/>
                  </a:ext>
                </a:extLst>
              </a:tr>
            </a:tbl>
          </a:graphicData>
        </a:graphic>
      </p:graphicFrame>
      <p:sp>
        <p:nvSpPr>
          <p:cNvPr id="25" name="Овал 2">
            <a:extLst>
              <a:ext uri="{FF2B5EF4-FFF2-40B4-BE49-F238E27FC236}">
                <a16:creationId xmlns:a16="http://schemas.microsoft.com/office/drawing/2014/main" id="{6CE7B2A8-C177-4A57-A75E-CF3D8E92B720}"/>
              </a:ext>
            </a:extLst>
          </p:cNvPr>
          <p:cNvSpPr/>
          <p:nvPr/>
        </p:nvSpPr>
        <p:spPr>
          <a:xfrm>
            <a:off x="1705103" y="2396141"/>
            <a:ext cx="720000" cy="7200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9" name="Равнобедренный треугольник 7">
            <a:extLst>
              <a:ext uri="{FF2B5EF4-FFF2-40B4-BE49-F238E27FC236}">
                <a16:creationId xmlns:a16="http://schemas.microsoft.com/office/drawing/2014/main" id="{2B69AF6B-E2EF-4888-AB45-7EA62BACB2BF}"/>
              </a:ext>
            </a:extLst>
          </p:cNvPr>
          <p:cNvSpPr/>
          <p:nvPr/>
        </p:nvSpPr>
        <p:spPr>
          <a:xfrm>
            <a:off x="1847253" y="2522489"/>
            <a:ext cx="446450" cy="399996"/>
          </a:xfrm>
          <a:prstGeom prst="triangl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10" name="Овал 2">
            <a:extLst>
              <a:ext uri="{FF2B5EF4-FFF2-40B4-BE49-F238E27FC236}">
                <a16:creationId xmlns:a16="http://schemas.microsoft.com/office/drawing/2014/main" id="{47ADDF47-DF6C-8046-B7A2-03B025B1A43B}"/>
              </a:ext>
            </a:extLst>
          </p:cNvPr>
          <p:cNvSpPr/>
          <p:nvPr/>
        </p:nvSpPr>
        <p:spPr>
          <a:xfrm>
            <a:off x="1705103" y="3347584"/>
            <a:ext cx="720000" cy="7200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92B6B2-2661-A34C-99F2-736C25B3B761}"/>
              </a:ext>
            </a:extLst>
          </p:cNvPr>
          <p:cNvGrpSpPr/>
          <p:nvPr/>
        </p:nvGrpSpPr>
        <p:grpSpPr>
          <a:xfrm>
            <a:off x="1856262" y="3552018"/>
            <a:ext cx="413976" cy="311132"/>
            <a:chOff x="183717" y="2901950"/>
            <a:chExt cx="413976" cy="311132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5C47FFA-4549-2F40-9772-A7EDEE3B4C4E}"/>
                </a:ext>
              </a:extLst>
            </p:cNvPr>
            <p:cNvCxnSpPr>
              <a:cxnSpLocks/>
            </p:cNvCxnSpPr>
            <p:nvPr/>
          </p:nvCxnSpPr>
          <p:spPr>
            <a:xfrm>
              <a:off x="311944" y="3054350"/>
              <a:ext cx="128568" cy="152401"/>
            </a:xfrm>
            <a:prstGeom prst="lin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33E31AA-EAD5-D748-9394-0674BB4BF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150" y="2901950"/>
              <a:ext cx="168275" cy="304801"/>
            </a:xfrm>
            <a:prstGeom prst="lin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7B55467-DBEA-7346-9D57-0AC21FAD21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717" y="3054350"/>
              <a:ext cx="143091" cy="158732"/>
            </a:xfrm>
            <a:prstGeom prst="lin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56567B0-DDAB-7B49-B057-F3C4B08DCCDE}"/>
                </a:ext>
              </a:extLst>
            </p:cNvPr>
            <p:cNvCxnSpPr>
              <a:cxnSpLocks/>
            </p:cNvCxnSpPr>
            <p:nvPr/>
          </p:nvCxnSpPr>
          <p:spPr>
            <a:xfrm>
              <a:off x="340507" y="2907777"/>
              <a:ext cx="136219" cy="140242"/>
            </a:xfrm>
            <a:prstGeom prst="lin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B4937A2-D56B-FF41-A3E3-B5B21DB12A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277" y="2901950"/>
              <a:ext cx="140114" cy="152400"/>
            </a:xfrm>
            <a:prstGeom prst="lin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7A52A9-3B1C-B74E-875F-41F95645EF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418" y="2901950"/>
              <a:ext cx="168275" cy="304801"/>
            </a:xfrm>
            <a:prstGeom prst="lin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cxnSp>
      </p:grpSp>
      <p:sp>
        <p:nvSpPr>
          <p:cNvPr id="21" name="Овал 2">
            <a:extLst>
              <a:ext uri="{FF2B5EF4-FFF2-40B4-BE49-F238E27FC236}">
                <a16:creationId xmlns:a16="http://schemas.microsoft.com/office/drawing/2014/main" id="{7B2A7A29-1CAF-C741-98E5-A3064CAC73A7}"/>
              </a:ext>
            </a:extLst>
          </p:cNvPr>
          <p:cNvSpPr/>
          <p:nvPr/>
        </p:nvSpPr>
        <p:spPr>
          <a:xfrm>
            <a:off x="1723713" y="4284259"/>
            <a:ext cx="720000" cy="7200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2" name="Овал 2">
            <a:extLst>
              <a:ext uri="{FF2B5EF4-FFF2-40B4-BE49-F238E27FC236}">
                <a16:creationId xmlns:a16="http://schemas.microsoft.com/office/drawing/2014/main" id="{DED6D315-37F8-884B-952E-04D8C1F78FDC}"/>
              </a:ext>
            </a:extLst>
          </p:cNvPr>
          <p:cNvSpPr>
            <a:spLocks noChangeAspect="1"/>
          </p:cNvSpPr>
          <p:nvPr/>
        </p:nvSpPr>
        <p:spPr>
          <a:xfrm>
            <a:off x="1791840" y="4354382"/>
            <a:ext cx="576000" cy="5760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3" name="Овал 2">
            <a:extLst>
              <a:ext uri="{FF2B5EF4-FFF2-40B4-BE49-F238E27FC236}">
                <a16:creationId xmlns:a16="http://schemas.microsoft.com/office/drawing/2014/main" id="{06B779BB-E395-0147-A9EA-09D095000807}"/>
              </a:ext>
            </a:extLst>
          </p:cNvPr>
          <p:cNvSpPr>
            <a:spLocks noChangeAspect="1"/>
          </p:cNvSpPr>
          <p:nvPr/>
        </p:nvSpPr>
        <p:spPr>
          <a:xfrm rot="18880049">
            <a:off x="1845494" y="4408037"/>
            <a:ext cx="468690" cy="468690"/>
          </a:xfrm>
          <a:prstGeom prst="plus">
            <a:avLst>
              <a:gd name="adj" fmla="val 42198"/>
            </a:avLst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75244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События: по триггеру</a:t>
            </a:r>
            <a:endParaRPr lang="uk-UA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087942"/>
              </p:ext>
            </p:extLst>
          </p:nvPr>
        </p:nvGraphicFramePr>
        <p:xfrm>
          <a:off x="1219199" y="1846263"/>
          <a:ext cx="9936163" cy="32486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222">
                  <a:extLst>
                    <a:ext uri="{9D8B030D-6E8A-4147-A177-3AD203B41FA5}">
                      <a16:colId xmlns:a16="http://schemas.microsoft.com/office/drawing/2014/main" val="1799091092"/>
                    </a:ext>
                  </a:extLst>
                </a:gridCol>
                <a:gridCol w="2687651">
                  <a:extLst>
                    <a:ext uri="{9D8B030D-6E8A-4147-A177-3AD203B41FA5}">
                      <a16:colId xmlns:a16="http://schemas.microsoft.com/office/drawing/2014/main" val="188717913"/>
                    </a:ext>
                  </a:extLst>
                </a:gridCol>
                <a:gridCol w="4963290">
                  <a:extLst>
                    <a:ext uri="{9D8B030D-6E8A-4147-A177-3AD203B41FA5}">
                      <a16:colId xmlns:a16="http://schemas.microsoft.com/office/drawing/2014/main" val="1064345968"/>
                    </a:ext>
                  </a:extLst>
                </a:gridCol>
              </a:tblGrid>
              <a:tr h="460374">
                <a:tc>
                  <a:txBody>
                    <a:bodyPr/>
                    <a:lstStyle/>
                    <a:p>
                      <a:r>
                        <a:rPr lang="uk-UA" b="1" dirty="0"/>
                        <a:t>Маркер</a:t>
                      </a:r>
                    </a:p>
                  </a:txBody>
                  <a:tcPr marL="174706" marR="88751"/>
                </a:tc>
                <a:tc>
                  <a:txBody>
                    <a:bodyPr/>
                    <a:lstStyle/>
                    <a:p>
                      <a:r>
                        <a:rPr lang="uk-UA" b="1" dirty="0">
                          <a:effectLst/>
                        </a:rPr>
                        <a:t>Тип тригера</a:t>
                      </a:r>
                    </a:p>
                  </a:txBody>
                  <a:tcPr marL="174706" marR="92449" marT="38100" marB="38100"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</a:rPr>
                        <a:t>Описание</a:t>
                      </a:r>
                    </a:p>
                  </a:txBody>
                  <a:tcPr marL="174706" marR="92449" marT="38100" marB="38100"/>
                </a:tc>
                <a:extLst>
                  <a:ext uri="{0D108BD9-81ED-4DB2-BD59-A6C34878D82A}">
                    <a16:rowId xmlns:a16="http://schemas.microsoft.com/office/drawing/2014/main" val="1185066205"/>
                  </a:ext>
                </a:extLst>
              </a:tr>
              <a:tr h="930909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Параллельно-множественное</a:t>
                      </a:r>
                      <a:r>
                        <a:rPr lang="uk-UA" dirty="0"/>
                        <a:t/>
                      </a:r>
                      <a:br>
                        <a:rPr lang="uk-UA" dirty="0"/>
                      </a:b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Parallel Multiple)</a:t>
                      </a:r>
                      <a:endParaRPr lang="uk-UA" dirty="0">
                        <a:effectLst/>
                      </a:endParaRPr>
                    </a:p>
                  </a:txBody>
                  <a:tcPr marL="174706" marR="174706" marT="38100" marB="38100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То же самое, что и множественное, но событие произойдет, только если будут выполнены все заданные условия. </a:t>
                      </a:r>
                      <a:endParaRPr lang="ru-RU" dirty="0">
                        <a:effectLst/>
                      </a:endParaRPr>
                    </a:p>
                  </a:txBody>
                  <a:tcPr marL="174706" marR="174706" marT="38100" marB="38100"/>
                </a:tc>
                <a:extLst>
                  <a:ext uri="{0D108BD9-81ED-4DB2-BD59-A6C34878D82A}">
                    <a16:rowId xmlns:a16="http://schemas.microsoft.com/office/drawing/2014/main" val="2377420067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Прерывание,</a:t>
                      </a:r>
                      <a:r>
                        <a:rPr lang="uk-UA" dirty="0"/>
                        <a:t/>
                      </a:r>
                      <a:br>
                        <a:rPr lang="uk-UA" dirty="0"/>
                      </a:b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эскалация</a:t>
                      </a:r>
                      <a:r>
                        <a:rPr lang="uk-UA" dirty="0"/>
                        <a:t/>
                      </a:r>
                      <a:br>
                        <a:rPr lang="uk-UA" dirty="0"/>
                      </a:b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Escalation)</a:t>
                      </a:r>
                      <a:endParaRPr lang="uk-UA" dirty="0">
                        <a:effectLst/>
                      </a:endParaRPr>
                    </a:p>
                  </a:txBody>
                  <a:tcPr marL="92449" marR="92449" marT="38100" marB="38100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Запускает процесс, который ускоряет выполнение другого процесса, если тот выполняется неправильно. </a:t>
                      </a:r>
                      <a:endParaRPr lang="ru-RU" dirty="0">
                        <a:effectLst/>
                      </a:endParaRPr>
                    </a:p>
                  </a:txBody>
                  <a:tcPr marL="92449" marR="92449" marT="38100" marB="38100"/>
                </a:tc>
                <a:extLst>
                  <a:ext uri="{0D108BD9-81ED-4DB2-BD59-A6C34878D82A}">
                    <a16:rowId xmlns:a16="http://schemas.microsoft.com/office/drawing/2014/main" val="619182399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Компенсация</a:t>
                      </a:r>
                      <a:r>
                        <a:rPr lang="uk-UA" dirty="0"/>
                        <a:t/>
                      </a:r>
                      <a:br>
                        <a:rPr lang="uk-UA" dirty="0"/>
                      </a:b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Compensation)</a:t>
                      </a:r>
                      <a:endParaRPr lang="uk-UA" dirty="0">
                        <a:effectLst/>
                      </a:endParaRPr>
                    </a:p>
                  </a:txBody>
                  <a:tcPr marL="92449" marR="92449" marT="38100" marB="38100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Инициирует вспомогательные действия, компенсирующие неудачное завершение (прерывание) процесса.</a:t>
                      </a:r>
                      <a:endParaRPr lang="ru-RU" dirty="0">
                        <a:effectLst/>
                      </a:endParaRPr>
                    </a:p>
                  </a:txBody>
                  <a:tcPr marL="92449" marR="92449" marT="38100" marB="38100"/>
                </a:tc>
                <a:extLst>
                  <a:ext uri="{0D108BD9-81ED-4DB2-BD59-A6C34878D82A}">
                    <a16:rowId xmlns:a16="http://schemas.microsoft.com/office/drawing/2014/main" val="1281030564"/>
                  </a:ext>
                </a:extLst>
              </a:tr>
            </a:tbl>
          </a:graphicData>
        </a:graphic>
      </p:graphicFrame>
      <p:sp>
        <p:nvSpPr>
          <p:cNvPr id="32" name="Овал 2">
            <a:extLst>
              <a:ext uri="{FF2B5EF4-FFF2-40B4-BE49-F238E27FC236}">
                <a16:creationId xmlns:a16="http://schemas.microsoft.com/office/drawing/2014/main" id="{B5F99B28-32D8-4C87-A28A-770D936F0C60}"/>
              </a:ext>
            </a:extLst>
          </p:cNvPr>
          <p:cNvSpPr/>
          <p:nvPr/>
        </p:nvSpPr>
        <p:spPr>
          <a:xfrm>
            <a:off x="1982959" y="3341405"/>
            <a:ext cx="720000" cy="7200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3" name="Овал 2">
            <a:extLst>
              <a:ext uri="{FF2B5EF4-FFF2-40B4-BE49-F238E27FC236}">
                <a16:creationId xmlns:a16="http://schemas.microsoft.com/office/drawing/2014/main" id="{7A21AC2B-444F-483F-BD06-91FF64728257}"/>
              </a:ext>
            </a:extLst>
          </p:cNvPr>
          <p:cNvSpPr/>
          <p:nvPr/>
        </p:nvSpPr>
        <p:spPr>
          <a:xfrm>
            <a:off x="1982959" y="4283081"/>
            <a:ext cx="720000" cy="7200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C2A1099-3922-4CF8-B3DB-38C57BDFD752}"/>
              </a:ext>
            </a:extLst>
          </p:cNvPr>
          <p:cNvGrpSpPr/>
          <p:nvPr/>
        </p:nvGrpSpPr>
        <p:grpSpPr>
          <a:xfrm>
            <a:off x="2191448" y="3455064"/>
            <a:ext cx="299316" cy="442913"/>
            <a:chOff x="207168" y="3400425"/>
            <a:chExt cx="299316" cy="442913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9686A0F-2614-4A4A-95AC-B30CDCC07A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168" y="3400425"/>
              <a:ext cx="165497" cy="442913"/>
            </a:xfrm>
            <a:prstGeom prst="lin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5558220-7A19-412A-9518-F5EE52AE58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5522" y="3400425"/>
              <a:ext cx="140962" cy="442913"/>
            </a:xfrm>
            <a:prstGeom prst="lin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0AD2B7E-9E53-4F91-BC33-CDB803BA17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0343" y="3669507"/>
              <a:ext cx="154781" cy="166688"/>
            </a:xfrm>
            <a:prstGeom prst="lin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437E054-1514-440D-B967-7C6C9D7A8D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4806" y="3667126"/>
              <a:ext cx="151678" cy="166688"/>
            </a:xfrm>
            <a:prstGeom prst="lin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0BB9ACB-B4AE-4DAD-8DA6-9C55A9E6CC3E}"/>
              </a:ext>
            </a:extLst>
          </p:cNvPr>
          <p:cNvGrpSpPr/>
          <p:nvPr/>
        </p:nvGrpSpPr>
        <p:grpSpPr>
          <a:xfrm>
            <a:off x="2113934" y="4427081"/>
            <a:ext cx="377784" cy="432000"/>
            <a:chOff x="1848569" y="4282254"/>
            <a:chExt cx="377784" cy="432000"/>
          </a:xfrm>
        </p:grpSpPr>
        <p:sp>
          <p:nvSpPr>
            <p:cNvPr id="36" name="Овал 2">
              <a:extLst>
                <a:ext uri="{FF2B5EF4-FFF2-40B4-BE49-F238E27FC236}">
                  <a16:creationId xmlns:a16="http://schemas.microsoft.com/office/drawing/2014/main" id="{6E29E722-1AAA-44DE-8F47-68BA44E4CFA9}"/>
                </a:ext>
              </a:extLst>
            </p:cNvPr>
            <p:cNvSpPr/>
            <p:nvPr/>
          </p:nvSpPr>
          <p:spPr>
            <a:xfrm rot="16200000">
              <a:off x="1721428" y="4409395"/>
              <a:ext cx="432000" cy="177718"/>
            </a:xfrm>
            <a:prstGeom prst="triangl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3" name="Овал 2">
              <a:extLst>
                <a:ext uri="{FF2B5EF4-FFF2-40B4-BE49-F238E27FC236}">
                  <a16:creationId xmlns:a16="http://schemas.microsoft.com/office/drawing/2014/main" id="{FFA6A183-6696-46BB-861A-3F8EB82E8D8C}"/>
                </a:ext>
              </a:extLst>
            </p:cNvPr>
            <p:cNvSpPr/>
            <p:nvPr/>
          </p:nvSpPr>
          <p:spPr>
            <a:xfrm rot="16200000">
              <a:off x="1921494" y="4409395"/>
              <a:ext cx="432000" cy="177718"/>
            </a:xfrm>
            <a:prstGeom prst="triangl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22" name="Овал 2">
            <a:extLst>
              <a:ext uri="{FF2B5EF4-FFF2-40B4-BE49-F238E27FC236}">
                <a16:creationId xmlns:a16="http://schemas.microsoft.com/office/drawing/2014/main" id="{A32A7995-7604-1D41-908B-E6D0E9FE2351}"/>
              </a:ext>
            </a:extLst>
          </p:cNvPr>
          <p:cNvSpPr/>
          <p:nvPr/>
        </p:nvSpPr>
        <p:spPr>
          <a:xfrm>
            <a:off x="1980937" y="2430919"/>
            <a:ext cx="720000" cy="7200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3" name="Овал 2">
            <a:extLst>
              <a:ext uri="{FF2B5EF4-FFF2-40B4-BE49-F238E27FC236}">
                <a16:creationId xmlns:a16="http://schemas.microsoft.com/office/drawing/2014/main" id="{786B7A36-05FB-AB46-A1AF-3C8F86D2325A}"/>
              </a:ext>
            </a:extLst>
          </p:cNvPr>
          <p:cNvSpPr/>
          <p:nvPr/>
        </p:nvSpPr>
        <p:spPr>
          <a:xfrm>
            <a:off x="2123086" y="2574919"/>
            <a:ext cx="432000" cy="432000"/>
          </a:xfrm>
          <a:prstGeom prst="plus">
            <a:avLst>
              <a:gd name="adj" fmla="val 38229"/>
            </a:avLst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09250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События: по триггеру</a:t>
            </a:r>
            <a:endParaRPr lang="uk-UA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0052024"/>
              </p:ext>
            </p:extLst>
          </p:nvPr>
        </p:nvGraphicFramePr>
        <p:xfrm>
          <a:off x="1219826" y="1859007"/>
          <a:ext cx="9935854" cy="34982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5151">
                  <a:extLst>
                    <a:ext uri="{9D8B030D-6E8A-4147-A177-3AD203B41FA5}">
                      <a16:colId xmlns:a16="http://schemas.microsoft.com/office/drawing/2014/main" val="1799091092"/>
                    </a:ext>
                  </a:extLst>
                </a:gridCol>
                <a:gridCol w="2687567">
                  <a:extLst>
                    <a:ext uri="{9D8B030D-6E8A-4147-A177-3AD203B41FA5}">
                      <a16:colId xmlns:a16="http://schemas.microsoft.com/office/drawing/2014/main" val="188717913"/>
                    </a:ext>
                  </a:extLst>
                </a:gridCol>
                <a:gridCol w="4963136">
                  <a:extLst>
                    <a:ext uri="{9D8B030D-6E8A-4147-A177-3AD203B41FA5}">
                      <a16:colId xmlns:a16="http://schemas.microsoft.com/office/drawing/2014/main" val="1064345968"/>
                    </a:ext>
                  </a:extLst>
                </a:gridCol>
              </a:tblGrid>
              <a:tr h="460374">
                <a:tc>
                  <a:txBody>
                    <a:bodyPr/>
                    <a:lstStyle/>
                    <a:p>
                      <a:r>
                        <a:rPr lang="uk-UA" dirty="0"/>
                        <a:t>Маркер</a:t>
                      </a:r>
                    </a:p>
                  </a:txBody>
                  <a:tcPr marL="180000"/>
                </a:tc>
                <a:tc>
                  <a:txBody>
                    <a:bodyPr/>
                    <a:lstStyle/>
                    <a:p>
                      <a:r>
                        <a:rPr lang="uk-UA" dirty="0">
                          <a:effectLst/>
                        </a:rPr>
                        <a:t>Тип тригера</a:t>
                      </a:r>
                    </a:p>
                  </a:txBody>
                  <a:tcPr marL="180000" marR="95250" marT="38100" marB="38100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Описание</a:t>
                      </a:r>
                    </a:p>
                  </a:txBody>
                  <a:tcPr marL="180000" marR="95250" marT="38100" marB="38100"/>
                </a:tc>
                <a:extLst>
                  <a:ext uri="{0D108BD9-81ED-4DB2-BD59-A6C34878D82A}">
                    <a16:rowId xmlns:a16="http://schemas.microsoft.com/office/drawing/2014/main" val="1185066205"/>
                  </a:ext>
                </a:extLst>
              </a:tr>
              <a:tr h="930909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Множественное</a:t>
                      </a:r>
                      <a:r>
                        <a:rPr lang="uk-UA" dirty="0"/>
                        <a:t/>
                      </a:r>
                      <a:br>
                        <a:rPr lang="uk-UA" dirty="0"/>
                      </a:b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Multiple)</a:t>
                      </a:r>
                      <a:endParaRPr lang="uk-UA" dirty="0">
                        <a:effectLst/>
                      </a:endParaRPr>
                    </a:p>
                  </a:txBody>
                  <a:tcPr marL="174706" marR="174706" marT="38100" marB="38100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Событие предполагает множество вариантов, но для его наступления достаточно хотя бы одного. </a:t>
                      </a:r>
                      <a:endParaRPr lang="ru-RU" dirty="0">
                        <a:effectLst/>
                      </a:endParaRPr>
                    </a:p>
                  </a:txBody>
                  <a:tcPr marL="174706" marR="174706" marT="38100" marB="38100"/>
                </a:tc>
                <a:extLst>
                  <a:ext uri="{0D108BD9-81ED-4DB2-BD59-A6C34878D82A}">
                    <a16:rowId xmlns:a16="http://schemas.microsoft.com/office/drawing/2014/main" val="2377420067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 err="1">
                          <a:effectLst/>
                        </a:rPr>
                        <a:t>Сслыка</a:t>
                      </a:r>
                      <a:r>
                        <a:rPr lang="en-US" dirty="0">
                          <a:effectLst/>
                        </a:rPr>
                        <a:t> / </a:t>
                      </a:r>
                      <a:r>
                        <a:rPr lang="ru-RU" dirty="0">
                          <a:effectLst/>
                        </a:rPr>
                        <a:t>Связь</a:t>
                      </a:r>
                      <a:endParaRPr lang="en-US" dirty="0">
                        <a:effectLst/>
                      </a:endParaRPr>
                    </a:p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(Link)</a:t>
                      </a:r>
                      <a:endParaRPr lang="uk-UA" dirty="0">
                        <a:effectLst/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Используется для связки процессов или частей. Если событие окончания одного процесса ссылается на другой процесс, оно является началом другого процесса.</a:t>
                      </a:r>
                      <a:endParaRPr lang="ru-RU" dirty="0">
                        <a:effectLst/>
                      </a:endParaRPr>
                    </a:p>
                  </a:txBody>
                  <a:tcPr marL="95250" marR="95250" marT="38100" marB="38100"/>
                </a:tc>
                <a:extLst>
                  <a:ext uri="{0D108BD9-81ED-4DB2-BD59-A6C34878D82A}">
                    <a16:rowId xmlns:a16="http://schemas.microsoft.com/office/drawing/2014/main" val="619182399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Условие</a:t>
                      </a:r>
                      <a:r>
                        <a:rPr lang="uk-UA" dirty="0"/>
                        <a:t/>
                      </a:r>
                      <a:br>
                        <a:rPr lang="uk-UA" dirty="0"/>
                      </a:b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Conditional)</a:t>
                      </a:r>
                      <a:endParaRPr lang="uk-UA" dirty="0">
                        <a:effectLst/>
                      </a:endParaRPr>
                    </a:p>
                  </a:txBody>
                  <a:tcPr marL="92449" marR="92449" marT="38100" marB="38100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Событие, обозначающее некое состояние объекта. Состояние относится к параметрам. </a:t>
                      </a:r>
                      <a:endParaRPr lang="ru-RU" dirty="0">
                        <a:effectLst/>
                      </a:endParaRPr>
                    </a:p>
                  </a:txBody>
                  <a:tcPr marL="92449" marR="92449" marT="38100" marB="38100"/>
                </a:tc>
                <a:extLst>
                  <a:ext uri="{0D108BD9-81ED-4DB2-BD59-A6C34878D82A}">
                    <a16:rowId xmlns:a16="http://schemas.microsoft.com/office/drawing/2014/main" val="1121138907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BEEEE49B-8470-48AF-8FD2-C79338E60B8E}"/>
              </a:ext>
            </a:extLst>
          </p:cNvPr>
          <p:cNvGrpSpPr/>
          <p:nvPr/>
        </p:nvGrpSpPr>
        <p:grpSpPr>
          <a:xfrm>
            <a:off x="1955805" y="3450770"/>
            <a:ext cx="720000" cy="720000"/>
            <a:chOff x="1706420" y="3367458"/>
            <a:chExt cx="720000" cy="720000"/>
          </a:xfrm>
        </p:grpSpPr>
        <p:sp>
          <p:nvSpPr>
            <p:cNvPr id="32" name="Овал 2">
              <a:extLst>
                <a:ext uri="{FF2B5EF4-FFF2-40B4-BE49-F238E27FC236}">
                  <a16:creationId xmlns:a16="http://schemas.microsoft.com/office/drawing/2014/main" id="{B5F99B28-32D8-4C87-A28A-770D936F0C60}"/>
                </a:ext>
              </a:extLst>
            </p:cNvPr>
            <p:cNvSpPr/>
            <p:nvPr/>
          </p:nvSpPr>
          <p:spPr>
            <a:xfrm>
              <a:off x="1706420" y="3367458"/>
              <a:ext cx="720000" cy="720000"/>
            </a:xfrm>
            <a:prstGeom prst="ellips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3" name="Овал 2">
              <a:extLst>
                <a:ext uri="{FF2B5EF4-FFF2-40B4-BE49-F238E27FC236}">
                  <a16:creationId xmlns:a16="http://schemas.microsoft.com/office/drawing/2014/main" id="{73C91C97-E03F-4AF2-82C7-6FD4FC646D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74547" y="3439458"/>
              <a:ext cx="576000" cy="576000"/>
            </a:xfrm>
            <a:prstGeom prst="ellips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6" name="Овал 2">
              <a:extLst>
                <a:ext uri="{FF2B5EF4-FFF2-40B4-BE49-F238E27FC236}">
                  <a16:creationId xmlns:a16="http://schemas.microsoft.com/office/drawing/2014/main" id="{90D5DCDA-CCB2-49A6-9168-170C6E6AE5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42427" y="3581449"/>
              <a:ext cx="440237" cy="292017"/>
            </a:xfrm>
            <a:prstGeom prst="rightArrow">
              <a:avLst>
                <a:gd name="adj1" fmla="val 50000"/>
                <a:gd name="adj2" fmla="val 33286"/>
              </a:avLst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13" name="Овал 2">
            <a:extLst>
              <a:ext uri="{FF2B5EF4-FFF2-40B4-BE49-F238E27FC236}">
                <a16:creationId xmlns:a16="http://schemas.microsoft.com/office/drawing/2014/main" id="{61B71703-B7B3-F34F-95EC-A5C1A329A3A7}"/>
              </a:ext>
            </a:extLst>
          </p:cNvPr>
          <p:cNvSpPr/>
          <p:nvPr/>
        </p:nvSpPr>
        <p:spPr>
          <a:xfrm>
            <a:off x="1955805" y="4512139"/>
            <a:ext cx="720000" cy="7200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Прямоугольник 6">
            <a:extLst>
              <a:ext uri="{FF2B5EF4-FFF2-40B4-BE49-F238E27FC236}">
                <a16:creationId xmlns:a16="http://schemas.microsoft.com/office/drawing/2014/main" id="{399015A3-CD5D-1548-BFF6-1A936C00F4C9}"/>
              </a:ext>
            </a:extLst>
          </p:cNvPr>
          <p:cNvSpPr/>
          <p:nvPr/>
        </p:nvSpPr>
        <p:spPr>
          <a:xfrm>
            <a:off x="2148775" y="4679418"/>
            <a:ext cx="330357" cy="385441"/>
          </a:xfrm>
          <a:prstGeom prst="rect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Прямоугольник 6">
            <a:extLst>
              <a:ext uri="{FF2B5EF4-FFF2-40B4-BE49-F238E27FC236}">
                <a16:creationId xmlns:a16="http://schemas.microsoft.com/office/drawing/2014/main" id="{A9DBD4F7-F384-A74E-B7C5-89E1CBE42CF7}"/>
              </a:ext>
            </a:extLst>
          </p:cNvPr>
          <p:cNvSpPr/>
          <p:nvPr/>
        </p:nvSpPr>
        <p:spPr>
          <a:xfrm>
            <a:off x="2148774" y="4706406"/>
            <a:ext cx="330357" cy="124461"/>
          </a:xfrm>
          <a:prstGeom prst="rect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Прямоугольник 6">
            <a:extLst>
              <a:ext uri="{FF2B5EF4-FFF2-40B4-BE49-F238E27FC236}">
                <a16:creationId xmlns:a16="http://schemas.microsoft.com/office/drawing/2014/main" id="{D80B673D-5361-9548-9E9D-5C20E6D1B36A}"/>
              </a:ext>
            </a:extLst>
          </p:cNvPr>
          <p:cNvSpPr/>
          <p:nvPr/>
        </p:nvSpPr>
        <p:spPr>
          <a:xfrm>
            <a:off x="2148774" y="4921907"/>
            <a:ext cx="330357" cy="124461"/>
          </a:xfrm>
          <a:prstGeom prst="rect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Овал 2">
            <a:extLst>
              <a:ext uri="{FF2B5EF4-FFF2-40B4-BE49-F238E27FC236}">
                <a16:creationId xmlns:a16="http://schemas.microsoft.com/office/drawing/2014/main" id="{8B76E909-90F0-B341-9C9E-7ACD5F808212}"/>
              </a:ext>
            </a:extLst>
          </p:cNvPr>
          <p:cNvSpPr/>
          <p:nvPr/>
        </p:nvSpPr>
        <p:spPr>
          <a:xfrm>
            <a:off x="1949663" y="2438294"/>
            <a:ext cx="720000" cy="7200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Прямоугольник 6">
            <a:extLst>
              <a:ext uri="{FF2B5EF4-FFF2-40B4-BE49-F238E27FC236}">
                <a16:creationId xmlns:a16="http://schemas.microsoft.com/office/drawing/2014/main" id="{7DB5791E-E0AF-6642-889D-8071E2EF84B4}"/>
              </a:ext>
            </a:extLst>
          </p:cNvPr>
          <p:cNvSpPr/>
          <p:nvPr/>
        </p:nvSpPr>
        <p:spPr>
          <a:xfrm>
            <a:off x="2091812" y="2597237"/>
            <a:ext cx="446451" cy="402113"/>
          </a:xfrm>
          <a:prstGeom prst="pentagon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26728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События: </a:t>
            </a:r>
            <a:r>
              <a:rPr lang="uk-UA" dirty="0" err="1"/>
              <a:t>времени</a:t>
            </a:r>
            <a:r>
              <a:rPr lang="uk-UA" dirty="0"/>
              <a:t> </a:t>
            </a:r>
            <a:r>
              <a:rPr lang="uk-UA" dirty="0" err="1"/>
              <a:t>наступления</a:t>
            </a:r>
            <a:r>
              <a:rPr lang="ru-RU" dirty="0"/>
              <a:t> </a:t>
            </a:r>
            <a:endParaRPr lang="en-US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655695"/>
              </p:ext>
            </p:extLst>
          </p:nvPr>
        </p:nvGraphicFramePr>
        <p:xfrm>
          <a:off x="1233055" y="1992565"/>
          <a:ext cx="9922308" cy="1394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07436">
                  <a:extLst>
                    <a:ext uri="{9D8B030D-6E8A-4147-A177-3AD203B41FA5}">
                      <a16:colId xmlns:a16="http://schemas.microsoft.com/office/drawing/2014/main" val="3489851993"/>
                    </a:ext>
                  </a:extLst>
                </a:gridCol>
                <a:gridCol w="3307436">
                  <a:extLst>
                    <a:ext uri="{9D8B030D-6E8A-4147-A177-3AD203B41FA5}">
                      <a16:colId xmlns:a16="http://schemas.microsoft.com/office/drawing/2014/main" val="2799732635"/>
                    </a:ext>
                  </a:extLst>
                </a:gridCol>
                <a:gridCol w="3307436">
                  <a:extLst>
                    <a:ext uri="{9D8B030D-6E8A-4147-A177-3AD203B41FA5}">
                      <a16:colId xmlns:a16="http://schemas.microsoft.com/office/drawing/2014/main" val="1759908030"/>
                    </a:ext>
                  </a:extLst>
                </a:gridCol>
              </a:tblGrid>
              <a:tr h="433643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Стартовые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Промежуточные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Конечные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375160"/>
                  </a:ext>
                </a:extLst>
              </a:tr>
              <a:tr h="96053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708753"/>
                  </a:ext>
                </a:extLst>
              </a:tr>
            </a:tbl>
          </a:graphicData>
        </a:graphic>
      </p:graphicFrame>
      <p:sp>
        <p:nvSpPr>
          <p:cNvPr id="6" name="Овал 2">
            <a:extLst>
              <a:ext uri="{FF2B5EF4-FFF2-40B4-BE49-F238E27FC236}">
                <a16:creationId xmlns:a16="http://schemas.microsoft.com/office/drawing/2014/main" id="{B5F99B28-32D8-4C87-A28A-770D936F0C60}"/>
              </a:ext>
            </a:extLst>
          </p:cNvPr>
          <p:cNvSpPr/>
          <p:nvPr/>
        </p:nvSpPr>
        <p:spPr>
          <a:xfrm>
            <a:off x="2401364" y="2561114"/>
            <a:ext cx="720000" cy="7200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5340DF6-C3CC-4A98-B285-91FCC1151C00}"/>
              </a:ext>
            </a:extLst>
          </p:cNvPr>
          <p:cNvSpPr/>
          <p:nvPr/>
        </p:nvSpPr>
        <p:spPr>
          <a:xfrm>
            <a:off x="2543513" y="2802153"/>
            <a:ext cx="446451" cy="250621"/>
          </a:xfrm>
          <a:prstGeom prst="rect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Равнобедренный треугольник 7">
            <a:extLst>
              <a:ext uri="{FF2B5EF4-FFF2-40B4-BE49-F238E27FC236}">
                <a16:creationId xmlns:a16="http://schemas.microsoft.com/office/drawing/2014/main" id="{2B69AF6B-E2EF-4888-AB45-7EA62BACB2BF}"/>
              </a:ext>
            </a:extLst>
          </p:cNvPr>
          <p:cNvSpPr/>
          <p:nvPr/>
        </p:nvSpPr>
        <p:spPr>
          <a:xfrm rot="10800000">
            <a:off x="2543513" y="2803061"/>
            <a:ext cx="446450" cy="166344"/>
          </a:xfrm>
          <a:prstGeom prst="triangl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Овал 2">
            <a:extLst>
              <a:ext uri="{FF2B5EF4-FFF2-40B4-BE49-F238E27FC236}">
                <a16:creationId xmlns:a16="http://schemas.microsoft.com/office/drawing/2014/main" id="{B5F99B28-32D8-4C87-A28A-770D936F0C60}"/>
              </a:ext>
            </a:extLst>
          </p:cNvPr>
          <p:cNvSpPr/>
          <p:nvPr/>
        </p:nvSpPr>
        <p:spPr>
          <a:xfrm>
            <a:off x="5767227" y="2561114"/>
            <a:ext cx="720000" cy="720000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5340DF6-C3CC-4A98-B285-91FCC1151C00}"/>
              </a:ext>
            </a:extLst>
          </p:cNvPr>
          <p:cNvSpPr/>
          <p:nvPr/>
        </p:nvSpPr>
        <p:spPr>
          <a:xfrm>
            <a:off x="5909376" y="2802153"/>
            <a:ext cx="446451" cy="250621"/>
          </a:xfrm>
          <a:prstGeom prst="rect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2B69AF6B-E2EF-4888-AB45-7EA62BACB2BF}"/>
              </a:ext>
            </a:extLst>
          </p:cNvPr>
          <p:cNvSpPr/>
          <p:nvPr/>
        </p:nvSpPr>
        <p:spPr>
          <a:xfrm rot="10800000">
            <a:off x="5909376" y="2803061"/>
            <a:ext cx="446450" cy="166344"/>
          </a:xfrm>
          <a:prstGeom prst="triangl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Овал 2">
            <a:extLst>
              <a:ext uri="{FF2B5EF4-FFF2-40B4-BE49-F238E27FC236}">
                <a16:creationId xmlns:a16="http://schemas.microsoft.com/office/drawing/2014/main" id="{B5F99B28-32D8-4C87-A28A-770D936F0C60}"/>
              </a:ext>
            </a:extLst>
          </p:cNvPr>
          <p:cNvSpPr/>
          <p:nvPr/>
        </p:nvSpPr>
        <p:spPr>
          <a:xfrm>
            <a:off x="9133090" y="2559107"/>
            <a:ext cx="720000" cy="720000"/>
          </a:xfrm>
          <a:prstGeom prst="ellipse">
            <a:avLst/>
          </a:prstGeom>
          <a:noFill/>
          <a:ln w="57150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5340DF6-C3CC-4A98-B285-91FCC1151C00}"/>
              </a:ext>
            </a:extLst>
          </p:cNvPr>
          <p:cNvSpPr/>
          <p:nvPr/>
        </p:nvSpPr>
        <p:spPr>
          <a:xfrm>
            <a:off x="9275239" y="2800146"/>
            <a:ext cx="446451" cy="250621"/>
          </a:xfrm>
          <a:prstGeom prst="rect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Равнобедренный треугольник 16">
            <a:extLst>
              <a:ext uri="{FF2B5EF4-FFF2-40B4-BE49-F238E27FC236}">
                <a16:creationId xmlns:a16="http://schemas.microsoft.com/office/drawing/2014/main" id="{2B69AF6B-E2EF-4888-AB45-7EA62BACB2BF}"/>
              </a:ext>
            </a:extLst>
          </p:cNvPr>
          <p:cNvSpPr/>
          <p:nvPr/>
        </p:nvSpPr>
        <p:spPr>
          <a:xfrm rot="10800000">
            <a:off x="9275239" y="2801054"/>
            <a:ext cx="446450" cy="166344"/>
          </a:xfrm>
          <a:prstGeom prst="triangl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8" name="Овал 2">
            <a:extLst>
              <a:ext uri="{FF2B5EF4-FFF2-40B4-BE49-F238E27FC236}">
                <a16:creationId xmlns:a16="http://schemas.microsoft.com/office/drawing/2014/main" id="{B5F99B28-32D8-4C87-A28A-770D936F0C60}"/>
              </a:ext>
            </a:extLst>
          </p:cNvPr>
          <p:cNvSpPr/>
          <p:nvPr/>
        </p:nvSpPr>
        <p:spPr>
          <a:xfrm>
            <a:off x="5817949" y="2602423"/>
            <a:ext cx="616428" cy="633368"/>
          </a:xfrm>
          <a:prstGeom prst="ellips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16109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735E1A1B-EB2D-DD49-8840-1E9890FCB3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" r="1000" b="321"/>
          <a:stretch/>
        </p:blipFill>
        <p:spPr>
          <a:xfrm>
            <a:off x="2563091" y="521209"/>
            <a:ext cx="7051964" cy="581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643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800" y="354501"/>
            <a:ext cx="10058400" cy="1450757"/>
          </a:xfrm>
        </p:spPr>
        <p:txBody>
          <a:bodyPr>
            <a:normAutofit/>
          </a:bodyPr>
          <a:lstStyle/>
          <a:p>
            <a:r>
              <a:rPr lang="ru-RU" dirty="0"/>
              <a:t>Шлюзы</a:t>
            </a:r>
            <a:endParaRPr lang="uk-UA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1915384"/>
              </p:ext>
            </p:extLst>
          </p:nvPr>
        </p:nvGraphicFramePr>
        <p:xfrm>
          <a:off x="914400" y="1889763"/>
          <a:ext cx="10363200" cy="43489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9771">
                  <a:extLst>
                    <a:ext uri="{9D8B030D-6E8A-4147-A177-3AD203B41FA5}">
                      <a16:colId xmlns:a16="http://schemas.microsoft.com/office/drawing/2014/main" val="1799091092"/>
                    </a:ext>
                  </a:extLst>
                </a:gridCol>
                <a:gridCol w="3386826">
                  <a:extLst>
                    <a:ext uri="{9D8B030D-6E8A-4147-A177-3AD203B41FA5}">
                      <a16:colId xmlns:a16="http://schemas.microsoft.com/office/drawing/2014/main" val="188717913"/>
                    </a:ext>
                  </a:extLst>
                </a:gridCol>
                <a:gridCol w="5176603">
                  <a:extLst>
                    <a:ext uri="{9D8B030D-6E8A-4147-A177-3AD203B41FA5}">
                      <a16:colId xmlns:a16="http://schemas.microsoft.com/office/drawing/2014/main" val="1064345968"/>
                    </a:ext>
                  </a:extLst>
                </a:gridCol>
              </a:tblGrid>
              <a:tr h="368064">
                <a:tc>
                  <a:txBody>
                    <a:bodyPr/>
                    <a:lstStyle/>
                    <a:p>
                      <a:r>
                        <a:rPr lang="uk-UA" b="1" dirty="0"/>
                        <a:t>Маркер</a:t>
                      </a:r>
                    </a:p>
                  </a:txBody>
                  <a:tcPr marL="180000"/>
                </a:tc>
                <a:tc>
                  <a:txBody>
                    <a:bodyPr/>
                    <a:lstStyle/>
                    <a:p>
                      <a:r>
                        <a:rPr lang="uk-UA" b="1" dirty="0">
                          <a:effectLst/>
                        </a:rPr>
                        <a:t>Тип тригера</a:t>
                      </a:r>
                    </a:p>
                  </a:txBody>
                  <a:tcPr marL="180000" marR="95250" marT="38100" marB="38100"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</a:rPr>
                        <a:t>Описание</a:t>
                      </a:r>
                    </a:p>
                  </a:txBody>
                  <a:tcPr marL="180000" marR="95250" marT="38100" marB="38100"/>
                </a:tc>
                <a:extLst>
                  <a:ext uri="{0D108BD9-81ED-4DB2-BD59-A6C34878D82A}">
                    <a16:rowId xmlns:a16="http://schemas.microsoft.com/office/drawing/2014/main" val="1185066205"/>
                  </a:ext>
                </a:extLst>
              </a:tr>
              <a:tr h="734755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Эксклюзивный </a:t>
                      </a:r>
                    </a:p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Exclusive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XOR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uk-UA" dirty="0">
                        <a:effectLst/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Предназначен для разделения потока операций на несколько альтернативных маршрутов.</a:t>
                      </a:r>
                      <a:endParaRPr lang="ru-RU" dirty="0">
                        <a:effectLst/>
                      </a:endParaRPr>
                    </a:p>
                  </a:txBody>
                  <a:tcPr marL="95250" marR="95250" marT="38100" marB="38100"/>
                </a:tc>
                <a:extLst>
                  <a:ext uri="{0D108BD9-81ED-4DB2-BD59-A6C34878D82A}">
                    <a16:rowId xmlns:a16="http://schemas.microsoft.com/office/drawing/2014/main" val="2377420067"/>
                  </a:ext>
                </a:extLst>
              </a:tr>
              <a:tr h="877195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Параллельный </a:t>
                      </a:r>
                    </a:p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Parallel, AND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uk-UA" dirty="0">
                        <a:effectLst/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Предназначен для слияния/ветвления одновременно (параллельно) выполняемых потоков операций.</a:t>
                      </a:r>
                      <a:endParaRPr lang="ru-RU" dirty="0">
                        <a:effectLst/>
                      </a:endParaRPr>
                    </a:p>
                  </a:txBody>
                  <a:tcPr marL="95250" marR="95250" marT="38100" marB="38100"/>
                </a:tc>
                <a:extLst>
                  <a:ext uri="{0D108BD9-81ED-4DB2-BD59-A6C34878D82A}">
                    <a16:rowId xmlns:a16="http://schemas.microsoft.com/office/drawing/2014/main" val="619182399"/>
                  </a:ext>
                </a:extLst>
              </a:tr>
              <a:tr h="1137590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</a:t>
                      </a: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еэксклюзивный </a:t>
                      </a: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Inclusive, OR</a:t>
                      </a:r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uk-UA" dirty="0">
                        <a:effectLst/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Предназначен для разделения потока операций на несколько маршрутов, каждый из которых активируется при условии истинности связанного с ним логического выражения. </a:t>
                      </a:r>
                      <a:endParaRPr lang="ru-RU" dirty="0">
                        <a:effectLst/>
                      </a:endParaRPr>
                    </a:p>
                  </a:txBody>
                  <a:tcPr marL="95250" marR="95250" marT="38100" marB="38100"/>
                </a:tc>
                <a:extLst>
                  <a:ext uri="{0D108BD9-81ED-4DB2-BD59-A6C34878D82A}">
                    <a16:rowId xmlns:a16="http://schemas.microsoft.com/office/drawing/2014/main" val="1281030564"/>
                  </a:ext>
                </a:extLst>
              </a:tr>
              <a:tr h="871660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Комплексный 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Complex)</a:t>
                      </a:r>
                      <a:endParaRPr lang="uk-UA" dirty="0">
                        <a:effectLst/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Аналогичен неэксклюзивному шлюзу.</a:t>
                      </a:r>
                    </a:p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Отличие заключается в том, что с ним связано одно выражение, которое определяет, какие из потоков операций будут активированы.</a:t>
                      </a:r>
                      <a:endParaRPr lang="ru-RU" dirty="0">
                        <a:effectLst/>
                      </a:endParaRPr>
                    </a:p>
                  </a:txBody>
                  <a:tcPr marL="95250" marR="95250" marT="38100" marB="38100"/>
                </a:tc>
                <a:extLst>
                  <a:ext uri="{0D108BD9-81ED-4DB2-BD59-A6C34878D82A}">
                    <a16:rowId xmlns:a16="http://schemas.microsoft.com/office/drawing/2014/main" val="1782041922"/>
                  </a:ext>
                </a:extLst>
              </a:tr>
            </a:tbl>
          </a:graphicData>
        </a:graphic>
      </p:graphicFrame>
      <p:sp>
        <p:nvSpPr>
          <p:cNvPr id="16" name="Овал 2">
            <a:extLst>
              <a:ext uri="{FF2B5EF4-FFF2-40B4-BE49-F238E27FC236}">
                <a16:creationId xmlns:a16="http://schemas.microsoft.com/office/drawing/2014/main" id="{8BB4B849-564B-464B-A218-0FCC10AB4549}"/>
              </a:ext>
            </a:extLst>
          </p:cNvPr>
          <p:cNvSpPr>
            <a:spLocks noChangeAspect="1"/>
          </p:cNvSpPr>
          <p:nvPr/>
        </p:nvSpPr>
        <p:spPr>
          <a:xfrm rot="2768846">
            <a:off x="2120319" y="2497319"/>
            <a:ext cx="302143" cy="302143"/>
          </a:xfrm>
          <a:prstGeom prst="plus">
            <a:avLst>
              <a:gd name="adj" fmla="val 45159"/>
            </a:avLst>
          </a:prstGeom>
          <a:solidFill>
            <a:srgbClr val="0F79C1"/>
          </a:solidFill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252BB0B-6D79-447A-B0FE-9E57B0FF5F37}"/>
              </a:ext>
            </a:extLst>
          </p:cNvPr>
          <p:cNvGrpSpPr>
            <a:grpSpLocks noChangeAspect="1"/>
          </p:cNvGrpSpPr>
          <p:nvPr/>
        </p:nvGrpSpPr>
        <p:grpSpPr>
          <a:xfrm>
            <a:off x="1459492" y="3082921"/>
            <a:ext cx="720000" cy="720000"/>
            <a:chOff x="1474192" y="3886069"/>
            <a:chExt cx="720000" cy="720000"/>
          </a:xfrm>
        </p:grpSpPr>
        <p:sp>
          <p:nvSpPr>
            <p:cNvPr id="18" name="Овал 2">
              <a:extLst>
                <a:ext uri="{FF2B5EF4-FFF2-40B4-BE49-F238E27FC236}">
                  <a16:creationId xmlns:a16="http://schemas.microsoft.com/office/drawing/2014/main" id="{3B3FC444-E488-4808-B651-D7C2FD16E4D0}"/>
                </a:ext>
              </a:extLst>
            </p:cNvPr>
            <p:cNvSpPr/>
            <p:nvPr/>
          </p:nvSpPr>
          <p:spPr>
            <a:xfrm>
              <a:off x="1474192" y="3886069"/>
              <a:ext cx="720000" cy="720000"/>
            </a:xfrm>
            <a:prstGeom prst="diamond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9" name="Овал 2">
              <a:extLst>
                <a:ext uri="{FF2B5EF4-FFF2-40B4-BE49-F238E27FC236}">
                  <a16:creationId xmlns:a16="http://schemas.microsoft.com/office/drawing/2014/main" id="{DFE85AEA-A229-4A6C-BC4D-ACC068C32E5C}"/>
                </a:ext>
              </a:extLst>
            </p:cNvPr>
            <p:cNvSpPr/>
            <p:nvPr/>
          </p:nvSpPr>
          <p:spPr>
            <a:xfrm>
              <a:off x="1616341" y="4030069"/>
              <a:ext cx="432000" cy="432000"/>
            </a:xfrm>
            <a:prstGeom prst="plus">
              <a:avLst>
                <a:gd name="adj" fmla="val 43898"/>
              </a:avLst>
            </a:prstGeom>
            <a:solidFill>
              <a:srgbClr val="0F79C1"/>
            </a:solidFill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3A5C5A5-39B0-4228-8B84-11414D34E047}"/>
              </a:ext>
            </a:extLst>
          </p:cNvPr>
          <p:cNvGrpSpPr/>
          <p:nvPr/>
        </p:nvGrpSpPr>
        <p:grpSpPr>
          <a:xfrm>
            <a:off x="1461343" y="4134289"/>
            <a:ext cx="720000" cy="720000"/>
            <a:chOff x="1474192" y="3000636"/>
            <a:chExt cx="720000" cy="720000"/>
          </a:xfrm>
        </p:grpSpPr>
        <p:sp>
          <p:nvSpPr>
            <p:cNvPr id="17" name="Овал 2">
              <a:extLst>
                <a:ext uri="{FF2B5EF4-FFF2-40B4-BE49-F238E27FC236}">
                  <a16:creationId xmlns:a16="http://schemas.microsoft.com/office/drawing/2014/main" id="{6272EF42-E86E-4949-A3E0-403EDB410C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74192" y="3000636"/>
              <a:ext cx="720000" cy="720000"/>
            </a:xfrm>
            <a:prstGeom prst="diamond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0" name="Прямоугольник 6">
              <a:extLst>
                <a:ext uri="{FF2B5EF4-FFF2-40B4-BE49-F238E27FC236}">
                  <a16:creationId xmlns:a16="http://schemas.microsoft.com/office/drawing/2014/main" id="{039E3F7A-424B-40F0-AD75-6AC4AD87CB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52341" y="3176551"/>
              <a:ext cx="360000" cy="360000"/>
            </a:xfrm>
            <a:prstGeom prst="ellips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</p:grpSp>
      <p:sp>
        <p:nvSpPr>
          <p:cNvPr id="22" name="Овал 2">
            <a:extLst>
              <a:ext uri="{FF2B5EF4-FFF2-40B4-BE49-F238E27FC236}">
                <a16:creationId xmlns:a16="http://schemas.microsoft.com/office/drawing/2014/main" id="{F5C49B8C-4AF3-4531-A9A7-F1F91B03D313}"/>
              </a:ext>
            </a:extLst>
          </p:cNvPr>
          <p:cNvSpPr>
            <a:spLocks noChangeAspect="1"/>
          </p:cNvSpPr>
          <p:nvPr/>
        </p:nvSpPr>
        <p:spPr>
          <a:xfrm>
            <a:off x="1039771" y="2278416"/>
            <a:ext cx="720000" cy="720000"/>
          </a:xfrm>
          <a:prstGeom prst="diamond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3" name="Овал 2">
            <a:extLst>
              <a:ext uri="{FF2B5EF4-FFF2-40B4-BE49-F238E27FC236}">
                <a16:creationId xmlns:a16="http://schemas.microsoft.com/office/drawing/2014/main" id="{4DFCA59B-9591-4D5D-97A7-C8EED6641F77}"/>
              </a:ext>
            </a:extLst>
          </p:cNvPr>
          <p:cNvSpPr>
            <a:spLocks noChangeAspect="1"/>
          </p:cNvSpPr>
          <p:nvPr/>
        </p:nvSpPr>
        <p:spPr>
          <a:xfrm>
            <a:off x="1912136" y="2288391"/>
            <a:ext cx="720000" cy="720000"/>
          </a:xfrm>
          <a:prstGeom prst="diamond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5142A5-E8B7-44A1-88C5-78EA8B0D4219}"/>
              </a:ext>
            </a:extLst>
          </p:cNvPr>
          <p:cNvGrpSpPr/>
          <p:nvPr/>
        </p:nvGrpSpPr>
        <p:grpSpPr>
          <a:xfrm>
            <a:off x="1461588" y="5311781"/>
            <a:ext cx="720000" cy="720000"/>
            <a:chOff x="1474192" y="4260236"/>
            <a:chExt cx="720000" cy="720000"/>
          </a:xfrm>
        </p:grpSpPr>
        <p:sp>
          <p:nvSpPr>
            <p:cNvPr id="30" name="Овал 2">
              <a:extLst>
                <a:ext uri="{FF2B5EF4-FFF2-40B4-BE49-F238E27FC236}">
                  <a16:creationId xmlns:a16="http://schemas.microsoft.com/office/drawing/2014/main" id="{300B562E-9791-4102-B09A-B18BEE9C37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74192" y="4260236"/>
              <a:ext cx="720000" cy="720000"/>
            </a:xfrm>
            <a:prstGeom prst="diamond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5" name="Овал 2">
              <a:extLst>
                <a:ext uri="{FF2B5EF4-FFF2-40B4-BE49-F238E27FC236}">
                  <a16:creationId xmlns:a16="http://schemas.microsoft.com/office/drawing/2014/main" id="{8811D793-6D1C-4178-91C3-B42DDBA1E6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61461" y="4440236"/>
              <a:ext cx="360000" cy="360000"/>
            </a:xfrm>
            <a:prstGeom prst="plus">
              <a:avLst>
                <a:gd name="adj" fmla="val 43898"/>
              </a:avLst>
            </a:prstGeom>
            <a:solidFill>
              <a:srgbClr val="0F79C1"/>
            </a:solidFill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37" name="Овал 2">
              <a:extLst>
                <a:ext uri="{FF2B5EF4-FFF2-40B4-BE49-F238E27FC236}">
                  <a16:creationId xmlns:a16="http://schemas.microsoft.com/office/drawing/2014/main" id="{3273EE4C-393D-4305-99BF-3C7642EA7767}"/>
                </a:ext>
              </a:extLst>
            </p:cNvPr>
            <p:cNvSpPr>
              <a:spLocks noChangeAspect="1"/>
            </p:cNvSpPr>
            <p:nvPr/>
          </p:nvSpPr>
          <p:spPr>
            <a:xfrm rot="2752115">
              <a:off x="1661461" y="4440236"/>
              <a:ext cx="360000" cy="360000"/>
            </a:xfrm>
            <a:prstGeom prst="plus">
              <a:avLst>
                <a:gd name="adj" fmla="val 43898"/>
              </a:avLst>
            </a:prstGeom>
            <a:solidFill>
              <a:srgbClr val="0F79C1"/>
            </a:solidFill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</p:spTree>
    <p:extLst>
      <p:ext uri="{BB962C8B-B14F-4D97-AF65-F5344CB8AC3E}">
        <p14:creationId xmlns:p14="http://schemas.microsoft.com/office/powerpoint/2010/main" val="3804209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Шлюзы</a:t>
            </a:r>
            <a:endParaRPr lang="uk-UA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8951167"/>
              </p:ext>
            </p:extLst>
          </p:nvPr>
        </p:nvGraphicFramePr>
        <p:xfrm>
          <a:off x="913775" y="1804671"/>
          <a:ext cx="10363200" cy="42551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4325">
                  <a:extLst>
                    <a:ext uri="{9D8B030D-6E8A-4147-A177-3AD203B41FA5}">
                      <a16:colId xmlns:a16="http://schemas.microsoft.com/office/drawing/2014/main" val="1799091092"/>
                    </a:ext>
                  </a:extLst>
                </a:gridCol>
                <a:gridCol w="3522272">
                  <a:extLst>
                    <a:ext uri="{9D8B030D-6E8A-4147-A177-3AD203B41FA5}">
                      <a16:colId xmlns:a16="http://schemas.microsoft.com/office/drawing/2014/main" val="188717913"/>
                    </a:ext>
                  </a:extLst>
                </a:gridCol>
                <a:gridCol w="5176603">
                  <a:extLst>
                    <a:ext uri="{9D8B030D-6E8A-4147-A177-3AD203B41FA5}">
                      <a16:colId xmlns:a16="http://schemas.microsoft.com/office/drawing/2014/main" val="1064345968"/>
                    </a:ext>
                  </a:extLst>
                </a:gridCol>
              </a:tblGrid>
              <a:tr h="460374">
                <a:tc>
                  <a:txBody>
                    <a:bodyPr/>
                    <a:lstStyle/>
                    <a:p>
                      <a:r>
                        <a:rPr lang="uk-UA" b="1" dirty="0"/>
                        <a:t>Маркер</a:t>
                      </a:r>
                    </a:p>
                  </a:txBody>
                  <a:tcPr marL="180000"/>
                </a:tc>
                <a:tc>
                  <a:txBody>
                    <a:bodyPr/>
                    <a:lstStyle/>
                    <a:p>
                      <a:r>
                        <a:rPr lang="uk-UA" b="1" dirty="0">
                          <a:effectLst/>
                        </a:rPr>
                        <a:t>Тип тригера</a:t>
                      </a:r>
                    </a:p>
                  </a:txBody>
                  <a:tcPr marL="180000" marR="95250" marT="38100" marB="38100"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</a:rPr>
                        <a:t>Описание</a:t>
                      </a:r>
                    </a:p>
                  </a:txBody>
                  <a:tcPr marL="180000" marR="95250" marT="38100" marB="38100"/>
                </a:tc>
                <a:extLst>
                  <a:ext uri="{0D108BD9-81ED-4DB2-BD59-A6C34878D82A}">
                    <a16:rowId xmlns:a16="http://schemas.microsoft.com/office/drawing/2014/main" val="1185066205"/>
                  </a:ext>
                </a:extLst>
              </a:tr>
              <a:tr h="930909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Эксклюзивный, основанный на событиях (Exclusive Event-Based)</a:t>
                      </a:r>
                      <a:endParaRPr lang="uk-UA" dirty="0">
                        <a:effectLst/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Предназначен для разделения потока операций на несколько альтернативных маршрутов. Процесс, выбирается в зависимости от произошедших событий, которые указываются по соответствующему маршруту.</a:t>
                      </a:r>
                      <a:endParaRPr lang="ru-RU" dirty="0">
                        <a:effectLst/>
                      </a:endParaRPr>
                    </a:p>
                  </a:txBody>
                  <a:tcPr marL="95250" marR="95250" marT="38100" marB="38100"/>
                </a:tc>
                <a:extLst>
                  <a:ext uri="{0D108BD9-81ED-4DB2-BD59-A6C34878D82A}">
                    <a16:rowId xmlns:a16="http://schemas.microsoft.com/office/drawing/2014/main" val="2377420067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Эксклюзивный, основанный на событиях, запускающий процесс </a:t>
                      </a:r>
                    </a:p>
                    <a:p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Exclusive Event-Based Gateway to start a Process)</a:t>
                      </a:r>
                      <a:endParaRPr lang="uk-UA" dirty="0">
                        <a:effectLst/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Аналогичен предыдущему, но используется в качестве начального символа процесса. Не имеет входящих потоков.</a:t>
                      </a:r>
                      <a:endParaRPr lang="ru-RU" dirty="0">
                        <a:effectLst/>
                      </a:endParaRPr>
                    </a:p>
                  </a:txBody>
                  <a:tcPr marL="95250" marR="95250" marT="38100" marB="38100"/>
                </a:tc>
                <a:extLst>
                  <a:ext uri="{0D108BD9-81ED-4DB2-BD59-A6C34878D82A}">
                    <a16:rowId xmlns:a16="http://schemas.microsoft.com/office/drawing/2014/main" val="619182399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Параллельный</a:t>
                      </a: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uk-UA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основанный</a:t>
                      </a: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на </a:t>
                      </a:r>
                      <a:r>
                        <a:rPr lang="uk-UA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событиях</a:t>
                      </a: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uk-UA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запускающий</a:t>
                      </a: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процесс</a:t>
                      </a: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Parallel Event-Based Gateway to start a Process). </a:t>
                      </a:r>
                      <a:endParaRPr lang="uk-UA" dirty="0">
                        <a:effectLst/>
                      </a:endParaRPr>
                    </a:p>
                  </a:txBody>
                  <a:tcPr marL="95250" marR="95250" marT="38100" marB="38100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Аналогичен предыдущему, но возможна активация сразу нескольких маршрутов в случае срабатывания событий, с которыми они связаны.</a:t>
                      </a:r>
                      <a:endParaRPr lang="ru-RU" dirty="0">
                        <a:effectLst/>
                      </a:endParaRPr>
                    </a:p>
                  </a:txBody>
                  <a:tcPr marL="95250" marR="95250" marT="38100" marB="38100"/>
                </a:tc>
                <a:extLst>
                  <a:ext uri="{0D108BD9-81ED-4DB2-BD59-A6C34878D82A}">
                    <a16:rowId xmlns:a16="http://schemas.microsoft.com/office/drawing/2014/main" val="1281030564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70B5E0B8-AAFF-4E34-AB4A-8DB94EB2FAD7}"/>
              </a:ext>
            </a:extLst>
          </p:cNvPr>
          <p:cNvGrpSpPr/>
          <p:nvPr/>
        </p:nvGrpSpPr>
        <p:grpSpPr>
          <a:xfrm>
            <a:off x="1304687" y="2550718"/>
            <a:ext cx="835356" cy="835356"/>
            <a:chOff x="1418987" y="3261918"/>
            <a:chExt cx="835356" cy="83535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CC58BC4-A00F-4C0A-AA87-8C9F968BD22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18987" y="3261918"/>
              <a:ext cx="835356" cy="835356"/>
              <a:chOff x="1474192" y="4827745"/>
              <a:chExt cx="720000" cy="720000"/>
            </a:xfrm>
          </p:grpSpPr>
          <p:sp>
            <p:nvSpPr>
              <p:cNvPr id="25" name="Овал 2">
                <a:extLst>
                  <a:ext uri="{FF2B5EF4-FFF2-40B4-BE49-F238E27FC236}">
                    <a16:creationId xmlns:a16="http://schemas.microsoft.com/office/drawing/2014/main" id="{41939594-EC42-4BAE-96E2-D9166F9BAABB}"/>
                  </a:ext>
                </a:extLst>
              </p:cNvPr>
              <p:cNvSpPr/>
              <p:nvPr/>
            </p:nvSpPr>
            <p:spPr>
              <a:xfrm>
                <a:off x="1474192" y="4827745"/>
                <a:ext cx="720000" cy="720000"/>
              </a:xfrm>
              <a:prstGeom prst="diamond">
                <a:avLst/>
              </a:prstGeom>
              <a:noFill/>
              <a:ln w="28575" cap="flat" cmpd="sng" algn="ctr">
                <a:solidFill>
                  <a:srgbClr val="0F79C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29" name="Прямоугольник 6">
                <a:extLst>
                  <a:ext uri="{FF2B5EF4-FFF2-40B4-BE49-F238E27FC236}">
                    <a16:creationId xmlns:a16="http://schemas.microsoft.com/office/drawing/2014/main" id="{FD9A33AD-3E08-448C-8C5A-1F60530E5B15}"/>
                  </a:ext>
                </a:extLst>
              </p:cNvPr>
              <p:cNvSpPr/>
              <p:nvPr/>
            </p:nvSpPr>
            <p:spPr>
              <a:xfrm>
                <a:off x="1732867" y="5080879"/>
                <a:ext cx="176107" cy="194271"/>
              </a:xfrm>
              <a:prstGeom prst="pentagon">
                <a:avLst/>
              </a:prstGeom>
              <a:noFill/>
              <a:ln w="28575" cap="flat" cmpd="sng" algn="ctr">
                <a:solidFill>
                  <a:srgbClr val="0F79C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uk-UA" dirty="0"/>
              </a:p>
            </p:txBody>
          </p:sp>
          <p:sp>
            <p:nvSpPr>
              <p:cNvPr id="31" name="Прямоугольник 6">
                <a:extLst>
                  <a:ext uri="{FF2B5EF4-FFF2-40B4-BE49-F238E27FC236}">
                    <a16:creationId xmlns:a16="http://schemas.microsoft.com/office/drawing/2014/main" id="{3E56C411-6C48-43B7-A84E-778B1EDAF5EA}"/>
                  </a:ext>
                </a:extLst>
              </p:cNvPr>
              <p:cNvSpPr/>
              <p:nvPr/>
            </p:nvSpPr>
            <p:spPr>
              <a:xfrm>
                <a:off x="1668939" y="5032601"/>
                <a:ext cx="310287" cy="310287"/>
              </a:xfrm>
              <a:prstGeom prst="ellipse">
                <a:avLst/>
              </a:prstGeom>
              <a:noFill/>
              <a:ln w="19050" cap="flat" cmpd="sng" algn="ctr">
                <a:solidFill>
                  <a:srgbClr val="0F79C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uk-UA" dirty="0"/>
              </a:p>
            </p:txBody>
          </p:sp>
        </p:grpSp>
        <p:sp>
          <p:nvSpPr>
            <p:cNvPr id="32" name="Прямоугольник 6">
              <a:extLst>
                <a:ext uri="{FF2B5EF4-FFF2-40B4-BE49-F238E27FC236}">
                  <a16:creationId xmlns:a16="http://schemas.microsoft.com/office/drawing/2014/main" id="{F3A87236-6E1F-471F-A504-95FF12A04D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90936" y="3447039"/>
              <a:ext cx="468000" cy="468000"/>
            </a:xfrm>
            <a:prstGeom prst="ellipse">
              <a:avLst/>
            </a:prstGeom>
            <a:noFill/>
            <a:ln w="19050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1EA965A-37AA-4081-ABB7-572140DEB5B0}"/>
              </a:ext>
            </a:extLst>
          </p:cNvPr>
          <p:cNvGrpSpPr/>
          <p:nvPr/>
        </p:nvGrpSpPr>
        <p:grpSpPr>
          <a:xfrm>
            <a:off x="1308858" y="3860799"/>
            <a:ext cx="835356" cy="835356"/>
            <a:chOff x="1418987" y="3261918"/>
            <a:chExt cx="835356" cy="835356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F5CF949-4931-49AA-B034-EE9825B94D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18987" y="3261918"/>
              <a:ext cx="835356" cy="835356"/>
              <a:chOff x="1474192" y="4827745"/>
              <a:chExt cx="720000" cy="720000"/>
            </a:xfrm>
          </p:grpSpPr>
          <p:sp>
            <p:nvSpPr>
              <p:cNvPr id="38" name="Овал 2">
                <a:extLst>
                  <a:ext uri="{FF2B5EF4-FFF2-40B4-BE49-F238E27FC236}">
                    <a16:creationId xmlns:a16="http://schemas.microsoft.com/office/drawing/2014/main" id="{CB7D31E8-55B0-4E9C-BB73-F576A6FF9D42}"/>
                  </a:ext>
                </a:extLst>
              </p:cNvPr>
              <p:cNvSpPr/>
              <p:nvPr/>
            </p:nvSpPr>
            <p:spPr>
              <a:xfrm>
                <a:off x="1474192" y="4827745"/>
                <a:ext cx="720000" cy="720000"/>
              </a:xfrm>
              <a:prstGeom prst="diamond">
                <a:avLst/>
              </a:prstGeom>
              <a:noFill/>
              <a:ln w="28575" cap="flat" cmpd="sng" algn="ctr">
                <a:solidFill>
                  <a:srgbClr val="0F79C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39" name="Прямоугольник 6">
                <a:extLst>
                  <a:ext uri="{FF2B5EF4-FFF2-40B4-BE49-F238E27FC236}">
                    <a16:creationId xmlns:a16="http://schemas.microsoft.com/office/drawing/2014/main" id="{F61171E7-844B-4706-AB16-8F015D836FD7}"/>
                  </a:ext>
                </a:extLst>
              </p:cNvPr>
              <p:cNvSpPr/>
              <p:nvPr/>
            </p:nvSpPr>
            <p:spPr>
              <a:xfrm>
                <a:off x="1732867" y="5090609"/>
                <a:ext cx="176107" cy="194271"/>
              </a:xfrm>
              <a:prstGeom prst="pentagon">
                <a:avLst/>
              </a:prstGeom>
              <a:noFill/>
              <a:ln w="28575" cap="flat" cmpd="sng" algn="ctr">
                <a:solidFill>
                  <a:srgbClr val="0F79C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uk-UA" dirty="0"/>
              </a:p>
            </p:txBody>
          </p:sp>
        </p:grpSp>
        <p:sp>
          <p:nvSpPr>
            <p:cNvPr id="36" name="Прямоугольник 6">
              <a:extLst>
                <a:ext uri="{FF2B5EF4-FFF2-40B4-BE49-F238E27FC236}">
                  <a16:creationId xmlns:a16="http://schemas.microsoft.com/office/drawing/2014/main" id="{5EF5A87D-A99E-4110-9A5B-38BDB60598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90936" y="3447039"/>
              <a:ext cx="468000" cy="468000"/>
            </a:xfrm>
            <a:prstGeom prst="ellipse">
              <a:avLst/>
            </a:prstGeom>
            <a:noFill/>
            <a:ln w="19050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57393ED-0B66-4CAD-93C5-54A1C69B7179}"/>
              </a:ext>
            </a:extLst>
          </p:cNvPr>
          <p:cNvGrpSpPr/>
          <p:nvPr/>
        </p:nvGrpSpPr>
        <p:grpSpPr>
          <a:xfrm>
            <a:off x="1304687" y="4922285"/>
            <a:ext cx="835356" cy="835356"/>
            <a:chOff x="1418987" y="3261918"/>
            <a:chExt cx="835356" cy="83535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B19C725-23D8-4801-A703-D6E45BE6E99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18987" y="3261918"/>
              <a:ext cx="835356" cy="835356"/>
              <a:chOff x="1474192" y="4827745"/>
              <a:chExt cx="720000" cy="720000"/>
            </a:xfrm>
          </p:grpSpPr>
          <p:sp>
            <p:nvSpPr>
              <p:cNvPr id="44" name="Овал 2">
                <a:extLst>
                  <a:ext uri="{FF2B5EF4-FFF2-40B4-BE49-F238E27FC236}">
                    <a16:creationId xmlns:a16="http://schemas.microsoft.com/office/drawing/2014/main" id="{9BA7CE12-3DD4-4F3D-9E21-2F85A1B5485E}"/>
                  </a:ext>
                </a:extLst>
              </p:cNvPr>
              <p:cNvSpPr/>
              <p:nvPr/>
            </p:nvSpPr>
            <p:spPr>
              <a:xfrm>
                <a:off x="1474192" y="4827745"/>
                <a:ext cx="720000" cy="720000"/>
              </a:xfrm>
              <a:prstGeom prst="diamond">
                <a:avLst/>
              </a:prstGeom>
              <a:noFill/>
              <a:ln w="28575" cap="flat" cmpd="sng" algn="ctr">
                <a:solidFill>
                  <a:srgbClr val="0F79C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  <p:sp>
            <p:nvSpPr>
              <p:cNvPr id="45" name="Прямоугольник 6">
                <a:extLst>
                  <a:ext uri="{FF2B5EF4-FFF2-40B4-BE49-F238E27FC236}">
                    <a16:creationId xmlns:a16="http://schemas.microsoft.com/office/drawing/2014/main" id="{780F0673-6E65-4EE8-8035-9555441B7F9F}"/>
                  </a:ext>
                </a:extLst>
              </p:cNvPr>
              <p:cNvSpPr/>
              <p:nvPr/>
            </p:nvSpPr>
            <p:spPr>
              <a:xfrm>
                <a:off x="1675507" y="5031226"/>
                <a:ext cx="310287" cy="310287"/>
              </a:xfrm>
              <a:prstGeom prst="mathPlus">
                <a:avLst>
                  <a:gd name="adj1" fmla="val 17472"/>
                </a:avLst>
              </a:prstGeom>
              <a:noFill/>
              <a:ln w="28575" cap="flat" cmpd="sng" algn="ctr">
                <a:solidFill>
                  <a:srgbClr val="0F79C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uk-UA" dirty="0"/>
              </a:p>
            </p:txBody>
          </p:sp>
        </p:grpSp>
        <p:sp>
          <p:nvSpPr>
            <p:cNvPr id="43" name="Прямоугольник 6">
              <a:extLst>
                <a:ext uri="{FF2B5EF4-FFF2-40B4-BE49-F238E27FC236}">
                  <a16:creationId xmlns:a16="http://schemas.microsoft.com/office/drawing/2014/main" id="{B5A6012D-3410-462C-A598-367787CF31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90936" y="3447039"/>
              <a:ext cx="468000" cy="468000"/>
            </a:xfrm>
            <a:prstGeom prst="ellipse">
              <a:avLst/>
            </a:prstGeom>
            <a:noFill/>
            <a:ln w="19050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</p:grpSp>
    </p:spTree>
    <p:extLst>
      <p:ext uri="{BB962C8B-B14F-4D97-AF65-F5344CB8AC3E}">
        <p14:creationId xmlns:p14="http://schemas.microsoft.com/office/powerpoint/2010/main" val="3489027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3. </a:t>
            </a:r>
            <a:r>
              <a:rPr lang="uk-UA" dirty="0"/>
              <a:t>Потоки- </a:t>
            </a:r>
            <a:r>
              <a:rPr lang="en-US" dirty="0"/>
              <a:t>Flows</a:t>
            </a:r>
            <a:endParaRPr lang="uk-UA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82162"/>
              </p:ext>
            </p:extLst>
          </p:nvPr>
        </p:nvGraphicFramePr>
        <p:xfrm>
          <a:off x="1096963" y="1846263"/>
          <a:ext cx="10058400" cy="40668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3335">
                  <a:extLst>
                    <a:ext uri="{9D8B030D-6E8A-4147-A177-3AD203B41FA5}">
                      <a16:colId xmlns:a16="http://schemas.microsoft.com/office/drawing/2014/main" val="1799091092"/>
                    </a:ext>
                  </a:extLst>
                </a:gridCol>
                <a:gridCol w="2720715">
                  <a:extLst>
                    <a:ext uri="{9D8B030D-6E8A-4147-A177-3AD203B41FA5}">
                      <a16:colId xmlns:a16="http://schemas.microsoft.com/office/drawing/2014/main" val="188717913"/>
                    </a:ext>
                  </a:extLst>
                </a:gridCol>
                <a:gridCol w="5024350">
                  <a:extLst>
                    <a:ext uri="{9D8B030D-6E8A-4147-A177-3AD203B41FA5}">
                      <a16:colId xmlns:a16="http://schemas.microsoft.com/office/drawing/2014/main" val="1064345968"/>
                    </a:ext>
                  </a:extLst>
                </a:gridCol>
              </a:tblGrid>
              <a:tr h="1016714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pPr lvl="0" fontAlgn="ctr"/>
                      <a:r>
                        <a:rPr lang="ru-RU" dirty="0">
                          <a:effectLst/>
                        </a:rPr>
                        <a:t>Поток операций,</a:t>
                      </a:r>
                      <a:br>
                        <a:rPr lang="ru-RU" dirty="0">
                          <a:effectLst/>
                        </a:rPr>
                      </a:br>
                      <a:r>
                        <a:rPr lang="ru-RU" dirty="0">
                          <a:effectLst/>
                        </a:rPr>
                        <a:t>поток управления</a:t>
                      </a:r>
                      <a:br>
                        <a:rPr lang="ru-RU" dirty="0">
                          <a:effectLst/>
                        </a:rPr>
                      </a:br>
                      <a:r>
                        <a:rPr lang="ru-RU" dirty="0">
                          <a:effectLst/>
                        </a:rPr>
                        <a:t>(</a:t>
                      </a:r>
                      <a:r>
                        <a:rPr lang="ru-RU" dirty="0" err="1">
                          <a:effectLst/>
                        </a:rPr>
                        <a:t>Sequence</a:t>
                      </a:r>
                      <a:r>
                        <a:rPr lang="ru-RU" dirty="0">
                          <a:effectLst/>
                        </a:rPr>
                        <a:t> </a:t>
                      </a:r>
                      <a:r>
                        <a:rPr lang="ru-RU" dirty="0" err="1">
                          <a:effectLst/>
                        </a:rPr>
                        <a:t>Flow</a:t>
                      </a:r>
                      <a:r>
                        <a:rPr lang="ru-RU" dirty="0">
                          <a:effectLst/>
                        </a:rPr>
                        <a:t>)</a:t>
                      </a:r>
                    </a:p>
                  </a:txBody>
                  <a:tcPr marL="182880" marR="4572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dirty="0">
                          <a:effectLst/>
                        </a:rPr>
                        <a:t>Задает последовательность (до-после) возникновения событий и выполнения действий.</a:t>
                      </a:r>
                    </a:p>
                  </a:txBody>
                  <a:tcPr marL="182880" marR="45720" anchor="ctr"/>
                </a:tc>
                <a:extLst>
                  <a:ext uri="{0D108BD9-81ED-4DB2-BD59-A6C34878D82A}">
                    <a16:rowId xmlns:a16="http://schemas.microsoft.com/office/drawing/2014/main" val="1185066205"/>
                  </a:ext>
                </a:extLst>
              </a:tr>
              <a:tr h="1016714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pPr lvl="0" fontAlgn="ctr"/>
                      <a:r>
                        <a:rPr lang="uk-UA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Поток</a:t>
                      </a:r>
                      <a:r>
                        <a:rPr lang="uk-UA" dirty="0">
                          <a:effectLst/>
                        </a:rPr>
                        <a:t> </a:t>
                      </a:r>
                      <a:r>
                        <a:rPr lang="uk-UA" dirty="0" err="1">
                          <a:effectLst/>
                        </a:rPr>
                        <a:t>сообщений</a:t>
                      </a:r>
                      <a:r>
                        <a:rPr lang="uk-UA" dirty="0">
                          <a:effectLst/>
                        </a:rPr>
                        <a:t/>
                      </a:r>
                      <a:br>
                        <a:rPr lang="uk-UA" dirty="0">
                          <a:effectLst/>
                        </a:rPr>
                      </a:br>
                      <a:r>
                        <a:rPr lang="uk-UA" dirty="0">
                          <a:effectLst/>
                        </a:rPr>
                        <a:t>(</a:t>
                      </a:r>
                      <a:r>
                        <a:rPr lang="en-US" dirty="0">
                          <a:effectLst/>
                        </a:rPr>
                        <a:t>Message Flow)</a:t>
                      </a:r>
                    </a:p>
                  </a:txBody>
                  <a:tcPr marL="182880" marR="4572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dirty="0">
                          <a:effectLst/>
                        </a:rPr>
                        <a:t>Отражает информационный обмен между участниками процесса. Обычно соединяет действия и/или пулы двух участников процесса.</a:t>
                      </a:r>
                    </a:p>
                  </a:txBody>
                  <a:tcPr marL="182880" marR="45720" anchor="ctr"/>
                </a:tc>
                <a:extLst>
                  <a:ext uri="{0D108BD9-81ED-4DB2-BD59-A6C34878D82A}">
                    <a16:rowId xmlns:a16="http://schemas.microsoft.com/office/drawing/2014/main" val="2377420067"/>
                  </a:ext>
                </a:extLst>
              </a:tr>
              <a:tr h="1016714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Поток операций по умолчанию (Default Sequence Flow). </a:t>
                      </a:r>
                      <a:endParaRPr lang="ru-RU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36979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Используется при ветвлении потоков. Поток по умолчанию активируется, если активация других потоков невозможна.</a:t>
                      </a:r>
                      <a:endParaRPr lang="ru-RU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74706" marT="38100" marB="38100" anchor="ctr"/>
                </a:tc>
                <a:extLst>
                  <a:ext uri="{0D108BD9-81ED-4DB2-BD59-A6C34878D82A}">
                    <a16:rowId xmlns:a16="http://schemas.microsoft.com/office/drawing/2014/main" val="619182399"/>
                  </a:ext>
                </a:extLst>
              </a:tr>
              <a:tr h="1016714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Условный поток операций (Conditional Sequence Flow). 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36979" marT="38100" marB="3810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Используется при ветвлении потоков. Условия активации потока задается рядом в виде логического выражения</a:t>
                      </a:r>
                      <a:endParaRPr lang="ru-RU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82880" marR="174706" marT="38100" marB="38100" anchor="ctr"/>
                </a:tc>
                <a:extLst>
                  <a:ext uri="{0D108BD9-81ED-4DB2-BD59-A6C34878D82A}">
                    <a16:rowId xmlns:a16="http://schemas.microsoft.com/office/drawing/2014/main" val="1281030564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634C6BE-1C24-4A0C-BCBD-E0594B4CD61F}"/>
              </a:ext>
            </a:extLst>
          </p:cNvPr>
          <p:cNvCxnSpPr/>
          <p:nvPr/>
        </p:nvCxnSpPr>
        <p:spPr>
          <a:xfrm>
            <a:off x="1603864" y="3429000"/>
            <a:ext cx="1371600" cy="0"/>
          </a:xfrm>
          <a:prstGeom prst="straightConnector1">
            <a:avLst/>
          </a:prstGeom>
          <a:noFill/>
          <a:ln w="28575" cap="flat" cmpd="sng" algn="ctr">
            <a:solidFill>
              <a:srgbClr val="0F79C1"/>
            </a:solidFill>
            <a:prstDash val="dash"/>
            <a:round/>
            <a:headEnd type="oval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9316A9A-B952-4C31-8D00-D432CA79D837}"/>
              </a:ext>
            </a:extLst>
          </p:cNvPr>
          <p:cNvCxnSpPr/>
          <p:nvPr/>
        </p:nvCxnSpPr>
        <p:spPr>
          <a:xfrm>
            <a:off x="1615439" y="2236807"/>
            <a:ext cx="1371600" cy="0"/>
          </a:xfrm>
          <a:prstGeom prst="straightConnector1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5E7F526A-A64F-4638-88D3-56910FCB47F8}"/>
              </a:ext>
            </a:extLst>
          </p:cNvPr>
          <p:cNvGrpSpPr/>
          <p:nvPr/>
        </p:nvGrpSpPr>
        <p:grpSpPr>
          <a:xfrm>
            <a:off x="1615439" y="5423443"/>
            <a:ext cx="1371601" cy="127315"/>
            <a:chOff x="1420984" y="4499661"/>
            <a:chExt cx="1371601" cy="127315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C01498F-016E-485C-8739-968778284FF5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1710351" y="4563319"/>
              <a:ext cx="1082234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</p:cxnSp>
        <p:sp>
          <p:nvSpPr>
            <p:cNvPr id="9" name="Diamond 8">
              <a:extLst>
                <a:ext uri="{FF2B5EF4-FFF2-40B4-BE49-F238E27FC236}">
                  <a16:creationId xmlns:a16="http://schemas.microsoft.com/office/drawing/2014/main" id="{0E06EAA1-3EE6-43EE-A253-D5D58F45A809}"/>
                </a:ext>
              </a:extLst>
            </p:cNvPr>
            <p:cNvSpPr/>
            <p:nvPr/>
          </p:nvSpPr>
          <p:spPr>
            <a:xfrm>
              <a:off x="1420984" y="4499661"/>
              <a:ext cx="289367" cy="127315"/>
            </a:xfrm>
            <a:prstGeom prst="diamond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ABA1FD3-FC63-4736-9BF5-7093DFA12757}"/>
              </a:ext>
            </a:extLst>
          </p:cNvPr>
          <p:cNvGrpSpPr/>
          <p:nvPr/>
        </p:nvGrpSpPr>
        <p:grpSpPr>
          <a:xfrm>
            <a:off x="1615439" y="4305938"/>
            <a:ext cx="1371600" cy="111851"/>
            <a:chOff x="1409410" y="5697636"/>
            <a:chExt cx="1371600" cy="111851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27A0EF3-07FE-4C2B-B69A-AEABAC2C6B4D}"/>
                </a:ext>
              </a:extLst>
            </p:cNvPr>
            <p:cNvCxnSpPr/>
            <p:nvPr/>
          </p:nvCxnSpPr>
          <p:spPr>
            <a:xfrm>
              <a:off x="1409410" y="5755512"/>
              <a:ext cx="1371600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9A35D9B-3D70-4F2A-B4B6-BAE818DC17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6560" y="5697636"/>
              <a:ext cx="156257" cy="111851"/>
            </a:xfrm>
            <a:prstGeom prst="line">
              <a:avLst/>
            </a:prstGeom>
            <a:noFill/>
            <a:ln w="28575" cap="flat" cmpd="sng" algn="ctr">
              <a:solidFill>
                <a:srgbClr val="0F79C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</p:cxnSp>
      </p:grpSp>
    </p:spTree>
    <p:extLst>
      <p:ext uri="{BB962C8B-B14F-4D97-AF65-F5344CB8AC3E}">
        <p14:creationId xmlns:p14="http://schemas.microsoft.com/office/powerpoint/2010/main" val="164116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Ветвление на альтернативные потоки по логическим выражениям 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С </a:t>
            </a:r>
            <a:r>
              <a:rPr lang="uk-UA" dirty="0" err="1"/>
              <a:t>использованием</a:t>
            </a:r>
            <a:r>
              <a:rPr lang="uk-UA" dirty="0"/>
              <a:t> </a:t>
            </a:r>
            <a:r>
              <a:rPr lang="uk-UA" dirty="0" err="1"/>
              <a:t>шлюза</a:t>
            </a:r>
            <a:endParaRPr lang="en-US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uk-UA" dirty="0"/>
              <a:t>с </a:t>
            </a:r>
            <a:r>
              <a:rPr lang="uk-UA" dirty="0" err="1"/>
              <a:t>использованием</a:t>
            </a:r>
            <a:r>
              <a:rPr lang="uk-UA" dirty="0"/>
              <a:t> </a:t>
            </a:r>
            <a:r>
              <a:rPr lang="uk-UA" dirty="0" err="1"/>
              <a:t>потоков</a:t>
            </a:r>
            <a:endParaRPr lang="en-US" dirty="0"/>
          </a:p>
        </p:txBody>
      </p:sp>
      <p:pic>
        <p:nvPicPr>
          <p:cNvPr id="2050" name="Picture 2" descr="https://sites.google.com/site/anisimovkhv/_/rsrc/1392280424658/learning/pris/lecture/tema8/tema8_4/bpmn_altGateway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204" y="2760860"/>
            <a:ext cx="4957836" cy="2918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sites.google.com/site/anisimovkhv/_/rsrc/1392280424659/learning/pris/lecture/tema8/tema8_4/bpmn_altPotok.png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984" y="2582334"/>
            <a:ext cx="4172156" cy="3097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914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Ветвление на альтернативные потоки в зависимости от произошедших событий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с </a:t>
            </a:r>
            <a:r>
              <a:rPr lang="uk-UA" dirty="0" err="1"/>
              <a:t>использованием</a:t>
            </a:r>
            <a:r>
              <a:rPr lang="uk-UA" dirty="0"/>
              <a:t> </a:t>
            </a:r>
            <a:r>
              <a:rPr lang="uk-UA" dirty="0" err="1"/>
              <a:t>шлюза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uk-UA" dirty="0"/>
              <a:t>с </a:t>
            </a:r>
            <a:r>
              <a:rPr lang="uk-UA" dirty="0" err="1"/>
              <a:t>использованием</a:t>
            </a:r>
            <a:r>
              <a:rPr lang="uk-UA" dirty="0"/>
              <a:t> </a:t>
            </a:r>
            <a:r>
              <a:rPr lang="uk-UA" dirty="0" err="1"/>
              <a:t>граничных</a:t>
            </a:r>
            <a:r>
              <a:rPr lang="uk-UA" dirty="0"/>
              <a:t> </a:t>
            </a:r>
            <a:r>
              <a:rPr lang="uk-UA" dirty="0" err="1"/>
              <a:t>событий</a:t>
            </a:r>
            <a:endParaRPr lang="en-US" dirty="0"/>
          </a:p>
        </p:txBody>
      </p:sp>
      <p:pic>
        <p:nvPicPr>
          <p:cNvPr id="3074" name="Picture 2" descr="https://sites.google.com/site/anisimovkhv/_/rsrc/1392280424658/learning/pris/lecture/tema8/tema8_4/bpmn_altEventGateway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39" y="2760860"/>
            <a:ext cx="5383901" cy="270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sites.google.com/site/anisimovkhv/_/rsrc/1392280424658/learning/pris/lecture/tema8/tema8_4/bpmn_altEventPotok.png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404" y="2760860"/>
            <a:ext cx="4162396" cy="270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4174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Недопустимое использование шлюзов</a:t>
            </a:r>
            <a:endParaRPr lang="en-US" dirty="0"/>
          </a:p>
        </p:txBody>
      </p:sp>
      <p:pic>
        <p:nvPicPr>
          <p:cNvPr id="6146" name="Picture 2" descr="https://sites.google.com/site/anisimovkhv/_/rsrc/1392287280111/learning/pris/lecture/tema8/tema8_4/bpmn_orandRu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320" y="2057399"/>
            <a:ext cx="3357245" cy="357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sites.google.com/site/anisimovkhv/_/rsrc/1392287287615/learning/pris/lecture/tema8/tema8_4/bpmn_xorandRul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3420" y="2057399"/>
            <a:ext cx="3357245" cy="357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6588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Допустимое использование шлюзов 1</a:t>
            </a:r>
            <a:endParaRPr lang="en-US" dirty="0"/>
          </a:p>
        </p:txBody>
      </p:sp>
      <p:pic>
        <p:nvPicPr>
          <p:cNvPr id="4108" name="Picture 12" descr="https://sites.google.com/site/anisimovkhv/_/rsrc/1392287259780/learning/pris/lecture/tema8/tema8_4/bpmn_or2Ru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974" y="2087878"/>
            <a:ext cx="3362325" cy="3576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https://sites.google.com/site/anisimovkhv/_/rsrc/1392287252822/learning/pris/lecture/tema8/tema8_4/bpmn_and2Rul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320" y="2093282"/>
            <a:ext cx="3357245" cy="357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5765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Допустимое использование шлюзов 2</a:t>
            </a:r>
            <a:endParaRPr lang="en-US" dirty="0"/>
          </a:p>
        </p:txBody>
      </p:sp>
      <p:pic>
        <p:nvPicPr>
          <p:cNvPr id="4110" name="Picture 14" descr="https://sites.google.com/site/anisimovkhv/_/rsrc/1392287266336/learning/pris/lecture/tema8/tema8_4/bpmn_xor2Ru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494" y="2023963"/>
            <a:ext cx="3357245" cy="357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 descr="https://sites.google.com/site/anisimovkhv/_/rsrc/1392287273251/learning/pris/lecture/tema8/tema8_4/bpmn_andorRul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879" y="2118354"/>
            <a:ext cx="3357245" cy="3571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979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4. Д</a:t>
            </a:r>
            <a:r>
              <a:rPr lang="uk-UA" dirty="0" err="1"/>
              <a:t>анные</a:t>
            </a:r>
            <a:r>
              <a:rPr lang="uk-UA" dirty="0"/>
              <a:t> - </a:t>
            </a:r>
            <a:r>
              <a:rPr lang="en-US" dirty="0"/>
              <a:t>Data</a:t>
            </a:r>
            <a:endParaRPr lang="uk-UA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6224106"/>
              </p:ext>
            </p:extLst>
          </p:nvPr>
        </p:nvGraphicFramePr>
        <p:xfrm>
          <a:off x="1096963" y="1846263"/>
          <a:ext cx="10058400" cy="227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3335">
                  <a:extLst>
                    <a:ext uri="{9D8B030D-6E8A-4147-A177-3AD203B41FA5}">
                      <a16:colId xmlns:a16="http://schemas.microsoft.com/office/drawing/2014/main" val="1799091092"/>
                    </a:ext>
                  </a:extLst>
                </a:gridCol>
                <a:gridCol w="2720715">
                  <a:extLst>
                    <a:ext uri="{9D8B030D-6E8A-4147-A177-3AD203B41FA5}">
                      <a16:colId xmlns:a16="http://schemas.microsoft.com/office/drawing/2014/main" val="188717913"/>
                    </a:ext>
                  </a:extLst>
                </a:gridCol>
                <a:gridCol w="5024350">
                  <a:extLst>
                    <a:ext uri="{9D8B030D-6E8A-4147-A177-3AD203B41FA5}">
                      <a16:colId xmlns:a16="http://schemas.microsoft.com/office/drawing/2014/main" val="1064345968"/>
                    </a:ext>
                  </a:extLst>
                </a:gridCol>
              </a:tblGrid>
              <a:tr h="1137275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r>
                        <a:rPr lang="uk-UA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Хранилища</a:t>
                      </a: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uk-UA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данных</a:t>
                      </a:r>
                      <a:r>
                        <a:rPr lang="uk-UA" dirty="0"/>
                        <a:t/>
                      </a:r>
                      <a:br>
                        <a:rPr lang="uk-UA" dirty="0"/>
                      </a:br>
                      <a:r>
                        <a:rPr lang="uk-U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Storage)</a:t>
                      </a:r>
                      <a:endParaRPr lang="uk-UA" dirty="0"/>
                    </a:p>
                  </a:txBody>
                  <a:tcPr marL="174706" marR="88751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База данных или ее фрагмент, содержащий информацию для выполнения действий.</a:t>
                      </a:r>
                      <a:endParaRPr lang="uk-UA" dirty="0"/>
                    </a:p>
                  </a:txBody>
                  <a:tcPr marL="174706" marR="88751"/>
                </a:tc>
                <a:extLst>
                  <a:ext uri="{0D108BD9-81ED-4DB2-BD59-A6C34878D82A}">
                    <a16:rowId xmlns:a16="http://schemas.microsoft.com/office/drawing/2014/main" val="1185066205"/>
                  </a:ext>
                </a:extLst>
              </a:tr>
              <a:tr h="1137275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uk-UA" dirty="0" err="1">
                          <a:effectLst/>
                        </a:rPr>
                        <a:t>Сообщение</a:t>
                      </a:r>
                      <a:r>
                        <a:rPr lang="uk-UA" dirty="0">
                          <a:effectLst/>
                        </a:rPr>
                        <a:t/>
                      </a:r>
                      <a:br>
                        <a:rPr lang="uk-UA" dirty="0">
                          <a:effectLst/>
                        </a:rPr>
                      </a:br>
                      <a:r>
                        <a:rPr lang="uk-UA" dirty="0">
                          <a:effectLst/>
                        </a:rPr>
                        <a:t>(</a:t>
                      </a:r>
                      <a:r>
                        <a:rPr lang="en-US" dirty="0">
                          <a:effectLst/>
                        </a:rPr>
                        <a:t>Message)</a:t>
                      </a:r>
                    </a:p>
                  </a:txBody>
                  <a:tcPr marL="174706" marR="29584" marT="30480" marB="30480" anchor="ctr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Отражает факт передачи информации между участниками процесса.</a:t>
                      </a:r>
                      <a:endParaRPr lang="uk-UA" dirty="0"/>
                    </a:p>
                  </a:txBody>
                  <a:tcPr marL="174706" marR="88751"/>
                </a:tc>
                <a:extLst>
                  <a:ext uri="{0D108BD9-81ED-4DB2-BD59-A6C34878D82A}">
                    <a16:rowId xmlns:a16="http://schemas.microsoft.com/office/drawing/2014/main" val="2377420067"/>
                  </a:ext>
                </a:extLst>
              </a:tr>
            </a:tbl>
          </a:graphicData>
        </a:graphic>
      </p:graphicFrame>
      <p:sp>
        <p:nvSpPr>
          <p:cNvPr id="6" name="Блок-схема: магнитный диск 5"/>
          <p:cNvSpPr/>
          <p:nvPr/>
        </p:nvSpPr>
        <p:spPr>
          <a:xfrm>
            <a:off x="1579480" y="1966358"/>
            <a:ext cx="1371600" cy="914400"/>
          </a:xfrm>
          <a:prstGeom prst="flowChartMagneticDisk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Прямоугольник 6"/>
          <p:cNvSpPr/>
          <p:nvPr/>
        </p:nvSpPr>
        <p:spPr>
          <a:xfrm>
            <a:off x="1569852" y="3109183"/>
            <a:ext cx="1371600" cy="914400"/>
          </a:xfrm>
          <a:prstGeom prst="rect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Равнобедренный треугольник 7"/>
          <p:cNvSpPr/>
          <p:nvPr/>
        </p:nvSpPr>
        <p:spPr>
          <a:xfrm rot="10800000">
            <a:off x="1569852" y="3109183"/>
            <a:ext cx="1371600" cy="457549"/>
          </a:xfrm>
          <a:prstGeom prst="triangle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27036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5. Артефакты - </a:t>
            </a:r>
            <a:r>
              <a:rPr lang="en-US" dirty="0"/>
              <a:t>Artifacts</a:t>
            </a:r>
            <a:endParaRPr lang="uk-UA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8281113"/>
              </p:ext>
            </p:extLst>
          </p:nvPr>
        </p:nvGraphicFramePr>
        <p:xfrm>
          <a:off x="1096963" y="1846263"/>
          <a:ext cx="10058400" cy="22745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3335">
                  <a:extLst>
                    <a:ext uri="{9D8B030D-6E8A-4147-A177-3AD203B41FA5}">
                      <a16:colId xmlns:a16="http://schemas.microsoft.com/office/drawing/2014/main" val="1799091092"/>
                    </a:ext>
                  </a:extLst>
                </a:gridCol>
                <a:gridCol w="2720715">
                  <a:extLst>
                    <a:ext uri="{9D8B030D-6E8A-4147-A177-3AD203B41FA5}">
                      <a16:colId xmlns:a16="http://schemas.microsoft.com/office/drawing/2014/main" val="188717913"/>
                    </a:ext>
                  </a:extLst>
                </a:gridCol>
                <a:gridCol w="5024350">
                  <a:extLst>
                    <a:ext uri="{9D8B030D-6E8A-4147-A177-3AD203B41FA5}">
                      <a16:colId xmlns:a16="http://schemas.microsoft.com/office/drawing/2014/main" val="1064345968"/>
                    </a:ext>
                  </a:extLst>
                </a:gridCol>
              </a:tblGrid>
              <a:tr h="1137275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uk-UA" dirty="0">
                          <a:effectLst/>
                        </a:rPr>
                        <a:t>Группа</a:t>
                      </a:r>
                      <a:br>
                        <a:rPr lang="uk-UA" dirty="0">
                          <a:effectLst/>
                        </a:rPr>
                      </a:br>
                      <a:r>
                        <a:rPr lang="uk-UA" dirty="0">
                          <a:effectLst/>
                        </a:rPr>
                        <a:t>(</a:t>
                      </a:r>
                      <a:r>
                        <a:rPr lang="en-US" dirty="0">
                          <a:effectLst/>
                        </a:rPr>
                        <a:t>Group)</a:t>
                      </a:r>
                    </a:p>
                  </a:txBody>
                  <a:tcPr marL="174706" marR="174706" marT="38100" marB="381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dirty="0">
                          <a:effectLst/>
                        </a:rPr>
                        <a:t>Используется для группировки графических элементов, принадлежащих одной и той же категории.</a:t>
                      </a:r>
                    </a:p>
                  </a:txBody>
                  <a:tcPr marL="174706" marR="174706" marT="38100" marB="38100" anchor="ctr"/>
                </a:tc>
                <a:extLst>
                  <a:ext uri="{0D108BD9-81ED-4DB2-BD59-A6C34878D82A}">
                    <a16:rowId xmlns:a16="http://schemas.microsoft.com/office/drawing/2014/main" val="1185066205"/>
                  </a:ext>
                </a:extLst>
              </a:tr>
              <a:tr h="1137275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 marL="88751" marR="88751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ru-RU" dirty="0">
                          <a:effectLst/>
                        </a:rPr>
                        <a:t>Комментарий,</a:t>
                      </a:r>
                      <a:br>
                        <a:rPr lang="ru-RU" dirty="0">
                          <a:effectLst/>
                        </a:rPr>
                      </a:br>
                      <a:r>
                        <a:rPr lang="ru-RU" dirty="0">
                          <a:effectLst/>
                        </a:rPr>
                        <a:t>текстовая аннотация</a:t>
                      </a:r>
                      <a:br>
                        <a:rPr lang="ru-RU" dirty="0">
                          <a:effectLst/>
                        </a:rPr>
                      </a:br>
                      <a:r>
                        <a:rPr lang="ru-RU" dirty="0">
                          <a:effectLst/>
                        </a:rPr>
                        <a:t>(Text Annotation)</a:t>
                      </a:r>
                    </a:p>
                  </a:txBody>
                  <a:tcPr marL="174706" marR="174706" marT="38100" marB="3810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ru-RU" dirty="0">
                          <a:effectLst/>
                        </a:rPr>
                        <a:t>Примечание (дополнительная информация), связанная с отображенным элементом.</a:t>
                      </a:r>
                    </a:p>
                  </a:txBody>
                  <a:tcPr marL="174706" marR="174706" marT="38100" marB="38100" anchor="ctr"/>
                </a:tc>
                <a:extLst>
                  <a:ext uri="{0D108BD9-81ED-4DB2-BD59-A6C34878D82A}">
                    <a16:rowId xmlns:a16="http://schemas.microsoft.com/office/drawing/2014/main" val="2377420067"/>
                  </a:ext>
                </a:extLst>
              </a:tr>
            </a:tbl>
          </a:graphicData>
        </a:graphic>
      </p:graphicFrame>
      <p:sp>
        <p:nvSpPr>
          <p:cNvPr id="6" name="Блок-схема: магнитный диск 5"/>
          <p:cNvSpPr/>
          <p:nvPr/>
        </p:nvSpPr>
        <p:spPr>
          <a:xfrm>
            <a:off x="1420984" y="1966359"/>
            <a:ext cx="1371600" cy="914400"/>
          </a:xfrm>
          <a:prstGeom prst="roundRect">
            <a:avLst/>
          </a:prstGeom>
          <a:noFill/>
          <a:ln w="28575" cap="flat" cmpd="sng" algn="ctr">
            <a:solidFill>
              <a:srgbClr val="0F79C1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7" name="Прямоугольник 6"/>
          <p:cNvSpPr/>
          <p:nvPr/>
        </p:nvSpPr>
        <p:spPr>
          <a:xfrm>
            <a:off x="2569029" y="3109184"/>
            <a:ext cx="213926" cy="914400"/>
          </a:xfrm>
          <a:prstGeom prst="leftBracket">
            <a:avLst/>
          </a:prstGeom>
          <a:noFill/>
          <a:ln w="28575" cap="flat" cmpd="sng" algn="ctr">
            <a:solidFill>
              <a:srgbClr val="0F79C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48F4EF-1C09-46AC-B93A-24ABA038DB45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420984" y="3566384"/>
            <a:ext cx="1148045" cy="0"/>
          </a:xfrm>
          <a:prstGeom prst="line">
            <a:avLst/>
          </a:prstGeom>
          <a:noFill/>
          <a:ln w="28575" cap="flat" cmpd="sng" algn="ctr">
            <a:solidFill>
              <a:srgbClr val="0F79C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</p:cxnSp>
    </p:spTree>
    <p:extLst>
      <p:ext uri="{BB962C8B-B14F-4D97-AF65-F5344CB8AC3E}">
        <p14:creationId xmlns:p14="http://schemas.microsoft.com/office/powerpoint/2010/main" val="3711969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0">
              <a:schemeClr val="bg1">
                <a:tint val="90000"/>
                <a:lumMod val="110000"/>
              </a:schemeClr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3498-D2B5-4106-AF0E-9E82A7F9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/>
              <a:t>BPD</a:t>
            </a:r>
          </a:p>
        </p:txBody>
      </p:sp>
      <p:pic>
        <p:nvPicPr>
          <p:cNvPr id="5" name="Content Placeholder 4" descr="A screenshot of a map&#10;&#10;Description automatically generated">
            <a:extLst>
              <a:ext uri="{FF2B5EF4-FFF2-40B4-BE49-F238E27FC236}">
                <a16:creationId xmlns:a16="http://schemas.microsoft.com/office/drawing/2014/main" id="{B6B1BA98-DC6B-42D6-B434-E3B04EDF8D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302" y="1846263"/>
            <a:ext cx="8469721" cy="4022725"/>
          </a:xfrm>
        </p:spPr>
      </p:pic>
    </p:spTree>
    <p:extLst>
      <p:ext uri="{BB962C8B-B14F-4D97-AF65-F5344CB8AC3E}">
        <p14:creationId xmlns:p14="http://schemas.microsoft.com/office/powerpoint/2010/main" val="6847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Бизнес процессы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815" y="983297"/>
            <a:ext cx="9572625" cy="459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001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BPMN tool от OMNINET: OMNITRACKER BPM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89" y="629355"/>
            <a:ext cx="11228106" cy="5078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532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sz="4400" dirty="0"/>
              <a:t>Практика</a:t>
            </a:r>
            <a:endParaRPr lang="en-US" sz="4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5615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53966-6DEA-4DB5-9742-E0F6E2963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Нарисовать диаграмму для процесса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C3287-7C9F-459D-B212-99786DD91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Заказ и доставка пиццы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1902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ru-RU" sz="4400" dirty="0"/>
              <a:t>Дополнительные материалы</a:t>
            </a:r>
            <a:endParaRPr lang="en-US" sz="4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332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Материалы по </a:t>
            </a:r>
            <a:r>
              <a:rPr lang="en-US" dirty="0"/>
              <a:t>BPMN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BPMN</a:t>
            </a:r>
            <a:r>
              <a:rPr lang="ru-RU" dirty="0" smtClean="0"/>
              <a:t>: основные символы и диаграммы </a:t>
            </a: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://sites.google.com/site/anisimovkhv/learning/pris/lecture/tema8/tema8_4</a:t>
            </a:r>
            <a:endParaRPr lang="en-US" dirty="0"/>
          </a:p>
          <a:p>
            <a:r>
              <a:rPr lang="en-US" dirty="0" smtClean="0"/>
              <a:t>BPMN</a:t>
            </a:r>
            <a:r>
              <a:rPr lang="ru-RU" dirty="0" smtClean="0"/>
              <a:t>: основные символы </a:t>
            </a:r>
            <a:r>
              <a:rPr lang="ru-RU" i="1" dirty="0" smtClean="0"/>
              <a:t>(альтернативные </a:t>
            </a:r>
            <a:r>
              <a:rPr lang="ru-RU" i="1" dirty="0"/>
              <a:t>о</a:t>
            </a:r>
            <a:r>
              <a:rPr lang="ru-RU" i="1" dirty="0" smtClean="0"/>
              <a:t>писания для лучшего понимания, если не совсем понятно описание по первой ссылки, обращайтесь по этой) </a:t>
            </a:r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://rzbpm.ru/knowledge/bpmn-2-0-iz-chego-sostoit-model-biznes-processa.html</a:t>
            </a:r>
            <a:endParaRPr lang="en-US" dirty="0"/>
          </a:p>
          <a:p>
            <a:r>
              <a:rPr lang="uk-UA" dirty="0" err="1"/>
              <a:t>Нотация</a:t>
            </a:r>
            <a:r>
              <a:rPr lang="uk-UA" dirty="0"/>
              <a:t> </a:t>
            </a:r>
            <a:r>
              <a:rPr lang="en-US" dirty="0"/>
              <a:t>BPMN </a:t>
            </a:r>
            <a:r>
              <a:rPr lang="en-US" dirty="0" smtClean="0"/>
              <a:t>2.0</a:t>
            </a:r>
            <a:r>
              <a:rPr lang="ru-RU" dirty="0" smtClean="0"/>
              <a:t> –полное и углубленное описание </a:t>
            </a:r>
            <a:r>
              <a:rPr lang="ru-RU" smtClean="0"/>
              <a:t>нотации </a:t>
            </a:r>
            <a:r>
              <a:rPr lang="en-US" smtClean="0">
                <a:hlinkClick r:id="rId4"/>
              </a:rPr>
              <a:t>https</a:t>
            </a:r>
            <a:r>
              <a:rPr lang="en-US" dirty="0">
                <a:hlinkClick r:id="rId4"/>
              </a:rPr>
              <a:t>://www.elma-bpm.ru/bpmn2</a:t>
            </a:r>
            <a:r>
              <a:rPr lang="en-US" dirty="0" smtClean="0">
                <a:hlinkClick r:id="rId4"/>
              </a:rPr>
              <a:t>/</a:t>
            </a:r>
            <a:endParaRPr lang="en-US" dirty="0" smtClean="0"/>
          </a:p>
          <a:p>
            <a:r>
              <a:rPr lang="uk-UA" dirty="0"/>
              <a:t>ТОП-25 </a:t>
            </a:r>
            <a:r>
              <a:rPr lang="uk-UA" dirty="0" err="1"/>
              <a:t>ошибок</a:t>
            </a:r>
            <a:r>
              <a:rPr lang="uk-UA" dirty="0"/>
              <a:t> в </a:t>
            </a:r>
            <a:r>
              <a:rPr lang="en-US" dirty="0" smtClean="0"/>
              <a:t>BPMN </a:t>
            </a:r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bpmn2.ru/blog/top-25-oshibok-bpmn</a:t>
            </a:r>
            <a:r>
              <a:rPr lang="en-US" dirty="0" smtClean="0"/>
              <a:t>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136869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395E0-10E0-4863-BE52-0F4A27981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3" y="2213361"/>
            <a:ext cx="6247721" cy="2204815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P.S.</a:t>
            </a:r>
            <a:endParaRPr lang="en-US" sz="41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8B4C7-CF60-413E-BF81-3742A22D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4" y="4418176"/>
            <a:ext cx="6247721" cy="1264209"/>
          </a:xfrm>
        </p:spPr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Инструменты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1998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Инструменты для создания разных артефактов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Task tracking systems</a:t>
            </a:r>
          </a:p>
          <a:p>
            <a:pPr lvl="1"/>
            <a:r>
              <a:rPr lang="en-US" dirty="0"/>
              <a:t>Jira</a:t>
            </a:r>
          </a:p>
          <a:p>
            <a:pPr lvl="1"/>
            <a:r>
              <a:rPr lang="en-US" dirty="0" err="1"/>
              <a:t>Redmine</a:t>
            </a:r>
            <a:endParaRPr lang="en-US" dirty="0"/>
          </a:p>
          <a:p>
            <a:pPr lvl="1"/>
            <a:r>
              <a:rPr lang="en-US" dirty="0"/>
              <a:t>Rally</a:t>
            </a:r>
          </a:p>
          <a:p>
            <a:r>
              <a:rPr lang="en-US" dirty="0"/>
              <a:t>Text:</a:t>
            </a:r>
          </a:p>
          <a:p>
            <a:pPr lvl="1"/>
            <a:r>
              <a:rPr lang="en-US" dirty="0"/>
              <a:t>MS Word</a:t>
            </a:r>
          </a:p>
          <a:p>
            <a:pPr lvl="1"/>
            <a:r>
              <a:rPr lang="en-US" dirty="0"/>
              <a:t>Google Docs</a:t>
            </a:r>
          </a:p>
          <a:p>
            <a:pPr lvl="1"/>
            <a:r>
              <a:rPr lang="en-US" dirty="0"/>
              <a:t>Confluence</a:t>
            </a:r>
          </a:p>
          <a:p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Diagrams</a:t>
            </a:r>
          </a:p>
          <a:p>
            <a:pPr lvl="1"/>
            <a:r>
              <a:rPr lang="en-US" dirty="0" err="1"/>
              <a:t>DrawIO</a:t>
            </a:r>
            <a:endParaRPr lang="en-US" dirty="0"/>
          </a:p>
          <a:p>
            <a:pPr lvl="1"/>
            <a:r>
              <a:rPr lang="en-US" dirty="0" err="1"/>
              <a:t>Lucidchart</a:t>
            </a:r>
            <a:endParaRPr lang="en-US" dirty="0"/>
          </a:p>
          <a:p>
            <a:r>
              <a:rPr lang="en-US" dirty="0"/>
              <a:t>Wireframes + Diagrams</a:t>
            </a:r>
          </a:p>
          <a:p>
            <a:pPr lvl="1"/>
            <a:r>
              <a:rPr lang="en-US" dirty="0" err="1"/>
              <a:t>Axure</a:t>
            </a:r>
            <a:endParaRPr lang="en-US" dirty="0"/>
          </a:p>
          <a:p>
            <a:pPr lvl="1"/>
            <a:r>
              <a:rPr lang="en-US" dirty="0" err="1"/>
              <a:t>Balsamiq</a:t>
            </a:r>
            <a:endParaRPr lang="en-US" dirty="0"/>
          </a:p>
          <a:p>
            <a:pPr lvl="1"/>
            <a:r>
              <a:rPr lang="en-US" dirty="0"/>
              <a:t>Mockups</a:t>
            </a:r>
          </a:p>
          <a:p>
            <a:pPr lvl="1"/>
            <a:r>
              <a:rPr lang="en-US" dirty="0" err="1"/>
              <a:t>DrawIO</a:t>
            </a:r>
            <a:endParaRPr lang="en-US" dirty="0"/>
          </a:p>
          <a:p>
            <a:pPr lvl="1"/>
            <a:r>
              <a:rPr lang="en-US" dirty="0"/>
              <a:t>Paint…</a:t>
            </a:r>
          </a:p>
        </p:txBody>
      </p:sp>
    </p:spTree>
    <p:extLst>
      <p:ext uri="{BB962C8B-B14F-4D97-AF65-F5344CB8AC3E}">
        <p14:creationId xmlns:p14="http://schemas.microsoft.com/office/powerpoint/2010/main" val="2365215281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815</Words>
  <Application>Microsoft Office PowerPoint</Application>
  <PresentationFormat>Широкоэкранный</PresentationFormat>
  <Paragraphs>160</Paragraphs>
  <Slides>29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Ретро</vt:lpstr>
      <vt:lpstr>Артефакты визуализации</vt:lpstr>
      <vt:lpstr>BPMN</vt:lpstr>
      <vt:lpstr>1. Зоны ответственности - Swimlanes</vt:lpstr>
      <vt:lpstr>2. Объекты потока - Flow Objects</vt:lpstr>
      <vt:lpstr>События: по триггеру</vt:lpstr>
      <vt:lpstr>События: по триггеру</vt:lpstr>
      <vt:lpstr>События: по триггеру</vt:lpstr>
      <vt:lpstr>События: по триггеру</vt:lpstr>
      <vt:lpstr>События: времени наступления </vt:lpstr>
      <vt:lpstr>Презентация PowerPoint</vt:lpstr>
      <vt:lpstr>Шлюзы</vt:lpstr>
      <vt:lpstr>Шлюзы</vt:lpstr>
      <vt:lpstr>3. Потоки- Flows</vt:lpstr>
      <vt:lpstr>Ветвление на альтернативные потоки по логическим выражениям </vt:lpstr>
      <vt:lpstr>Ветвление на альтернативные потоки в зависимости от произошедших событий</vt:lpstr>
      <vt:lpstr>Недопустимое использование шлюзов</vt:lpstr>
      <vt:lpstr>Допустимое использование шлюзов 1</vt:lpstr>
      <vt:lpstr>Допустимое использование шлюзов 2</vt:lpstr>
      <vt:lpstr>4. Данные - Data</vt:lpstr>
      <vt:lpstr>5. Артефакты - Artifacts</vt:lpstr>
      <vt:lpstr>Пример BPD</vt:lpstr>
      <vt:lpstr>Презентация PowerPoint</vt:lpstr>
      <vt:lpstr>Презентация PowerPoint</vt:lpstr>
      <vt:lpstr>Практика</vt:lpstr>
      <vt:lpstr>Нарисовать диаграмму для процесса</vt:lpstr>
      <vt:lpstr>Дополнительные материалы</vt:lpstr>
      <vt:lpstr>Материалы по BPMN</vt:lpstr>
      <vt:lpstr>P.S.</vt:lpstr>
      <vt:lpstr>Инструменты для создания разных артефактов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Артефакты визуализации</dc:title>
  <dc:creator>Olesia Popova</dc:creator>
  <cp:lastModifiedBy>Alesia</cp:lastModifiedBy>
  <cp:revision>3</cp:revision>
  <dcterms:created xsi:type="dcterms:W3CDTF">2020-09-25T16:58:58Z</dcterms:created>
  <dcterms:modified xsi:type="dcterms:W3CDTF">2020-09-26T10:19:50Z</dcterms:modified>
</cp:coreProperties>
</file>