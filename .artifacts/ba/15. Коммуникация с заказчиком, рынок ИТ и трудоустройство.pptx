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27"/>
  </p:notesMasterIdLst>
  <p:sldIdLst>
    <p:sldId id="256" r:id="rId2"/>
    <p:sldId id="322" r:id="rId3"/>
    <p:sldId id="416" r:id="rId4"/>
    <p:sldId id="451" r:id="rId5"/>
    <p:sldId id="452" r:id="rId6"/>
    <p:sldId id="453" r:id="rId7"/>
    <p:sldId id="456" r:id="rId8"/>
    <p:sldId id="447" r:id="rId9"/>
    <p:sldId id="455" r:id="rId10"/>
    <p:sldId id="454" r:id="rId11"/>
    <p:sldId id="449" r:id="rId12"/>
    <p:sldId id="465" r:id="rId13"/>
    <p:sldId id="466" r:id="rId14"/>
    <p:sldId id="468" r:id="rId15"/>
    <p:sldId id="469" r:id="rId16"/>
    <p:sldId id="470" r:id="rId17"/>
    <p:sldId id="473" r:id="rId18"/>
    <p:sldId id="457" r:id="rId19"/>
    <p:sldId id="460" r:id="rId20"/>
    <p:sldId id="461" r:id="rId21"/>
    <p:sldId id="464" r:id="rId22"/>
    <p:sldId id="450" r:id="rId23"/>
    <p:sldId id="471" r:id="rId24"/>
    <p:sldId id="458" r:id="rId25"/>
    <p:sldId id="472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D050"/>
    <a:srgbClr val="0F79C1"/>
    <a:srgbClr val="128D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67" autoAdjust="0"/>
    <p:restoredTop sz="94742" autoAdjust="0"/>
  </p:normalViewPr>
  <p:slideViewPr>
    <p:cSldViewPr snapToGrid="0">
      <p:cViewPr varScale="1">
        <p:scale>
          <a:sx n="87" d="100"/>
          <a:sy n="87" d="100"/>
        </p:scale>
        <p:origin x="10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2579C-437B-4B88-BDE6-483EC68E97D4}" type="datetimeFigureOut">
              <a:rPr lang="uk-UA" smtClean="0"/>
              <a:t>06.10.20</a:t>
            </a:fld>
            <a:endParaRPr lang="uk-UA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7690FE-35A5-4CCB-93D6-B8E58183C5A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39766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7690FE-35A5-4CCB-93D6-B8E58183C5AC}" type="slidenum">
              <a:rPr lang="uk-UA" smtClean="0"/>
              <a:t>21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45821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06.10.20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903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06.10.20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269435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06.10.20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2542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06.10.20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940578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06.10.20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647846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06.10.20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189166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06.10.20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133801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9B4355C-3BC3-430F-A9AE-65E4E08468FB}" type="datetimeFigureOut">
              <a:rPr lang="uk-UA" smtClean="0"/>
              <a:t>06.10.20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036733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06.10.20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86980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06.10.20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761813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06.10.20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77878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915886"/>
            <a:ext cx="10058400" cy="395320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9B4355C-3BC3-430F-A9AE-65E4E08468FB}" type="datetimeFigureOut">
              <a:rPr lang="uk-UA" smtClean="0"/>
              <a:t>06.10.20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2494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86933" y="1"/>
            <a:ext cx="10138449" cy="4418176"/>
          </a:xfrm>
        </p:spPr>
        <p:txBody>
          <a:bodyPr>
            <a:normAutofit/>
          </a:bodyPr>
          <a:lstStyle/>
          <a:p>
            <a:pPr lvl="0" algn="l"/>
            <a:r>
              <a:rPr lang="ru-RU" dirty="0"/>
              <a:t>Коммуникация с заказчиком, рынок ИТ и трудоустройство</a:t>
            </a:r>
            <a:endParaRPr lang="en-US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286934" y="4418176"/>
            <a:ext cx="6247721" cy="1264209"/>
          </a:xfrm>
        </p:spPr>
        <p:txBody>
          <a:bodyPr>
            <a:normAutofit/>
          </a:bodyPr>
          <a:lstStyle/>
          <a:p>
            <a:pPr algn="l"/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3700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ru-RU" dirty="0"/>
              <a:t>Коммуникация с заказчиком, рынок ИТ и трудоустройство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Discovery phase</a:t>
            </a:r>
            <a:endParaRPr lang="ru-RU" dirty="0"/>
          </a:p>
          <a:p>
            <a:pPr lvl="0"/>
            <a:r>
              <a:rPr lang="ru-RU" dirty="0"/>
              <a:t>Взаимодействие с заказчиком</a:t>
            </a:r>
          </a:p>
          <a:p>
            <a:pPr lvl="0"/>
            <a:r>
              <a:rPr lang="ru-RU" dirty="0"/>
              <a:t>Уровни зрелости компаний</a:t>
            </a:r>
          </a:p>
          <a:p>
            <a:pPr lvl="0"/>
            <a:r>
              <a:rPr lang="ru-RU" dirty="0"/>
              <a:t>Типы компаний на рынке и их особенности</a:t>
            </a:r>
          </a:p>
          <a:p>
            <a:pPr lvl="0"/>
            <a:r>
              <a:rPr lang="ru-RU" dirty="0"/>
              <a:t>Интервью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9562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F395E0-10E0-4863-BE52-0F4A27981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933" y="2213361"/>
            <a:ext cx="6247721" cy="2204815"/>
          </a:xfrm>
        </p:spPr>
        <p:txBody>
          <a:bodyPr>
            <a:normAutofit/>
          </a:bodyPr>
          <a:lstStyle/>
          <a:p>
            <a:pPr lvl="0" algn="l"/>
            <a:r>
              <a:rPr lang="en-US" sz="4400" dirty="0"/>
              <a:t>Discovery phase</a:t>
            </a:r>
            <a:endParaRPr lang="ru-RU" sz="4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68B4C7-CF60-413E-BF81-3742A22D5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934" y="4418176"/>
            <a:ext cx="6247721" cy="1264209"/>
          </a:xfrm>
        </p:spPr>
        <p:txBody>
          <a:bodyPr>
            <a:normAutofit/>
          </a:bodyPr>
          <a:lstStyle/>
          <a:p>
            <a:pPr algn="l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97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1E392-D459-4EB5-815D-533014356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Discovery phase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sz="1600" dirty="0" err="1"/>
              <a:t>Дискавери</a:t>
            </a:r>
            <a:r>
              <a:rPr lang="ru-RU" sz="1600" dirty="0"/>
              <a:t>-фаза — первый и обязательный этап разработки, на котором выявляются требования и анализируются поставленные бизнес-цели, чтобы сделать предложение по технической реализации, зафиксировать границы проекта и оценить стоимость разработки.</a:t>
            </a:r>
            <a:endParaRPr lang="en-US" sz="1600" dirty="0"/>
          </a:p>
          <a:p>
            <a:endParaRPr lang="en-US" dirty="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42B4E901-9002-434F-83F0-C7FEB2B583C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110183" y="194229"/>
            <a:ext cx="8072582" cy="6666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6743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8A087-4F95-4DBD-9FED-B44A1210C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Задачи </a:t>
            </a:r>
            <a:r>
              <a:rPr lang="en-US" dirty="0"/>
              <a:t>Discovery phase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3564E-358B-46E5-AE51-198CC86A75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t"/>
            <a:r>
              <a:rPr lang="ru-RU" dirty="0"/>
              <a:t>исследовать предметную область;</a:t>
            </a:r>
          </a:p>
          <a:p>
            <a:pPr fontAlgn="t"/>
            <a:r>
              <a:rPr lang="ru-RU" dirty="0"/>
              <a:t>узнать ожидания заказчика от нового продукта;</a:t>
            </a:r>
          </a:p>
          <a:p>
            <a:pPr fontAlgn="t"/>
            <a:r>
              <a:rPr lang="ru-RU" dirty="0"/>
              <a:t>исследовать бизнес-процессы заказчика;</a:t>
            </a:r>
          </a:p>
          <a:p>
            <a:pPr fontAlgn="t"/>
            <a:r>
              <a:rPr lang="ru-RU" dirty="0"/>
              <a:t>выявить узкие места;</a:t>
            </a:r>
          </a:p>
          <a:p>
            <a:pPr fontAlgn="t"/>
            <a:r>
              <a:rPr lang="ru-RU" dirty="0"/>
              <a:t>сформулировать решения его проблем на высоком уровне;</a:t>
            </a:r>
          </a:p>
          <a:p>
            <a:pPr fontAlgn="t"/>
            <a:r>
              <a:rPr lang="ru-RU" dirty="0"/>
              <a:t>расставить приоритеты и сформировать backlog;</a:t>
            </a:r>
          </a:p>
          <a:p>
            <a:pPr fontAlgn="t"/>
            <a:r>
              <a:rPr lang="ru-RU" dirty="0"/>
              <a:t>составить roadmap проекта.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373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1EFA0-267B-4166-9455-F3FE1D5D0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Сферы ответственности на </a:t>
            </a:r>
            <a:r>
              <a:rPr lang="en-US" dirty="0"/>
              <a:t>Discovery phase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687ED-5423-4F3F-A131-D60D0A87D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fontAlgn="base"/>
            <a:r>
              <a:rPr lang="ru-RU" b="1" dirty="0"/>
              <a:t>Аналитик</a:t>
            </a:r>
            <a:r>
              <a:rPr lang="ru-RU" dirty="0"/>
              <a:t> отвечает за выявление, анализ и фиксацию требований, проектирование логики системы и построение взаимосвязей. Переводит бизнес-цели в формат функциональных и нефункциональных требований.</a:t>
            </a:r>
          </a:p>
          <a:p>
            <a:pPr fontAlgn="base"/>
            <a:r>
              <a:rPr lang="ru-RU" b="1" dirty="0"/>
              <a:t>Дизайнер</a:t>
            </a:r>
            <a:r>
              <a:rPr lang="ru-RU" dirty="0"/>
              <a:t> отвечает за первичные исследования, детальное проектирование пользовательского опыта и интерфейса. </a:t>
            </a:r>
          </a:p>
          <a:p>
            <a:pPr fontAlgn="base"/>
            <a:r>
              <a:rPr lang="ru-RU" b="1" dirty="0"/>
              <a:t>Менеджер проекта</a:t>
            </a:r>
            <a:r>
              <a:rPr lang="ru-RU" dirty="0"/>
              <a:t> — главный ответственный за проект. Организовывает работу команды, коммуникации с клиентом и еженедельную отчетность, бронирование ресурсов и поставку артефактов клиенту в сроки и с должным качеством.</a:t>
            </a:r>
          </a:p>
          <a:p>
            <a:pPr fontAlgn="base"/>
            <a:r>
              <a:rPr lang="ru-RU" b="1" dirty="0"/>
              <a:t>Технический специалист</a:t>
            </a:r>
            <a:r>
              <a:rPr lang="ru-RU" dirty="0"/>
              <a:t> — разработчик. Анализирует артефакты дискавери-фазы, чтобы убедиться, что проектируемая бизнес-логика технически реализуема, и предлагает оптимальное архитектурное решение.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002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23FCB-3FC8-4AED-8C52-E1397CA78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Подведение итогов поездки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642EB-46AB-4E02-8AC3-E697DD276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Синхронизация с другими членами команды;</a:t>
            </a:r>
          </a:p>
          <a:p>
            <a:r>
              <a:rPr lang="ru-RU" dirty="0"/>
              <a:t>Приведение в порядок артефактов и их передачу заинтересованным лицам;</a:t>
            </a:r>
          </a:p>
          <a:p>
            <a:r>
              <a:rPr lang="ru-RU" dirty="0"/>
              <a:t>Церемониалы вежливости;</a:t>
            </a:r>
          </a:p>
          <a:p>
            <a:r>
              <a:rPr lang="ru-RU" dirty="0"/>
              <a:t>Ознакомление команды с проектом и ближайшими планами.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9397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F395E0-10E0-4863-BE52-0F4A27981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933" y="2213361"/>
            <a:ext cx="8734522" cy="2204815"/>
          </a:xfrm>
        </p:spPr>
        <p:txBody>
          <a:bodyPr>
            <a:normAutofit/>
          </a:bodyPr>
          <a:lstStyle/>
          <a:p>
            <a:pPr lvl="0" algn="l"/>
            <a:r>
              <a:rPr lang="ru-RU" sz="4400" dirty="0"/>
              <a:t>Командировки и взаимодействие с заказчиком</a:t>
            </a:r>
            <a:endParaRPr lang="en-US" sz="4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68B4C7-CF60-413E-BF81-3742A22D5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934" y="4418176"/>
            <a:ext cx="6247721" cy="1264209"/>
          </a:xfrm>
        </p:spPr>
        <p:txBody>
          <a:bodyPr>
            <a:normAutofit/>
          </a:bodyPr>
          <a:lstStyle/>
          <a:p>
            <a:pPr algn="l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9227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399FD-9B06-4991-A5CE-7C56AA651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Обеспечение успешности визита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7DEA5-64B9-4068-A571-E59875F7A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Своевременное документирование / запись;</a:t>
            </a:r>
          </a:p>
          <a:p>
            <a:r>
              <a:rPr lang="ru-RU" dirty="0"/>
              <a:t>Заранее утвержденные расписание и агенда;</a:t>
            </a:r>
          </a:p>
          <a:p>
            <a:r>
              <a:rPr lang="ru-RU" dirty="0"/>
              <a:t>Назначены ответственные за митинги и заметки;</a:t>
            </a:r>
          </a:p>
          <a:p>
            <a:r>
              <a:rPr lang="ru-RU" dirty="0"/>
              <a:t>Предварительно подготовленные артефакты;</a:t>
            </a:r>
          </a:p>
          <a:p>
            <a:r>
              <a:rPr lang="ru-RU" dirty="0"/>
              <a:t>Предварительно подготовленные инструменты;</a:t>
            </a:r>
          </a:p>
          <a:p>
            <a:r>
              <a:rPr lang="ru-RU" dirty="0"/>
              <a:t>Оборудование подготовлено и проверено;</a:t>
            </a:r>
          </a:p>
          <a:p>
            <a:r>
              <a:rPr lang="ru-RU" dirty="0"/>
              <a:t>Ознакомление со страной / городом визита;</a:t>
            </a:r>
          </a:p>
          <a:p>
            <a:r>
              <a:rPr lang="ru-RU" dirty="0"/>
              <a:t>Соблюдение бизнес-этики во время внерабочих встреч.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7709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D7BC1-17A4-490B-A5EC-07528A129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Правила общения с клиентом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EAF01-AEE3-4F4D-A4EE-C00C046BE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4" y="1843548"/>
            <a:ext cx="10363826" cy="4460674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Бизнес тон и соблюдение бизнес этики</a:t>
            </a:r>
            <a:r>
              <a:rPr lang="en-US" dirty="0"/>
              <a:t>;</a:t>
            </a:r>
            <a:endParaRPr lang="ru-RU" dirty="0"/>
          </a:p>
          <a:p>
            <a:r>
              <a:rPr lang="ru-RU" dirty="0"/>
              <a:t>Грамотность и культура речи</a:t>
            </a:r>
            <a:r>
              <a:rPr lang="en-US" dirty="0"/>
              <a:t>;</a:t>
            </a:r>
            <a:endParaRPr lang="ru-RU" dirty="0"/>
          </a:p>
          <a:p>
            <a:r>
              <a:rPr lang="ru-RU" dirty="0"/>
              <a:t>Пунктуальность</a:t>
            </a:r>
            <a:r>
              <a:rPr lang="en-US" dirty="0"/>
              <a:t>;</a:t>
            </a:r>
            <a:endParaRPr lang="ru-RU" dirty="0"/>
          </a:p>
          <a:p>
            <a:r>
              <a:rPr lang="ru-RU" dirty="0"/>
              <a:t>Ответ на письма / сообщения в течение одного бизнес-дня, не срочные – в течение 1 часа</a:t>
            </a:r>
            <a:r>
              <a:rPr lang="en-US" dirty="0"/>
              <a:t>;</a:t>
            </a:r>
          </a:p>
          <a:p>
            <a:r>
              <a:rPr lang="ru-RU" dirty="0"/>
              <a:t>Оповещение о статусе вопроса</a:t>
            </a:r>
            <a:r>
              <a:rPr lang="en-US" dirty="0"/>
              <a:t>;</a:t>
            </a:r>
            <a:endParaRPr lang="ru-RU" dirty="0"/>
          </a:p>
          <a:p>
            <a:r>
              <a:rPr lang="ru-RU" dirty="0"/>
              <a:t>Формализация общения (письма-подтверждения, утвержденные процедуры)</a:t>
            </a:r>
            <a:r>
              <a:rPr lang="en-US" dirty="0"/>
              <a:t>;</a:t>
            </a:r>
            <a:endParaRPr lang="ru-RU" dirty="0"/>
          </a:p>
          <a:p>
            <a:r>
              <a:rPr lang="ru-RU" dirty="0"/>
              <a:t>Использование </a:t>
            </a:r>
            <a:r>
              <a:rPr lang="en-US" dirty="0"/>
              <a:t>CC;</a:t>
            </a:r>
          </a:p>
          <a:p>
            <a:r>
              <a:rPr lang="ru-RU" dirty="0"/>
              <a:t>Соблюдение «языка» и «уровня» заказчика</a:t>
            </a:r>
            <a:r>
              <a:rPr lang="en-US" dirty="0"/>
              <a:t>;</a:t>
            </a:r>
          </a:p>
          <a:p>
            <a:r>
              <a:rPr lang="ru-RU" dirty="0"/>
              <a:t>Работа с возражениями</a:t>
            </a:r>
            <a:r>
              <a:rPr lang="en-US" dirty="0"/>
              <a:t>;</a:t>
            </a:r>
            <a:endParaRPr lang="ru-RU" dirty="0"/>
          </a:p>
          <a:p>
            <a:r>
              <a:rPr lang="ru-RU" dirty="0"/>
              <a:t>Страховка и двойная проверка информации.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8482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F395E0-10E0-4863-BE52-0F4A27981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933" y="2213361"/>
            <a:ext cx="6592429" cy="2204815"/>
          </a:xfrm>
        </p:spPr>
        <p:txBody>
          <a:bodyPr>
            <a:normAutofit/>
          </a:bodyPr>
          <a:lstStyle/>
          <a:p>
            <a:pPr lvl="0" algn="l"/>
            <a:r>
              <a:rPr lang="ru-RU" sz="4400" dirty="0"/>
              <a:t>Уровни зрелости компаний</a:t>
            </a:r>
            <a:endParaRPr lang="en-US" sz="4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68B4C7-CF60-413E-BF81-3742A22D5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934" y="4418176"/>
            <a:ext cx="6247721" cy="1264209"/>
          </a:xfrm>
        </p:spPr>
        <p:txBody>
          <a:bodyPr>
            <a:normAutofit/>
          </a:bodyPr>
          <a:lstStyle/>
          <a:p>
            <a:pPr algn="l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Теория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4170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err="1"/>
              <a:t>Начальный</a:t>
            </a:r>
            <a:endParaRPr lang="en-US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9775991"/>
              </p:ext>
            </p:extLst>
          </p:nvPr>
        </p:nvGraphicFramePr>
        <p:xfrm>
          <a:off x="1096963" y="1916113"/>
          <a:ext cx="10058400" cy="32004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997219">
                  <a:extLst>
                    <a:ext uri="{9D8B030D-6E8A-4147-A177-3AD203B41FA5}">
                      <a16:colId xmlns:a16="http://schemas.microsoft.com/office/drawing/2014/main" val="3767728392"/>
                    </a:ext>
                  </a:extLst>
                </a:gridCol>
                <a:gridCol w="8061181">
                  <a:extLst>
                    <a:ext uri="{9D8B030D-6E8A-4147-A177-3AD203B41FA5}">
                      <a16:colId xmlns:a16="http://schemas.microsoft.com/office/drawing/2014/main" val="25726782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b="1" dirty="0"/>
                        <a:t>Процессы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Процессы непредсказуемые, </a:t>
                      </a:r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слабо контролируемые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Процессы появляются в ответ на определённые различные события.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5759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uk-UA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Предсказуемость</a:t>
                      </a:r>
                      <a:r>
                        <a:rPr lang="uk-UA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uk-UA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результата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Может</a:t>
                      </a:r>
                      <a:r>
                        <a:rPr lang="uk-U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uk-UA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достичь</a:t>
                      </a:r>
                      <a:r>
                        <a:rPr lang="uk-U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uk-UA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результата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8829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uk-UA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Возможные</a:t>
                      </a:r>
                      <a:r>
                        <a:rPr lang="uk-UA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риски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Возможно не в срок, некачественно, с превышением бюджета</a:t>
                      </a:r>
                      <a:endParaRPr lang="en-US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5263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uk-UA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Методы</a:t>
                      </a:r>
                      <a:r>
                        <a:rPr lang="uk-UA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uk-UA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управления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Ситуационное</a:t>
                      </a:r>
                      <a:r>
                        <a:rPr lang="uk-UA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uk-UA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управление</a:t>
                      </a:r>
                      <a:r>
                        <a:rPr lang="uk-UA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(«</a:t>
                      </a: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 hoc»)</a:t>
                      </a:r>
                      <a:endParaRPr lang="ru-RU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uk-U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Контроль </a:t>
                      </a:r>
                      <a:r>
                        <a:rPr lang="uk-UA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исполнения</a:t>
                      </a:r>
                      <a:r>
                        <a:rPr lang="uk-U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поручений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5777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uk-UA" b="1" dirty="0" err="1">
                          <a:effectLst/>
                        </a:rPr>
                        <a:t>Организационная</a:t>
                      </a:r>
                      <a:r>
                        <a:rPr lang="uk-UA" b="1" dirty="0">
                          <a:effectLst/>
                        </a:rPr>
                        <a:t> структура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Иерархическая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61203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0530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err="1"/>
              <a:t>Управляемый</a:t>
            </a:r>
            <a:r>
              <a:rPr lang="uk-UA" dirty="0"/>
              <a:t> (</a:t>
            </a:r>
            <a:r>
              <a:rPr lang="uk-UA" dirty="0" err="1"/>
              <a:t>Повторяемый</a:t>
            </a:r>
            <a:r>
              <a:rPr lang="uk-UA" dirty="0"/>
              <a:t>)</a:t>
            </a:r>
            <a:endParaRPr lang="en-US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21014"/>
              </p:ext>
            </p:extLst>
          </p:nvPr>
        </p:nvGraphicFramePr>
        <p:xfrm>
          <a:off x="1096963" y="1916113"/>
          <a:ext cx="10058400" cy="37490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997219">
                  <a:extLst>
                    <a:ext uri="{9D8B030D-6E8A-4147-A177-3AD203B41FA5}">
                      <a16:colId xmlns:a16="http://schemas.microsoft.com/office/drawing/2014/main" val="3767728392"/>
                    </a:ext>
                  </a:extLst>
                </a:gridCol>
                <a:gridCol w="8061181">
                  <a:extLst>
                    <a:ext uri="{9D8B030D-6E8A-4147-A177-3AD203B41FA5}">
                      <a16:colId xmlns:a16="http://schemas.microsoft.com/office/drawing/2014/main" val="25726782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b="1" dirty="0"/>
                        <a:t>Процессы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 i="0" dirty="0">
                          <a:solidFill>
                            <a:srgbClr val="202122"/>
                          </a:solidFill>
                          <a:effectLst/>
                          <a:latin typeface="Arial" panose="020B0604020202020204" pitchFamily="34" charset="0"/>
                        </a:rPr>
                        <a:t>Процессы определены </a:t>
                      </a:r>
                      <a:r>
                        <a:rPr lang="ru-RU" b="1" i="0" dirty="0">
                          <a:solidFill>
                            <a:srgbClr val="202122"/>
                          </a:solidFill>
                          <a:effectLst/>
                          <a:latin typeface="Arial" panose="020B0604020202020204" pitchFamily="34" charset="0"/>
                        </a:rPr>
                        <a:t>на уровне проектов. </a:t>
                      </a:r>
                      <a:r>
                        <a:rPr lang="ru-RU" b="0" i="0" dirty="0">
                          <a:solidFill>
                            <a:srgbClr val="202122"/>
                          </a:solidFill>
                          <a:effectLst/>
                          <a:latin typeface="Arial" panose="020B0604020202020204" pitchFamily="34" charset="0"/>
                        </a:rPr>
                        <a:t>Зачастую процессы появляются в ответ на определённые события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5759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uk-UA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Предсказуемость</a:t>
                      </a:r>
                      <a:r>
                        <a:rPr lang="uk-UA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uk-UA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результата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Может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достичь результата </a:t>
                      </a:r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 срок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8829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uk-UA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Возможные</a:t>
                      </a:r>
                      <a:r>
                        <a:rPr lang="uk-UA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риски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Возможно некачественно, с превышением бюджета</a:t>
                      </a:r>
                      <a:endParaRPr lang="en-US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5263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uk-UA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Методы</a:t>
                      </a:r>
                      <a:r>
                        <a:rPr lang="uk-UA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uk-UA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управления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Ситуационное</a:t>
                      </a:r>
                      <a:r>
                        <a:rPr lang="uk-UA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uk-UA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управление</a:t>
                      </a:r>
                      <a:r>
                        <a:rPr lang="uk-UA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(«</a:t>
                      </a: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 hoc»)</a:t>
                      </a:r>
                      <a:endParaRPr lang="ru-RU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uk-U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Контроль </a:t>
                      </a:r>
                      <a:r>
                        <a:rPr lang="uk-UA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исполнения</a:t>
                      </a:r>
                      <a:r>
                        <a:rPr lang="uk-U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поручений</a:t>
                      </a:r>
                      <a:endParaRPr lang="ru-RU" b="0" dirty="0"/>
                    </a:p>
                    <a:p>
                      <a:r>
                        <a:rPr lang="ru-RU" b="1" dirty="0"/>
                        <a:t>Управление проектами</a:t>
                      </a:r>
                    </a:p>
                    <a:p>
                      <a:r>
                        <a:rPr lang="ru-RU" b="1" dirty="0"/>
                        <a:t>Тайм менеджмент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5777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uk-UA" b="1" dirty="0" err="1">
                          <a:effectLst/>
                        </a:rPr>
                        <a:t>Организационная</a:t>
                      </a:r>
                      <a:r>
                        <a:rPr lang="uk-UA" b="1" dirty="0">
                          <a:effectLst/>
                        </a:rPr>
                        <a:t> структура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Иерархическая</a:t>
                      </a:r>
                      <a:endParaRPr lang="uk-UA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uk-UA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Проектные</a:t>
                      </a:r>
                      <a:r>
                        <a:rPr lang="uk-UA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uk-UA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команды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61203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65663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err="1"/>
              <a:t>Определяемый</a:t>
            </a:r>
            <a:r>
              <a:rPr lang="uk-UA" dirty="0"/>
              <a:t> (</a:t>
            </a:r>
            <a:r>
              <a:rPr lang="uk-UA" dirty="0" err="1"/>
              <a:t>Стандартизуемый</a:t>
            </a:r>
            <a:r>
              <a:rPr lang="uk-UA" dirty="0"/>
              <a:t>)</a:t>
            </a:r>
            <a:endParaRPr lang="en-US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617555"/>
              </p:ext>
            </p:extLst>
          </p:nvPr>
        </p:nvGraphicFramePr>
        <p:xfrm>
          <a:off x="1096963" y="1916113"/>
          <a:ext cx="10058400" cy="37490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997219">
                  <a:extLst>
                    <a:ext uri="{9D8B030D-6E8A-4147-A177-3AD203B41FA5}">
                      <a16:colId xmlns:a16="http://schemas.microsoft.com/office/drawing/2014/main" val="3767728392"/>
                    </a:ext>
                  </a:extLst>
                </a:gridCol>
                <a:gridCol w="8061181">
                  <a:extLst>
                    <a:ext uri="{9D8B030D-6E8A-4147-A177-3AD203B41FA5}">
                      <a16:colId xmlns:a16="http://schemas.microsoft.com/office/drawing/2014/main" val="25726782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b="1" dirty="0"/>
                        <a:t>Процессы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Процессы определены на уровне всей организации. </a:t>
                      </a:r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Процессы определяются заблаговременно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Процессы конструируются от начала (от источников) к результату (к потребителю)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5759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uk-UA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Предсказуемость</a:t>
                      </a:r>
                      <a:r>
                        <a:rPr lang="uk-UA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uk-UA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результата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Может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достичь результата в </a:t>
                      </a:r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срок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и </a:t>
                      </a:r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качественно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8829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uk-UA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Возможные</a:t>
                      </a:r>
                      <a:r>
                        <a:rPr lang="uk-UA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риски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Возможно с превышением бюджета</a:t>
                      </a:r>
                      <a:endParaRPr lang="en-US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5263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uk-UA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Методы</a:t>
                      </a:r>
                      <a:r>
                        <a:rPr lang="uk-UA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uk-UA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управления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Ситуационное</a:t>
                      </a:r>
                      <a:r>
                        <a:rPr lang="uk-UA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uk-UA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управление</a:t>
                      </a:r>
                      <a:r>
                        <a:rPr lang="uk-UA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(«</a:t>
                      </a: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 hoc»)</a:t>
                      </a:r>
                      <a:r>
                        <a:rPr lang="ru-RU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uk-U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Контроль </a:t>
                      </a:r>
                      <a:r>
                        <a:rPr lang="uk-UA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исполнения</a:t>
                      </a:r>
                      <a:r>
                        <a:rPr lang="uk-U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поручений, </a:t>
                      </a:r>
                      <a:endParaRPr lang="ru-RU" b="0" dirty="0"/>
                    </a:p>
                    <a:p>
                      <a:r>
                        <a:rPr lang="ru-RU" b="0" dirty="0"/>
                        <a:t>Управление проектами, Тайм менеджмент</a:t>
                      </a:r>
                    </a:p>
                    <a:p>
                      <a:r>
                        <a:rPr lang="uk-UA" b="1" dirty="0" err="1"/>
                        <a:t>Управление</a:t>
                      </a:r>
                      <a:r>
                        <a:rPr lang="uk-UA" b="1" dirty="0"/>
                        <a:t> </a:t>
                      </a:r>
                      <a:r>
                        <a:rPr lang="uk-UA" b="1" dirty="0" err="1"/>
                        <a:t>процессами</a:t>
                      </a:r>
                      <a:r>
                        <a:rPr lang="uk-UA" b="1" dirty="0"/>
                        <a:t>, </a:t>
                      </a:r>
                      <a:r>
                        <a:rPr lang="uk-UA" b="1" dirty="0" err="1"/>
                        <a:t>Управление</a:t>
                      </a:r>
                      <a:r>
                        <a:rPr lang="uk-UA" b="1" dirty="0"/>
                        <a:t> </a:t>
                      </a:r>
                      <a:r>
                        <a:rPr lang="uk-UA" b="1" dirty="0" err="1"/>
                        <a:t>качеством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5777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uk-UA" b="1" dirty="0" err="1">
                          <a:effectLst/>
                        </a:rPr>
                        <a:t>Организационная</a:t>
                      </a:r>
                      <a:r>
                        <a:rPr lang="uk-UA" b="1" dirty="0">
                          <a:effectLst/>
                        </a:rPr>
                        <a:t> структура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Иерархическая, </a:t>
                      </a:r>
                      <a:r>
                        <a:rPr lang="uk-UA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Проектные</a:t>
                      </a:r>
                      <a:r>
                        <a:rPr lang="uk-U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uk-UA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команды</a:t>
                      </a:r>
                      <a:endParaRPr lang="uk-UA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uk-UA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Конвейеры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61203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01992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err="1"/>
              <a:t>Измеряемый</a:t>
            </a:r>
            <a:endParaRPr lang="en-US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8160258"/>
              </p:ext>
            </p:extLst>
          </p:nvPr>
        </p:nvGraphicFramePr>
        <p:xfrm>
          <a:off x="1096963" y="1916113"/>
          <a:ext cx="10058400" cy="42976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997219">
                  <a:extLst>
                    <a:ext uri="{9D8B030D-6E8A-4147-A177-3AD203B41FA5}">
                      <a16:colId xmlns:a16="http://schemas.microsoft.com/office/drawing/2014/main" val="3767728392"/>
                    </a:ext>
                  </a:extLst>
                </a:gridCol>
                <a:gridCol w="8061181">
                  <a:extLst>
                    <a:ext uri="{9D8B030D-6E8A-4147-A177-3AD203B41FA5}">
                      <a16:colId xmlns:a16="http://schemas.microsoft.com/office/drawing/2014/main" val="25726782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b="1" dirty="0"/>
                        <a:t>Процессы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Процессы </a:t>
                      </a:r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измеряются и контролируются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Процессы конструируются «наоборот» — от ожидаемого результата (от потребителя) к началу (к источникам)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5759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uk-UA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Предсказуемость</a:t>
                      </a:r>
                      <a:r>
                        <a:rPr lang="uk-UA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uk-UA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результата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Может в срок, качественно и в рамках заранее определяемого </a:t>
                      </a:r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бюджета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8829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uk-UA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Возможные</a:t>
                      </a:r>
                      <a:r>
                        <a:rPr lang="uk-UA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риски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i="0" dirty="0"/>
                        <a:t>Минимальные риски в тактической перспективе.</a:t>
                      </a:r>
                    </a:p>
                    <a:p>
                      <a:r>
                        <a:rPr lang="ru-RU" i="0" dirty="0"/>
                        <a:t>Возможны риски в стратегической перспективе</a:t>
                      </a:r>
                      <a:endParaRPr lang="en-US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5263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uk-UA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Методы</a:t>
                      </a:r>
                      <a:r>
                        <a:rPr lang="uk-UA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uk-UA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управления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Ситуационное</a:t>
                      </a:r>
                      <a:r>
                        <a:rPr lang="uk-UA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uk-UA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управление</a:t>
                      </a:r>
                      <a:r>
                        <a:rPr lang="uk-UA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(«</a:t>
                      </a: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 hoc»)</a:t>
                      </a:r>
                      <a:r>
                        <a:rPr lang="ru-RU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uk-U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Контроль </a:t>
                      </a:r>
                      <a:r>
                        <a:rPr lang="uk-UA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исполнения</a:t>
                      </a:r>
                      <a:r>
                        <a:rPr lang="uk-U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поручений, </a:t>
                      </a:r>
                      <a:endParaRPr lang="ru-RU" b="0" dirty="0"/>
                    </a:p>
                    <a:p>
                      <a:r>
                        <a:rPr lang="ru-RU" b="0" dirty="0"/>
                        <a:t>Управление проектами, Тайм менеджмент, </a:t>
                      </a:r>
                      <a:r>
                        <a:rPr lang="uk-UA" b="0" dirty="0" err="1"/>
                        <a:t>Управление</a:t>
                      </a:r>
                      <a:r>
                        <a:rPr lang="uk-UA" b="0" dirty="0"/>
                        <a:t> </a:t>
                      </a:r>
                      <a:r>
                        <a:rPr lang="uk-UA" b="0" dirty="0" err="1"/>
                        <a:t>процессами</a:t>
                      </a:r>
                      <a:r>
                        <a:rPr lang="uk-UA" b="0" dirty="0"/>
                        <a:t>, </a:t>
                      </a:r>
                      <a:r>
                        <a:rPr lang="uk-UA" b="0" dirty="0" err="1"/>
                        <a:t>Управление</a:t>
                      </a:r>
                      <a:r>
                        <a:rPr lang="uk-UA" b="0" dirty="0"/>
                        <a:t> </a:t>
                      </a:r>
                      <a:r>
                        <a:rPr lang="uk-UA" b="0" dirty="0" err="1"/>
                        <a:t>качеством</a:t>
                      </a:r>
                      <a:endParaRPr lang="uk-UA" b="0" dirty="0"/>
                    </a:p>
                    <a:p>
                      <a:r>
                        <a:rPr lang="ru-RU" b="1" dirty="0"/>
                        <a:t>Управление по целям (Стратегическое управление)</a:t>
                      </a:r>
                    </a:p>
                    <a:p>
                      <a:r>
                        <a:rPr lang="uk-UA" b="1" dirty="0" err="1"/>
                        <a:t>Управление</a:t>
                      </a:r>
                      <a:r>
                        <a:rPr lang="uk-UA" b="1" dirty="0"/>
                        <a:t> по </a:t>
                      </a:r>
                      <a:r>
                        <a:rPr lang="uk-UA" b="1" dirty="0" err="1"/>
                        <a:t>показателям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5777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uk-UA" b="1" dirty="0" err="1">
                          <a:effectLst/>
                        </a:rPr>
                        <a:t>Организационная</a:t>
                      </a:r>
                      <a:r>
                        <a:rPr lang="uk-UA" b="1" dirty="0">
                          <a:effectLst/>
                        </a:rPr>
                        <a:t> структура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Иерархическая, </a:t>
                      </a:r>
                      <a:r>
                        <a:rPr lang="uk-UA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Проектные</a:t>
                      </a:r>
                      <a:r>
                        <a:rPr lang="uk-U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uk-UA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команды</a:t>
                      </a:r>
                      <a:r>
                        <a:rPr lang="uk-U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uk-UA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Конвейеры</a:t>
                      </a:r>
                      <a:endParaRPr lang="uk-UA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Матричная</a:t>
                      </a:r>
                      <a:r>
                        <a:rPr lang="uk-UA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uk-UA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организационная</a:t>
                      </a:r>
                      <a:r>
                        <a:rPr lang="uk-UA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структура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61203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71397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err="1"/>
              <a:t>Оптимизируемый</a:t>
            </a:r>
            <a:endParaRPr lang="en-US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0519852"/>
              </p:ext>
            </p:extLst>
          </p:nvPr>
        </p:nvGraphicFramePr>
        <p:xfrm>
          <a:off x="1096963" y="1916113"/>
          <a:ext cx="10058400" cy="43027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997219">
                  <a:extLst>
                    <a:ext uri="{9D8B030D-6E8A-4147-A177-3AD203B41FA5}">
                      <a16:colId xmlns:a16="http://schemas.microsoft.com/office/drawing/2014/main" val="3767728392"/>
                    </a:ext>
                  </a:extLst>
                </a:gridCol>
                <a:gridCol w="8061181">
                  <a:extLst>
                    <a:ext uri="{9D8B030D-6E8A-4147-A177-3AD203B41FA5}">
                      <a16:colId xmlns:a16="http://schemas.microsoft.com/office/drawing/2014/main" val="25726782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b="1" dirty="0"/>
                        <a:t>Процессы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Фокус на </a:t>
                      </a:r>
                      <a:r>
                        <a:rPr lang="uk-UA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совершенствование</a:t>
                      </a:r>
                      <a:r>
                        <a:rPr lang="uk-U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uk-UA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процессов</a:t>
                      </a:r>
                      <a:endParaRPr lang="ru-RU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5759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uk-UA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Предсказуемость</a:t>
                      </a:r>
                      <a:r>
                        <a:rPr lang="uk-UA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uk-UA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результата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Может в срок, качественно, в рамках заранее определяемого бюджета, с </a:t>
                      </a:r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долгосрочным перспективным инновационным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лидерством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организации на рынке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8829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uk-UA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Возможные</a:t>
                      </a:r>
                      <a:r>
                        <a:rPr lang="uk-UA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риски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Минимальные риски в тактической и стратегической перспективах</a:t>
                      </a:r>
                      <a:endParaRPr lang="en-US" b="0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5263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uk-UA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Методы</a:t>
                      </a:r>
                      <a:r>
                        <a:rPr lang="uk-UA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uk-UA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управления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Ситуационное</a:t>
                      </a:r>
                      <a:r>
                        <a:rPr lang="uk-UA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uk-UA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управление</a:t>
                      </a:r>
                      <a:r>
                        <a:rPr lang="uk-UA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(«</a:t>
                      </a: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 hoc»)</a:t>
                      </a:r>
                      <a:r>
                        <a:rPr lang="ru-RU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uk-U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Контроль </a:t>
                      </a:r>
                      <a:r>
                        <a:rPr lang="uk-UA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исполнения</a:t>
                      </a:r>
                      <a:r>
                        <a:rPr lang="uk-U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поручений, </a:t>
                      </a:r>
                      <a:endParaRPr lang="ru-RU" b="0" dirty="0"/>
                    </a:p>
                    <a:p>
                      <a:r>
                        <a:rPr lang="ru-RU" b="0" dirty="0"/>
                        <a:t>Управление проектами, Тайм менеджмент, </a:t>
                      </a:r>
                      <a:r>
                        <a:rPr lang="uk-UA" b="0" dirty="0" err="1"/>
                        <a:t>Управление</a:t>
                      </a:r>
                      <a:r>
                        <a:rPr lang="uk-UA" b="0" dirty="0"/>
                        <a:t> </a:t>
                      </a:r>
                      <a:r>
                        <a:rPr lang="uk-UA" b="0" dirty="0" err="1"/>
                        <a:t>процессами</a:t>
                      </a:r>
                      <a:r>
                        <a:rPr lang="uk-UA" b="0" dirty="0"/>
                        <a:t>, </a:t>
                      </a:r>
                      <a:r>
                        <a:rPr lang="uk-UA" b="0" dirty="0" err="1"/>
                        <a:t>Управление</a:t>
                      </a:r>
                      <a:r>
                        <a:rPr lang="uk-UA" b="0" dirty="0"/>
                        <a:t> </a:t>
                      </a:r>
                      <a:r>
                        <a:rPr lang="uk-UA" b="0" dirty="0" err="1"/>
                        <a:t>качеством</a:t>
                      </a:r>
                      <a:r>
                        <a:rPr lang="uk-UA" b="0" dirty="0"/>
                        <a:t>, </a:t>
                      </a:r>
                      <a:r>
                        <a:rPr lang="ru-RU" b="0" dirty="0"/>
                        <a:t>Управление по целям (Стратегическое управление)</a:t>
                      </a:r>
                    </a:p>
                    <a:p>
                      <a:r>
                        <a:rPr lang="uk-UA" b="0" dirty="0" err="1"/>
                        <a:t>Управление</a:t>
                      </a:r>
                      <a:r>
                        <a:rPr lang="uk-UA" b="0" dirty="0"/>
                        <a:t> по </a:t>
                      </a:r>
                      <a:r>
                        <a:rPr lang="uk-UA" b="0" dirty="0" err="1"/>
                        <a:t>показателям</a:t>
                      </a:r>
                      <a:endParaRPr lang="uk-UA" b="0" dirty="0"/>
                    </a:p>
                    <a:p>
                      <a:r>
                        <a:rPr lang="uk-UA" b="1" dirty="0" err="1"/>
                        <a:t>Управление</a:t>
                      </a:r>
                      <a:r>
                        <a:rPr lang="uk-UA" b="1" dirty="0"/>
                        <a:t> </a:t>
                      </a:r>
                      <a:r>
                        <a:rPr lang="uk-UA" b="1" dirty="0" err="1"/>
                        <a:t>знаниями</a:t>
                      </a:r>
                      <a:r>
                        <a:rPr lang="uk-UA" b="1" dirty="0"/>
                        <a:t>, </a:t>
                      </a:r>
                      <a:r>
                        <a:rPr lang="uk-UA" b="1" dirty="0" err="1"/>
                        <a:t>Управление</a:t>
                      </a:r>
                      <a:r>
                        <a:rPr lang="uk-UA" b="1" dirty="0"/>
                        <a:t> </a:t>
                      </a:r>
                      <a:r>
                        <a:rPr lang="uk-UA" b="1" dirty="0" err="1"/>
                        <a:t>инновациями</a:t>
                      </a:r>
                      <a:r>
                        <a:rPr lang="uk-UA" b="1" dirty="0"/>
                        <a:t>, </a:t>
                      </a:r>
                      <a:r>
                        <a:rPr lang="uk-UA" b="1" dirty="0" err="1"/>
                        <a:t>Управление</a:t>
                      </a:r>
                      <a:r>
                        <a:rPr lang="uk-UA" b="1" dirty="0"/>
                        <a:t> </a:t>
                      </a:r>
                      <a:r>
                        <a:rPr lang="uk-UA" b="1" dirty="0" err="1"/>
                        <a:t>изменениями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5777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uk-UA" b="1" dirty="0" err="1">
                          <a:effectLst/>
                        </a:rPr>
                        <a:t>Организационная</a:t>
                      </a:r>
                      <a:r>
                        <a:rPr lang="uk-UA" b="1" dirty="0">
                          <a:effectLst/>
                        </a:rPr>
                        <a:t> структура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Иерархическая, </a:t>
                      </a:r>
                      <a:r>
                        <a:rPr lang="uk-UA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Проектные</a:t>
                      </a:r>
                      <a:r>
                        <a:rPr lang="uk-U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uk-UA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команды</a:t>
                      </a:r>
                      <a:r>
                        <a:rPr lang="uk-U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uk-UA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Конвейеры</a:t>
                      </a:r>
                      <a:endParaRPr lang="uk-UA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Матричная</a:t>
                      </a:r>
                      <a:r>
                        <a:rPr lang="uk-U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uk-UA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организационная</a:t>
                      </a:r>
                      <a:r>
                        <a:rPr lang="uk-U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структура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Сетевая</a:t>
                      </a:r>
                      <a:r>
                        <a:rPr lang="uk-UA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uk-UA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организационная</a:t>
                      </a:r>
                      <a:r>
                        <a:rPr lang="uk-UA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структура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61203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58509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F395E0-10E0-4863-BE52-0F4A27981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933" y="2213361"/>
            <a:ext cx="6592429" cy="2204815"/>
          </a:xfrm>
        </p:spPr>
        <p:txBody>
          <a:bodyPr>
            <a:normAutofit/>
          </a:bodyPr>
          <a:lstStyle/>
          <a:p>
            <a:pPr lvl="0" algn="l"/>
            <a:r>
              <a:rPr lang="ru-RU" sz="4400" dirty="0"/>
              <a:t>Типы компаний на рынке и их особенности</a:t>
            </a:r>
            <a:endParaRPr lang="en-US" sz="4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68B4C7-CF60-413E-BF81-3742A22D5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934" y="4418176"/>
            <a:ext cx="6247721" cy="1264209"/>
          </a:xfrm>
        </p:spPr>
        <p:txBody>
          <a:bodyPr>
            <a:normAutofit/>
          </a:bodyPr>
          <a:lstStyle/>
          <a:p>
            <a:pPr algn="l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Немного личного опыта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86742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61065-CAD0-495E-953A-AA1FA7961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Start-up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CEFB72-3543-4CBB-B50C-9E94F79D01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 одной стороны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967435-E7A1-480F-8BB4-1418D4B3C91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Небольшой семейный коллектив</a:t>
            </a:r>
          </a:p>
          <a:p>
            <a:r>
              <a:rPr lang="ru-RU" dirty="0"/>
              <a:t>Высоко мотивированная команда</a:t>
            </a:r>
          </a:p>
          <a:p>
            <a:r>
              <a:rPr lang="ru-RU" dirty="0"/>
              <a:t>Горизонтальная структура</a:t>
            </a:r>
          </a:p>
          <a:p>
            <a:r>
              <a:rPr lang="ru-RU" dirty="0"/>
              <a:t>Развитие интересной идеи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7AAFDF-8858-46E1-854D-E8022F2375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С другой стороны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3E00CD-6DE9-4075-B45C-4D285F973F0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ru-RU" dirty="0"/>
              <a:t>Отсутствие формализации и настроенных процессов</a:t>
            </a:r>
          </a:p>
          <a:p>
            <a:r>
              <a:rPr lang="ru-RU" dirty="0"/>
              <a:t>Высокий риск провала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58103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61065-CAD0-495E-953A-AA1FA7961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Небольшие компании 20-60 человек </a:t>
            </a:r>
            <a:br>
              <a:rPr lang="ru-RU" dirty="0"/>
            </a:br>
            <a:r>
              <a:rPr lang="ru-RU" dirty="0"/>
              <a:t>(компании семейного типа)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CEFB72-3543-4CBB-B50C-9E94F79D01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 одной стороны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967435-E7A1-480F-8BB4-1418D4B3C91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Небольшой семейный коллектив</a:t>
            </a:r>
          </a:p>
          <a:p>
            <a:r>
              <a:rPr lang="ru-RU" dirty="0"/>
              <a:t>Камерное рабочее место</a:t>
            </a:r>
          </a:p>
          <a:p>
            <a:r>
              <a:rPr lang="ru-RU" dirty="0"/>
              <a:t>Высоко мотивированная команда</a:t>
            </a:r>
          </a:p>
          <a:p>
            <a:r>
              <a:rPr lang="ru-RU" dirty="0"/>
              <a:t>Горизонтальная структура</a:t>
            </a:r>
          </a:p>
          <a:p>
            <a:r>
              <a:rPr lang="ru-RU" dirty="0"/>
              <a:t>Интересные проекты</a:t>
            </a:r>
          </a:p>
          <a:p>
            <a:r>
              <a:rPr lang="en-US" dirty="0"/>
              <a:t>HR-care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7AAFDF-8858-46E1-854D-E8022F2375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С другой стороны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3E00CD-6DE9-4075-B45C-4D285F973F0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ru-RU" dirty="0"/>
              <a:t>Отсутствие формализации и настроенных процессов (начальная стадия формализации)</a:t>
            </a:r>
          </a:p>
          <a:p>
            <a:r>
              <a:rPr lang="ru-RU" dirty="0"/>
              <a:t>Относительно низкий процент «живых» проектов</a:t>
            </a:r>
          </a:p>
          <a:p>
            <a:r>
              <a:rPr lang="ru-RU" dirty="0"/>
              <a:t>Невысокий потолок роста</a:t>
            </a:r>
          </a:p>
          <a:p>
            <a:r>
              <a:rPr lang="ru-RU" dirty="0"/>
              <a:t>Сомнительное качество клиентов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7443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61065-CAD0-495E-953A-AA1FA7961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Средние компании 100-</a:t>
            </a:r>
            <a:r>
              <a:rPr lang="en-US" dirty="0"/>
              <a:t>500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CEFB72-3543-4CBB-B50C-9E94F79D01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 одной стороны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967435-E7A1-480F-8BB4-1418D4B3C91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dirty="0"/>
              <a:t>Древовидная структура</a:t>
            </a:r>
          </a:p>
          <a:p>
            <a:r>
              <a:rPr lang="ru-RU" dirty="0"/>
              <a:t>Разнообразные проекты – как по домену, так и по длительности</a:t>
            </a:r>
          </a:p>
          <a:p>
            <a:r>
              <a:rPr lang="ru-RU" dirty="0"/>
              <a:t>Корпоративные программы и бонусы</a:t>
            </a:r>
          </a:p>
          <a:p>
            <a:r>
              <a:rPr lang="ru-RU" dirty="0"/>
              <a:t>Зачастую заказчики – крупные корпорации </a:t>
            </a:r>
          </a:p>
          <a:p>
            <a:r>
              <a:rPr lang="ru-RU" dirty="0"/>
              <a:t>Стремление к использованию «</a:t>
            </a:r>
            <a:r>
              <a:rPr lang="en-US" dirty="0"/>
              <a:t>best practice</a:t>
            </a:r>
            <a:r>
              <a:rPr lang="ru-RU" dirty="0"/>
              <a:t>» разработки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7AAFDF-8858-46E1-854D-E8022F2375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С другой стороны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3E00CD-6DE9-4075-B45C-4D285F973F0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ru-RU" dirty="0"/>
              <a:t>Процессы на стадии формирования и формализации </a:t>
            </a:r>
          </a:p>
          <a:p>
            <a:r>
              <a:rPr lang="ru-RU" dirty="0"/>
              <a:t>Один человек покрывает несколько ролей</a:t>
            </a:r>
          </a:p>
          <a:p>
            <a:r>
              <a:rPr lang="ru-RU" dirty="0"/>
              <a:t>Уменьшенная ценность каждого конкретного человека в общей картине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71630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61065-CAD0-495E-953A-AA1FA7961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Большие компании </a:t>
            </a:r>
            <a:r>
              <a:rPr lang="en-US" dirty="0"/>
              <a:t>500</a:t>
            </a:r>
            <a:r>
              <a:rPr lang="ru-RU" dirty="0"/>
              <a:t>+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CEFB72-3543-4CBB-B50C-9E94F79D01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 одной стороны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967435-E7A1-480F-8BB4-1418D4B3C9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707629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Древовидная структура</a:t>
            </a:r>
          </a:p>
          <a:p>
            <a:r>
              <a:rPr lang="ru-RU" dirty="0"/>
              <a:t>Разнообразные проекты – как по домену, так и по длительности</a:t>
            </a:r>
          </a:p>
          <a:p>
            <a:r>
              <a:rPr lang="ru-RU" dirty="0"/>
              <a:t>Корпоративные программы и бонусы</a:t>
            </a:r>
          </a:p>
          <a:p>
            <a:r>
              <a:rPr lang="ru-RU" dirty="0"/>
              <a:t>Почти все заказчики – крупные корпорации с длительными контрактами и возможностью командировок</a:t>
            </a:r>
          </a:p>
          <a:p>
            <a:r>
              <a:rPr lang="ru-RU" dirty="0"/>
              <a:t>Применение «</a:t>
            </a:r>
            <a:r>
              <a:rPr lang="en-US" dirty="0"/>
              <a:t>best practice</a:t>
            </a:r>
            <a:r>
              <a:rPr lang="ru-RU" dirty="0"/>
              <a:t>» разработки</a:t>
            </a:r>
          </a:p>
          <a:p>
            <a:r>
              <a:rPr lang="ru-RU" dirty="0"/>
              <a:t>Настроенные процессы</a:t>
            </a:r>
          </a:p>
          <a:p>
            <a:r>
              <a:rPr lang="ru-RU" dirty="0"/>
              <a:t>Высокий уровень формализации внутри компании</a:t>
            </a:r>
          </a:p>
          <a:p>
            <a:r>
              <a:rPr lang="ru-RU" dirty="0"/>
              <a:t>Возможность горизонтального перемещения и смены специализации</a:t>
            </a:r>
          </a:p>
          <a:p>
            <a:endParaRPr lang="ru-R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7AAFDF-8858-46E1-854D-E8022F2375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С другой стороны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3E00CD-6DE9-4075-B45C-4D285F973F0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ru-RU" sz="1700" dirty="0"/>
              <a:t>Высокий уровень бюрократии</a:t>
            </a:r>
          </a:p>
          <a:p>
            <a:r>
              <a:rPr lang="ru-RU" sz="1700" dirty="0"/>
              <a:t>Непроизводственная активность</a:t>
            </a:r>
          </a:p>
          <a:p>
            <a:r>
              <a:rPr lang="ru-RU" sz="1700" dirty="0"/>
              <a:t>Уменьшенная ценность каждого конкретного человека в общей картине</a:t>
            </a:r>
          </a:p>
          <a:p>
            <a:r>
              <a:rPr lang="ru-RU" sz="1700" dirty="0"/>
              <a:t>Команда со стороны заказчика вместо одной персоны клиента</a:t>
            </a:r>
          </a:p>
          <a:p>
            <a:r>
              <a:rPr lang="ru-RU" sz="1700" dirty="0"/>
              <a:t>Распределенные команды</a:t>
            </a:r>
          </a:p>
          <a:p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7200794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F395E0-10E0-4863-BE52-0F4A27981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933" y="2213361"/>
            <a:ext cx="6247721" cy="2204815"/>
          </a:xfrm>
        </p:spPr>
        <p:txBody>
          <a:bodyPr>
            <a:normAutofit/>
          </a:bodyPr>
          <a:lstStyle/>
          <a:p>
            <a:pPr lvl="0" algn="l"/>
            <a:r>
              <a:rPr lang="ru-RU" sz="4400" dirty="0"/>
              <a:t>Интервью</a:t>
            </a:r>
            <a:endParaRPr lang="en-US" sz="4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68B4C7-CF60-413E-BF81-3742A22D5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934" y="4418176"/>
            <a:ext cx="6247721" cy="1264209"/>
          </a:xfrm>
        </p:spPr>
        <p:txBody>
          <a:bodyPr>
            <a:normAutofit/>
          </a:bodyPr>
          <a:lstStyle/>
          <a:p>
            <a:pPr algn="l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77839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Кандидат</a:t>
            </a:r>
            <a:endParaRPr lang="en-US" dirty="0"/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Внешний вид</a:t>
            </a:r>
          </a:p>
          <a:p>
            <a:r>
              <a:rPr lang="ru-RU" dirty="0"/>
              <a:t>Бизнес этика</a:t>
            </a:r>
          </a:p>
          <a:p>
            <a:r>
              <a:rPr lang="ru-RU" dirty="0"/>
              <a:t>Достоверное и актуальное резюме</a:t>
            </a:r>
          </a:p>
          <a:p>
            <a:r>
              <a:rPr lang="ru-RU" dirty="0"/>
              <a:t>Встречные вопросы</a:t>
            </a:r>
          </a:p>
          <a:p>
            <a:r>
              <a:rPr lang="ru-RU" dirty="0"/>
              <a:t>Четкий и развернутый ответ</a:t>
            </a:r>
          </a:p>
          <a:p>
            <a:r>
              <a:rPr lang="ru-RU" dirty="0"/>
              <a:t>Уточнение вопросов при их не понимании</a:t>
            </a:r>
          </a:p>
          <a:p>
            <a:r>
              <a:rPr lang="ru-RU" dirty="0"/>
              <a:t>Умение думать</a:t>
            </a:r>
          </a:p>
          <a:p>
            <a:r>
              <a:rPr lang="ru-RU" dirty="0"/>
              <a:t>Устойчивость к стрессу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8279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753D08E-C9B6-4E35-91BC-1A3F12DF8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Интервьюэр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7EF4EA-57BD-431D-A6FE-F60C699A50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Норма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7C4F6-904D-4699-84BE-3CFD8622566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Внешний вид</a:t>
            </a:r>
          </a:p>
          <a:p>
            <a:r>
              <a:rPr lang="ru-RU" dirty="0"/>
              <a:t>Бизнес этика</a:t>
            </a:r>
          </a:p>
          <a:p>
            <a:r>
              <a:rPr lang="ru-RU" dirty="0"/>
              <a:t>Адекватные уровню вопросы</a:t>
            </a:r>
            <a:endParaRPr lang="en-US" dirty="0"/>
          </a:p>
          <a:p>
            <a:r>
              <a:rPr lang="ru-RU" dirty="0" err="1"/>
              <a:t>Ознакомленность</a:t>
            </a:r>
            <a:r>
              <a:rPr lang="ru-RU" dirty="0"/>
              <a:t> с вашим резюме</a:t>
            </a:r>
          </a:p>
          <a:p>
            <a:r>
              <a:rPr lang="ru-RU" dirty="0"/>
              <a:t>Развернутый отзыв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9620B6D-9D4E-482E-B1C6-BF0163E9E6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Девиации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6E0DFD2-0A1F-4539-83E9-7B81839772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0666"/>
            <a:ext cx="5105401" cy="3877555"/>
          </a:xfrm>
        </p:spPr>
        <p:txBody>
          <a:bodyPr>
            <a:normAutofit/>
          </a:bodyPr>
          <a:lstStyle/>
          <a:p>
            <a:r>
              <a:rPr lang="ru-RU" dirty="0"/>
              <a:t>Вопросы, на которые не знает ответ сам интервьер</a:t>
            </a:r>
          </a:p>
          <a:p>
            <a:r>
              <a:rPr lang="ru-RU" dirty="0"/>
              <a:t>Внутренние практики компании, выдаваемые за общие првила</a:t>
            </a:r>
          </a:p>
          <a:p>
            <a:r>
              <a:rPr lang="ru-RU" dirty="0"/>
              <a:t>Некорректное поведение интервьюера</a:t>
            </a:r>
          </a:p>
          <a:p>
            <a:r>
              <a:rPr lang="ru-RU" dirty="0"/>
              <a:t>Неознакомленность с резюме кандидата</a:t>
            </a:r>
          </a:p>
          <a:p>
            <a:r>
              <a:rPr lang="ru-RU" dirty="0"/>
              <a:t>Затянутый неоднозначный ответ или его </a:t>
            </a:r>
            <a:r>
              <a:rPr lang="ru-RU" dirty="0" err="1"/>
              <a:t>отсуствие</a:t>
            </a:r>
            <a:endParaRPr lang="ru-RU" dirty="0"/>
          </a:p>
          <a:p>
            <a:r>
              <a:rPr lang="ru-RU" dirty="0"/>
              <a:t>Вопросы-табу</a:t>
            </a:r>
          </a:p>
        </p:txBody>
      </p:sp>
    </p:spTree>
    <p:extLst>
      <p:ext uri="{BB962C8B-B14F-4D97-AF65-F5344CB8AC3E}">
        <p14:creationId xmlns:p14="http://schemas.microsoft.com/office/powerpoint/2010/main" val="5124393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Вопросы-табу</a:t>
            </a:r>
            <a:endParaRPr lang="en-US" dirty="0"/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Возраст</a:t>
            </a:r>
          </a:p>
          <a:p>
            <a:r>
              <a:rPr lang="ru-RU" dirty="0"/>
              <a:t>Место рождения</a:t>
            </a:r>
          </a:p>
          <a:p>
            <a:r>
              <a:rPr lang="ru-RU" dirty="0"/>
              <a:t>Семейный статус</a:t>
            </a:r>
          </a:p>
          <a:p>
            <a:r>
              <a:rPr lang="ru-RU" dirty="0"/>
              <a:t>Состояние здоровья</a:t>
            </a:r>
          </a:p>
          <a:p>
            <a:r>
              <a:rPr lang="ru-RU" dirty="0"/>
              <a:t>Религиозные взгляды</a:t>
            </a:r>
          </a:p>
          <a:p>
            <a:r>
              <a:rPr lang="ru-RU" dirty="0"/>
              <a:t>Политические взгляды</a:t>
            </a:r>
          </a:p>
          <a:p>
            <a:r>
              <a:rPr lang="ru-RU" dirty="0"/>
              <a:t>Финансовый статус</a:t>
            </a:r>
          </a:p>
          <a:p>
            <a:r>
              <a:rPr lang="ru-RU" dirty="0"/>
              <a:t>Вопросы о проектах, защищенных документом </a:t>
            </a:r>
            <a:r>
              <a:rPr lang="ru-RU"/>
              <a:t>о неразглашении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31147393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253</TotalTime>
  <Words>1062</Words>
  <Application>Microsoft Macintosh PowerPoint</Application>
  <PresentationFormat>Widescreen</PresentationFormat>
  <Paragraphs>209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Ретро</vt:lpstr>
      <vt:lpstr>Коммуникация с заказчиком, рынок ИТ и трудоустройство</vt:lpstr>
      <vt:lpstr>Коммуникация с заказчиком, рынок ИТ и трудоустройство</vt:lpstr>
      <vt:lpstr>Discovery phase</vt:lpstr>
      <vt:lpstr>Discovery phase</vt:lpstr>
      <vt:lpstr>Задачи Discovery phase</vt:lpstr>
      <vt:lpstr>Сферы ответственности на Discovery phase</vt:lpstr>
      <vt:lpstr>Подведение итогов поездки</vt:lpstr>
      <vt:lpstr>Командировки и взаимодействие с заказчиком</vt:lpstr>
      <vt:lpstr>Обеспечение успешности визита</vt:lpstr>
      <vt:lpstr>Правила общения с клиентом</vt:lpstr>
      <vt:lpstr>Уровни зрелости компаний</vt:lpstr>
      <vt:lpstr>Начальный</vt:lpstr>
      <vt:lpstr>Управляемый (Повторяемый)</vt:lpstr>
      <vt:lpstr>Определяемый (Стандартизуемый)</vt:lpstr>
      <vt:lpstr>Измеряемый</vt:lpstr>
      <vt:lpstr>Оптимизируемый</vt:lpstr>
      <vt:lpstr>Типы компаний на рынке и их особенности</vt:lpstr>
      <vt:lpstr>Start-up</vt:lpstr>
      <vt:lpstr>Небольшие компании 20-60 человек  (компании семейного типа)</vt:lpstr>
      <vt:lpstr>Средние компании 100-500</vt:lpstr>
      <vt:lpstr>Большие компании 500+</vt:lpstr>
      <vt:lpstr>Интервью</vt:lpstr>
      <vt:lpstr>Кандидат</vt:lpstr>
      <vt:lpstr>Интервьюэр</vt:lpstr>
      <vt:lpstr>Вопросы-табу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Коммуникация с заказчиком, рынок ИТ и трудоустройство</dc:title>
  <dc:creator>Olesia Popova</dc:creator>
  <cp:lastModifiedBy>Olesia Popova</cp:lastModifiedBy>
  <cp:revision>16</cp:revision>
  <dcterms:created xsi:type="dcterms:W3CDTF">2019-09-04T13:11:35Z</dcterms:created>
  <dcterms:modified xsi:type="dcterms:W3CDTF">2020-10-06T17:58:30Z</dcterms:modified>
</cp:coreProperties>
</file>