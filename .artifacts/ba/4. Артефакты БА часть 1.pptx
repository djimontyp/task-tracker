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26"/>
  </p:notesMasterIdLst>
  <p:sldIdLst>
    <p:sldId id="377" r:id="rId2"/>
    <p:sldId id="256" r:id="rId3"/>
    <p:sldId id="322" r:id="rId4"/>
    <p:sldId id="295" r:id="rId5"/>
    <p:sldId id="258" r:id="rId6"/>
    <p:sldId id="329" r:id="rId7"/>
    <p:sldId id="307" r:id="rId8"/>
    <p:sldId id="339" r:id="rId9"/>
    <p:sldId id="342" r:id="rId10"/>
    <p:sldId id="340" r:id="rId11"/>
    <p:sldId id="343" r:id="rId12"/>
    <p:sldId id="341" r:id="rId13"/>
    <p:sldId id="330" r:id="rId14"/>
    <p:sldId id="310" r:id="rId15"/>
    <p:sldId id="371" r:id="rId16"/>
    <p:sldId id="370" r:id="rId17"/>
    <p:sldId id="374" r:id="rId18"/>
    <p:sldId id="373" r:id="rId19"/>
    <p:sldId id="369" r:id="rId20"/>
    <p:sldId id="367" r:id="rId21"/>
    <p:sldId id="375" r:id="rId22"/>
    <p:sldId id="376" r:id="rId23"/>
    <p:sldId id="332" r:id="rId24"/>
    <p:sldId id="33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92"/>
    <p:restoredTop sz="94557"/>
  </p:normalViewPr>
  <p:slideViewPr>
    <p:cSldViewPr snapToGrid="0">
      <p:cViewPr varScale="1">
        <p:scale>
          <a:sx n="87" d="100"/>
          <a:sy n="87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D2500-B019-4262-9B49-654EE9D04646}" type="datetimeFigureOut">
              <a:rPr lang="en-US" smtClean="0"/>
              <a:t>9/4/20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AF7D2-6C10-40FA-9925-04458E6FB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5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61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15886"/>
            <a:ext cx="10058400" cy="3953208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39F3-65FC-4E3B-ADF4-8C79DC6953D5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D506E-8AB4-4D47-A18C-48C2F3230E94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9015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08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985554"/>
            <a:ext cx="4937760" cy="3883539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985555"/>
            <a:ext cx="4937760" cy="388354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8910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915886"/>
            <a:ext cx="4937760" cy="66644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915886"/>
            <a:ext cx="4937760" cy="66644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7965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4094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876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9412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4451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0857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058645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7680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04.09.20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79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oKlKx-3Fc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tabula.com.ua/blog/chto-takoe-glossariy-i-zachem-on-nujen-perevodchikam/" TargetMode="External"/><Relationship Id="rId3" Type="http://schemas.openxmlformats.org/officeDocument/2006/relationships/hyperlink" Target="https://www.wildapricot.com/articles/how-to-write-meeting-minutes" TargetMode="External"/><Relationship Id="rId7" Type="http://schemas.openxmlformats.org/officeDocument/2006/relationships/hyperlink" Target="https://www.uplab.ru/blog/dorozhnaya-karta/" TargetMode="External"/><Relationship Id="rId2" Type="http://schemas.openxmlformats.org/officeDocument/2006/relationships/hyperlink" Target="https://www.beesapps.com/en/blog/9-steps-to-learn-how-to-write-meeting-minut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company/hygger/blog/352294/" TargetMode="External"/><Relationship Id="rId11" Type="http://schemas.openxmlformats.org/officeDocument/2006/relationships/hyperlink" Target="https://dou.ua/lenta/articles/definition-of-done/" TargetMode="External"/><Relationship Id="rId5" Type="http://schemas.openxmlformats.org/officeDocument/2006/relationships/hyperlink" Target="https://it.rfei.ru/course/~jRzS/~PzPM/~Ldfk" TargetMode="External"/><Relationship Id="rId10" Type="http://schemas.openxmlformats.org/officeDocument/2006/relationships/hyperlink" Target="https://habr.com/ru/post/417101/" TargetMode="External"/><Relationship Id="rId4" Type="http://schemas.openxmlformats.org/officeDocument/2006/relationships/hyperlink" Target="https://www.slideshare.net/guest4a79da/vision-and-scope-document" TargetMode="External"/><Relationship Id="rId9" Type="http://schemas.openxmlformats.org/officeDocument/2006/relationships/hyperlink" Target="https://bizzapps.ru/b/dev-checklis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5A91C-50F8-134B-BDB2-83CEA99A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</a:t>
            </a:r>
            <a:r>
              <a:rPr lang="ru-RU" dirty="0" err="1"/>
              <a:t>домашках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44567-306F-C74C-BAD5-D79A99948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Deliverable</a:t>
            </a:r>
          </a:p>
          <a:p>
            <a:r>
              <a:rPr lang="en-US" dirty="0"/>
              <a:t>Accountable PM</a:t>
            </a:r>
          </a:p>
          <a:p>
            <a:r>
              <a:rPr lang="en-US" dirty="0"/>
              <a:t>Communication names - project meeting?</a:t>
            </a:r>
            <a:endParaRPr lang="ru-RU" dirty="0"/>
          </a:p>
          <a:p>
            <a:r>
              <a:rPr lang="en-US" dirty="0"/>
              <a:t>Where is your BA?</a:t>
            </a:r>
          </a:p>
          <a:p>
            <a:r>
              <a:rPr lang="en-US" dirty="0"/>
              <a:t>Communications in agile</a:t>
            </a:r>
          </a:p>
          <a:p>
            <a:r>
              <a:rPr lang="en-US" dirty="0"/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109131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Артефакты БА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Часть 1</a:t>
            </a: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Артефакты БА ч. 1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Meeting Minutes</a:t>
            </a:r>
            <a:r>
              <a:rPr lang="ru-RU" dirty="0"/>
              <a:t> / Протокол совещания</a:t>
            </a:r>
          </a:p>
          <a:p>
            <a:r>
              <a:rPr lang="en-US" dirty="0"/>
              <a:t>Glossary</a:t>
            </a:r>
            <a:r>
              <a:rPr lang="ru-RU" dirty="0"/>
              <a:t> / Глоссарий</a:t>
            </a:r>
            <a:endParaRPr lang="en-US" dirty="0"/>
          </a:p>
          <a:p>
            <a:r>
              <a:rPr lang="en-US" dirty="0"/>
              <a:t>Scope &amp; Vision</a:t>
            </a:r>
            <a:r>
              <a:rPr lang="ru-RU" dirty="0"/>
              <a:t> / Документ о концепции и границах</a:t>
            </a:r>
          </a:p>
          <a:p>
            <a:r>
              <a:rPr lang="en-US" dirty="0"/>
              <a:t>Feature list / </a:t>
            </a:r>
            <a:r>
              <a:rPr lang="ru-RU" dirty="0"/>
              <a:t>Список функций</a:t>
            </a:r>
            <a:endParaRPr lang="en-US" dirty="0"/>
          </a:p>
          <a:p>
            <a:r>
              <a:rPr lang="en-US"/>
              <a:t>DoD </a:t>
            </a:r>
            <a:r>
              <a:rPr lang="en-US" dirty="0"/>
              <a:t>&amp; </a:t>
            </a:r>
            <a:r>
              <a:rPr lang="en-US" dirty="0" err="1"/>
              <a:t>DoR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6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572C8-158B-4F62-8A03-7CABEA1F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9842885" cy="220481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Meeting minutes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08640-24C1-415C-9665-12E1221D4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Протокол совещания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316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Атрибуты </a:t>
            </a:r>
            <a:r>
              <a:rPr lang="en-US" dirty="0"/>
              <a:t>meeting minutes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Название совещания</a:t>
            </a:r>
          </a:p>
          <a:p>
            <a:r>
              <a:rPr lang="ru-RU" dirty="0"/>
              <a:t>Дата совещания</a:t>
            </a:r>
          </a:p>
          <a:p>
            <a:r>
              <a:rPr lang="ru-RU" dirty="0"/>
              <a:t>Участники совещания</a:t>
            </a:r>
          </a:p>
          <a:p>
            <a:r>
              <a:rPr lang="ru-RU" dirty="0"/>
              <a:t>Оговоренные вопросы</a:t>
            </a:r>
          </a:p>
          <a:p>
            <a:r>
              <a:rPr lang="ru-RU" dirty="0"/>
              <a:t>Принятые решения</a:t>
            </a:r>
          </a:p>
          <a:p>
            <a:r>
              <a:rPr lang="ru-RU" dirty="0"/>
              <a:t>Требуемые действия</a:t>
            </a:r>
          </a:p>
          <a:p>
            <a:r>
              <a:rPr lang="ru-RU" dirty="0"/>
              <a:t>Ответственные лица</a:t>
            </a:r>
          </a:p>
          <a:p>
            <a:r>
              <a:rPr lang="ru-RU" dirty="0"/>
              <a:t>Сроки выполнения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2780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1B953-F663-4EE1-90A8-700E7DDD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09D7AD05-57B2-4B0D-B07E-19FADCE6F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581" y="553777"/>
            <a:ext cx="7335859" cy="5707902"/>
          </a:xfrm>
        </p:spPr>
      </p:pic>
    </p:spTree>
    <p:extLst>
      <p:ext uri="{BB962C8B-B14F-4D97-AF65-F5344CB8AC3E}">
        <p14:creationId xmlns:p14="http://schemas.microsoft.com/office/powerpoint/2010/main" val="4014618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Glossary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Глоссарий или словарь терминов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965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41DC-044E-4D26-A8BD-B9684D7E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Глоссарий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44E8-3F7C-4BB0-B021-651D34DB9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собрание глосс </a:t>
            </a:r>
            <a:r>
              <a:rPr lang="en-US" dirty="0"/>
              <a:t>- </a:t>
            </a:r>
            <a:r>
              <a:rPr lang="ru-RU" dirty="0"/>
              <a:t>непонятных</a:t>
            </a:r>
            <a:r>
              <a:rPr lang="en-US" dirty="0"/>
              <a:t> </a:t>
            </a:r>
            <a:r>
              <a:rPr lang="ru-RU" dirty="0"/>
              <a:t>слов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</a:t>
            </a:r>
            <a:r>
              <a:rPr lang="ru-RU" dirty="0"/>
              <a:t>выражений</a:t>
            </a:r>
            <a:r>
              <a:rPr lang="en-US" dirty="0"/>
              <a:t> </a:t>
            </a:r>
            <a:r>
              <a:rPr lang="ru-RU" dirty="0"/>
              <a:t>с</a:t>
            </a:r>
            <a:r>
              <a:rPr lang="en-US" dirty="0"/>
              <a:t> </a:t>
            </a:r>
            <a:r>
              <a:rPr lang="ru-RU" dirty="0"/>
              <a:t>толкованием</a:t>
            </a:r>
            <a:r>
              <a:rPr lang="en-US" dirty="0"/>
              <a:t> </a:t>
            </a:r>
            <a:r>
              <a:rPr lang="ru-RU" dirty="0"/>
              <a:t>(толковый</a:t>
            </a:r>
            <a:r>
              <a:rPr lang="en-US" dirty="0"/>
              <a:t> </a:t>
            </a:r>
            <a:r>
              <a:rPr lang="ru-RU" dirty="0"/>
              <a:t>глоссарий)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</a:t>
            </a:r>
            <a:r>
              <a:rPr lang="ru-RU" dirty="0"/>
              <a:t>переводом</a:t>
            </a:r>
            <a:r>
              <a:rPr lang="en-US" dirty="0"/>
              <a:t> </a:t>
            </a:r>
            <a:r>
              <a:rPr lang="ru-RU" dirty="0"/>
              <a:t> надругой язык (переводной глоссарий).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FA93E-2506-4399-AF96-D78A3F6C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содержит глоссарий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E616-812B-49A9-BFDD-5D961089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ru-RU" dirty="0"/>
              <a:t>слова/термины;</a:t>
            </a:r>
          </a:p>
          <a:p>
            <a:pPr fontAlgn="base"/>
            <a:r>
              <a:rPr lang="ru-RU" dirty="0"/>
              <a:t>сокращения;</a:t>
            </a:r>
          </a:p>
          <a:p>
            <a:pPr fontAlgn="base"/>
            <a:r>
              <a:rPr lang="ru-RU" dirty="0"/>
              <a:t>жаргоны (присущие конкретной организации или отрасли);</a:t>
            </a:r>
          </a:p>
          <a:p>
            <a:pPr fontAlgn="base"/>
            <a:r>
              <a:rPr lang="ru-RU" dirty="0"/>
              <a:t>слоганы; описания;</a:t>
            </a:r>
          </a:p>
          <a:p>
            <a:pPr fontAlgn="base"/>
            <a:r>
              <a:rPr lang="ru-RU" dirty="0"/>
              <a:t>устойчивые выражения;</a:t>
            </a:r>
          </a:p>
          <a:p>
            <a:pPr fontAlgn="base"/>
            <a:r>
              <a:rPr lang="ru-RU" dirty="0"/>
              <a:t>термины без перевода.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132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0EDE-FD81-4845-AFF6-4B27BE71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Термин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668B-E059-4D87-BAEB-B07695E64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- слово, которое точно объясняет понятие, использующееся в определённой сфере науки. В отличие от общепринятых слов, термин бывает только однозначным, и он никогда не выражает какой-то эмоции.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0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1755C-70D0-4177-B85A-35E115E6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построения: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6A8F8-4686-46D1-9230-54457E328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алфавитном порядке;</a:t>
            </a:r>
          </a:p>
          <a:p>
            <a:r>
              <a:rPr lang="ru-RU" dirty="0"/>
              <a:t>по мере появления терминов в тексте.</a:t>
            </a:r>
          </a:p>
        </p:txBody>
      </p:sp>
    </p:spTree>
    <p:extLst>
      <p:ext uri="{BB962C8B-B14F-4D97-AF65-F5344CB8AC3E}">
        <p14:creationId xmlns:p14="http://schemas.microsoft.com/office/powerpoint/2010/main" val="312869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D650-BAF0-495A-A1E0-484048CC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построения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4B551-E1BD-4794-9DA7-7F59CEC3E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Полнота;</a:t>
            </a:r>
          </a:p>
          <a:p>
            <a:r>
              <a:rPr lang="ru-RU" dirty="0"/>
              <a:t>Структура и доступность;</a:t>
            </a:r>
          </a:p>
          <a:p>
            <a:r>
              <a:rPr lang="ru-RU" dirty="0"/>
              <a:t>Ссылки;</a:t>
            </a:r>
          </a:p>
          <a:p>
            <a:r>
              <a:rPr lang="ru-RU" dirty="0"/>
              <a:t>Корректность и понятность.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1011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572C8-158B-4F62-8A03-7CABEA1F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Scope &amp; 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08640-24C1-415C-9665-12E1221D4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Документ о концепции и границах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59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043709"/>
          </a:xfrm>
        </p:spPr>
        <p:txBody>
          <a:bodyPr>
            <a:normAutofit fontScale="90000"/>
          </a:bodyPr>
          <a:lstStyle/>
          <a:p>
            <a:r>
              <a:rPr lang="ru-RU" dirty="0"/>
              <a:t>Рекомендуемый шаблон документа о концепции и границах</a:t>
            </a:r>
            <a:r>
              <a:rPr lang="en-US" dirty="0"/>
              <a:t> (Vison &amp; Scope)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type="body" idx="1"/>
          </p:nvPr>
        </p:nvSpPr>
        <p:spPr>
          <a:xfrm>
            <a:off x="913774" y="1930401"/>
            <a:ext cx="3298976" cy="757382"/>
          </a:xfrm>
        </p:spPr>
        <p:txBody>
          <a:bodyPr anchor="t">
            <a:normAutofit/>
          </a:bodyPr>
          <a:lstStyle/>
          <a:p>
            <a:pPr algn="l"/>
            <a:r>
              <a:rPr lang="ru-RU" dirty="0"/>
              <a:t>1. Бизнес-требования</a:t>
            </a:r>
            <a:endParaRPr lang="uk-UA" dirty="0"/>
          </a:p>
        </p:txBody>
      </p:sp>
      <p:sp>
        <p:nvSpPr>
          <p:cNvPr id="6" name="Текст 5"/>
          <p:cNvSpPr>
            <a:spLocks noGrp="1"/>
          </p:cNvSpPr>
          <p:nvPr>
            <p:ph type="body" sz="half" idx="15"/>
          </p:nvPr>
        </p:nvSpPr>
        <p:spPr>
          <a:xfrm>
            <a:off x="913774" y="2687783"/>
            <a:ext cx="3298976" cy="3103417"/>
          </a:xfrm>
        </p:spPr>
        <p:txBody>
          <a:bodyPr>
            <a:normAutofit fontScale="92500"/>
          </a:bodyPr>
          <a:lstStyle/>
          <a:p>
            <a:pPr algn="l"/>
            <a:r>
              <a:rPr lang="ru-RU" sz="1800" dirty="0"/>
              <a:t>1.1 Исходные данные</a:t>
            </a:r>
            <a:endParaRPr lang="uk-UA" sz="1800" dirty="0"/>
          </a:p>
          <a:p>
            <a:pPr algn="l"/>
            <a:r>
              <a:rPr lang="ru-RU" sz="1800" dirty="0"/>
              <a:t>1.2 Возможности бизнеса</a:t>
            </a:r>
            <a:endParaRPr lang="uk-UA" sz="1800" dirty="0"/>
          </a:p>
          <a:p>
            <a:pPr algn="l"/>
            <a:r>
              <a:rPr lang="ru-RU" sz="1800" dirty="0"/>
              <a:t>1.3 Бизнес-цели</a:t>
            </a:r>
            <a:endParaRPr lang="uk-UA" sz="1800" dirty="0"/>
          </a:p>
          <a:p>
            <a:pPr algn="l"/>
            <a:r>
              <a:rPr lang="ru-RU" sz="1800" dirty="0"/>
              <a:t>1.4 Критерии успеха</a:t>
            </a:r>
            <a:endParaRPr lang="uk-UA" sz="1800" dirty="0"/>
          </a:p>
          <a:p>
            <a:pPr algn="l"/>
            <a:r>
              <a:rPr lang="ru-RU" sz="1800" dirty="0"/>
              <a:t>1.5 Положение о концепции проекта</a:t>
            </a:r>
            <a:endParaRPr lang="uk-UA" sz="1800" dirty="0"/>
          </a:p>
          <a:p>
            <a:pPr algn="l"/>
            <a:r>
              <a:rPr lang="ru-RU" sz="1800" dirty="0"/>
              <a:t>1.6 Бизнес-риски</a:t>
            </a:r>
            <a:endParaRPr lang="uk-UA" sz="1800" dirty="0"/>
          </a:p>
          <a:p>
            <a:pPr algn="l"/>
            <a:r>
              <a:rPr lang="ru-RU" sz="1800" dirty="0"/>
              <a:t>1.7 Предположения и зависимости</a:t>
            </a:r>
            <a:endParaRPr lang="uk-UA" sz="1800" dirty="0"/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3"/>
          </p:nvPr>
        </p:nvSpPr>
        <p:spPr>
          <a:xfrm>
            <a:off x="4452389" y="1930401"/>
            <a:ext cx="3291521" cy="757382"/>
          </a:xfrm>
        </p:spPr>
        <p:txBody>
          <a:bodyPr anchor="t"/>
          <a:lstStyle/>
          <a:p>
            <a:pPr algn="l"/>
            <a:r>
              <a:rPr lang="ru-RU" dirty="0"/>
              <a:t>2. Рамки и ограничения проекта</a:t>
            </a:r>
            <a:endParaRPr lang="uk-UA" dirty="0"/>
          </a:p>
        </p:txBody>
      </p:sp>
      <p:sp>
        <p:nvSpPr>
          <p:cNvPr id="7" name="Текст 6"/>
          <p:cNvSpPr>
            <a:spLocks noGrp="1"/>
          </p:cNvSpPr>
          <p:nvPr>
            <p:ph type="body" sz="half" idx="16"/>
          </p:nvPr>
        </p:nvSpPr>
        <p:spPr>
          <a:xfrm>
            <a:off x="4441348" y="2687783"/>
            <a:ext cx="3303351" cy="3103417"/>
          </a:xfrm>
        </p:spPr>
        <p:txBody>
          <a:bodyPr/>
          <a:lstStyle/>
          <a:p>
            <a:pPr algn="l"/>
            <a:r>
              <a:rPr lang="ru-RU" sz="1800" dirty="0"/>
              <a:t>2.1 Основные функции</a:t>
            </a:r>
            <a:endParaRPr lang="uk-UA" sz="1800" dirty="0"/>
          </a:p>
          <a:p>
            <a:pPr algn="l"/>
            <a:r>
              <a:rPr lang="ru-RU" sz="1800" dirty="0"/>
              <a:t>2.2 Объем первоначально запланированной версии</a:t>
            </a:r>
            <a:endParaRPr lang="uk-UA" sz="1800" dirty="0"/>
          </a:p>
          <a:p>
            <a:pPr algn="l"/>
            <a:r>
              <a:rPr lang="ru-RU" sz="1800" dirty="0"/>
              <a:t>2.3 Объем последующих версий</a:t>
            </a:r>
            <a:endParaRPr lang="uk-UA" sz="1800" dirty="0"/>
          </a:p>
          <a:p>
            <a:pPr algn="l"/>
            <a:r>
              <a:rPr lang="ru-RU" sz="1800" dirty="0"/>
              <a:t>2.4 Ограничения и исключения</a:t>
            </a:r>
            <a:endParaRPr lang="uk-UA" sz="180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/>
          </p:nvPr>
        </p:nvSpPr>
        <p:spPr>
          <a:xfrm>
            <a:off x="7973298" y="1930401"/>
            <a:ext cx="3304928" cy="757382"/>
          </a:xfrm>
        </p:spPr>
        <p:txBody>
          <a:bodyPr anchor="t"/>
          <a:lstStyle/>
          <a:p>
            <a:pPr algn="l"/>
            <a:r>
              <a:rPr lang="ru-RU" dirty="0"/>
              <a:t>3. Бизнес-контекст</a:t>
            </a:r>
            <a:endParaRPr lang="uk-UA" dirty="0"/>
          </a:p>
        </p:txBody>
      </p:sp>
      <p:sp>
        <p:nvSpPr>
          <p:cNvPr id="8" name="Текст 7"/>
          <p:cNvSpPr>
            <a:spLocks noGrp="1"/>
          </p:cNvSpPr>
          <p:nvPr>
            <p:ph type="body" sz="half" idx="17"/>
          </p:nvPr>
        </p:nvSpPr>
        <p:spPr>
          <a:xfrm>
            <a:off x="7973298" y="2687783"/>
            <a:ext cx="3304928" cy="3103417"/>
          </a:xfrm>
        </p:spPr>
        <p:txBody>
          <a:bodyPr>
            <a:normAutofit/>
          </a:bodyPr>
          <a:lstStyle/>
          <a:p>
            <a:pPr algn="l"/>
            <a:r>
              <a:rPr lang="ru-RU" sz="1800" dirty="0"/>
              <a:t>3.1 Профили заинтересованных лиц</a:t>
            </a:r>
            <a:endParaRPr lang="uk-UA" sz="1800" dirty="0"/>
          </a:p>
          <a:p>
            <a:pPr algn="l"/>
            <a:r>
              <a:rPr lang="ru-RU" sz="1800" dirty="0"/>
              <a:t>3.2 Приоритеты проекта</a:t>
            </a:r>
            <a:endParaRPr lang="uk-UA" sz="1800" dirty="0"/>
          </a:p>
          <a:p>
            <a:pPr algn="l"/>
            <a:r>
              <a:rPr lang="ru-RU" sz="1800" dirty="0"/>
              <a:t>3.3 Особенности развертывания</a:t>
            </a:r>
            <a:endParaRPr lang="uk-UA" sz="1800" dirty="0"/>
          </a:p>
          <a:p>
            <a:pPr algn="l"/>
            <a:endParaRPr lang="uk-UA" sz="1800" dirty="0"/>
          </a:p>
        </p:txBody>
      </p:sp>
    </p:spTree>
    <p:extLst>
      <p:ext uri="{BB962C8B-B14F-4D97-AF65-F5344CB8AC3E}">
        <p14:creationId xmlns:p14="http://schemas.microsoft.com/office/powerpoint/2010/main" val="1025009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572C8-158B-4F62-8A03-7CABEA1F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Feature list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08640-24C1-415C-9665-12E1221D4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Список функций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345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miro.medium.com/max/3080/1*WjLbSA3i_MZ8ZQDG5Eluw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276" y="260645"/>
            <a:ext cx="7499447" cy="589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3338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odesuite Functionality List - IS48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9248" y="267856"/>
            <a:ext cx="7362825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422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35" y="960581"/>
            <a:ext cx="11250350" cy="433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86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4" y="2213361"/>
            <a:ext cx="8291176" cy="2204815"/>
          </a:xfrm>
        </p:spPr>
        <p:txBody>
          <a:bodyPr>
            <a:noAutofit/>
          </a:bodyPr>
          <a:lstStyle/>
          <a:p>
            <a:r>
              <a:rPr lang="en-US" dirty="0"/>
              <a:t>Definition of Ready (</a:t>
            </a:r>
            <a:r>
              <a:rPr lang="en-US" dirty="0" err="1"/>
              <a:t>DoR</a:t>
            </a:r>
            <a:r>
              <a:rPr lang="en-US" dirty="0"/>
              <a:t>) &amp;</a:t>
            </a:r>
            <a:r>
              <a:rPr lang="ru-RU" dirty="0"/>
              <a:t> </a:t>
            </a:r>
            <a:r>
              <a:rPr lang="en-US" dirty="0"/>
              <a:t>Definition of Done (DoD)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Критерии готовности и критерии исполненности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298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DoR</a:t>
            </a:r>
            <a:r>
              <a:rPr lang="en-US" dirty="0"/>
              <a:t> &amp;</a:t>
            </a:r>
            <a:r>
              <a:rPr lang="ru-RU" dirty="0"/>
              <a:t> </a:t>
            </a:r>
            <a:r>
              <a:rPr lang="en-US" dirty="0"/>
              <a:t>DoD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of Ready</a:t>
            </a:r>
            <a:endParaRPr lang="uk-UA" dirty="0"/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— критерии готовности задачи к взятию в работу.</a:t>
            </a:r>
            <a:endParaRPr lang="uk-UA" dirty="0"/>
          </a:p>
          <a:p>
            <a:endParaRPr lang="en-US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Definition of Done</a:t>
            </a:r>
            <a:endParaRPr lang="uk-UA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— это набор критериев, которые позволяют понять, сделано ли то, что было целью разработки.</a:t>
            </a:r>
            <a:endParaRPr lang="uk-U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95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Практика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413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Meeting Minutes</a:t>
            </a:r>
            <a:r>
              <a:rPr lang="ru-RU" dirty="0"/>
              <a:t> / Протокол совещания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https://www.youtube.com/watch?v=UoKlKx-3FcA</a:t>
            </a:r>
            <a:endParaRPr lang="en-US" dirty="0"/>
          </a:p>
          <a:p>
            <a:r>
              <a:rPr lang="en-US" dirty="0"/>
              <a:t>Feature list / </a:t>
            </a:r>
            <a:r>
              <a:rPr lang="ru-RU" dirty="0"/>
              <a:t>Список функций</a:t>
            </a:r>
            <a:endParaRPr lang="en-US" dirty="0"/>
          </a:p>
          <a:p>
            <a:r>
              <a:rPr lang="en-US" dirty="0"/>
              <a:t>Roadmap</a:t>
            </a:r>
            <a:r>
              <a:rPr lang="ru-RU" dirty="0"/>
              <a:t> / Дорожная Карта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18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Дополнительные материалы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831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536DC-7644-4949-A894-630306A0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1819564"/>
            <a:ext cx="10363826" cy="44846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Meeting minutes: </a:t>
            </a:r>
            <a:r>
              <a:rPr lang="en-US" u="sng" dirty="0">
                <a:hlinkClick r:id="rId2"/>
              </a:rPr>
              <a:t>https</a:t>
            </a:r>
            <a:r>
              <a:rPr lang="ru-RU" u="sng" dirty="0">
                <a:hlinkClick r:id="rId2"/>
              </a:rPr>
              <a:t>://</a:t>
            </a:r>
            <a:r>
              <a:rPr lang="en-US" u="sng" dirty="0">
                <a:hlinkClick r:id="rId2"/>
              </a:rPr>
              <a:t>www</a:t>
            </a:r>
            <a:r>
              <a:rPr lang="ru-RU" u="sng" dirty="0">
                <a:hlinkClick r:id="rId2"/>
              </a:rPr>
              <a:t>.</a:t>
            </a:r>
            <a:r>
              <a:rPr lang="en-US" u="sng" dirty="0" err="1">
                <a:hlinkClick r:id="rId2"/>
              </a:rPr>
              <a:t>beesapps</a:t>
            </a:r>
            <a:r>
              <a:rPr lang="ru-RU" u="sng" dirty="0">
                <a:hlinkClick r:id="rId2"/>
              </a:rPr>
              <a:t>.</a:t>
            </a:r>
            <a:r>
              <a:rPr lang="en-US" u="sng" dirty="0">
                <a:hlinkClick r:id="rId2"/>
              </a:rPr>
              <a:t>com</a:t>
            </a:r>
            <a:r>
              <a:rPr lang="ru-RU" u="sng" dirty="0">
                <a:hlinkClick r:id="rId2"/>
              </a:rPr>
              <a:t>/</a:t>
            </a:r>
            <a:r>
              <a:rPr lang="en-US" u="sng" dirty="0" err="1">
                <a:hlinkClick r:id="rId2"/>
              </a:rPr>
              <a:t>en</a:t>
            </a:r>
            <a:r>
              <a:rPr lang="ru-RU" u="sng" dirty="0">
                <a:hlinkClick r:id="rId2"/>
              </a:rPr>
              <a:t>/</a:t>
            </a:r>
            <a:r>
              <a:rPr lang="en-US" u="sng" dirty="0">
                <a:hlinkClick r:id="rId2"/>
              </a:rPr>
              <a:t>blog</a:t>
            </a:r>
            <a:r>
              <a:rPr lang="ru-RU" u="sng" dirty="0">
                <a:hlinkClick r:id="rId2"/>
              </a:rPr>
              <a:t>/9-</a:t>
            </a:r>
            <a:r>
              <a:rPr lang="en-US" u="sng" dirty="0">
                <a:hlinkClick r:id="rId2"/>
              </a:rPr>
              <a:t>steps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to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learn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how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to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write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meeting</a:t>
            </a:r>
            <a:r>
              <a:rPr lang="ru-RU" u="sng" dirty="0">
                <a:hlinkClick r:id="rId2"/>
              </a:rPr>
              <a:t>-</a:t>
            </a:r>
            <a:r>
              <a:rPr lang="en-US" u="sng" dirty="0">
                <a:hlinkClick r:id="rId2"/>
              </a:rPr>
              <a:t>minutes</a:t>
            </a:r>
            <a:r>
              <a:rPr lang="ru-RU" u="sng" dirty="0">
                <a:hlinkClick r:id="rId2"/>
              </a:rPr>
              <a:t>/</a:t>
            </a:r>
            <a:endParaRPr lang="en-US" u="sng" dirty="0"/>
          </a:p>
          <a:p>
            <a:r>
              <a:rPr lang="en-US" dirty="0"/>
              <a:t>Meeting minutes: </a:t>
            </a:r>
            <a:r>
              <a:rPr lang="en-US" dirty="0">
                <a:hlinkClick r:id="rId3"/>
              </a:rPr>
              <a:t>https://www.wildapricot.com/articles/how-to-write-meeting-minutes</a:t>
            </a:r>
            <a:endParaRPr lang="en-US" dirty="0"/>
          </a:p>
          <a:p>
            <a:r>
              <a:rPr lang="en-US" dirty="0"/>
              <a:t>Visio &amp; Scope: </a:t>
            </a:r>
            <a:r>
              <a:rPr lang="en-US" dirty="0">
                <a:hlinkClick r:id="rId4"/>
              </a:rPr>
              <a:t>https://www.slideshare.net/guest4a79da/vision-and-scope-document</a:t>
            </a:r>
            <a:endParaRPr lang="en-US" dirty="0"/>
          </a:p>
          <a:p>
            <a:r>
              <a:rPr lang="en-US" dirty="0"/>
              <a:t>Visio &amp; Scope: </a:t>
            </a:r>
            <a:r>
              <a:rPr lang="en-US" dirty="0">
                <a:hlinkClick r:id="rId5"/>
              </a:rPr>
              <a:t>https://it.rfei.ru/course/~jRzS/~PzPM/~Ldfk</a:t>
            </a:r>
            <a:endParaRPr lang="ru-RU" dirty="0"/>
          </a:p>
          <a:p>
            <a:r>
              <a:rPr lang="en-US" dirty="0"/>
              <a:t>Roadmap: </a:t>
            </a:r>
            <a:r>
              <a:rPr lang="en-US" dirty="0">
                <a:hlinkClick r:id="rId6"/>
              </a:rPr>
              <a:t>https://habr.com/ru/company/hygger/blog/352294/</a:t>
            </a:r>
            <a:endParaRPr lang="ru-RU" dirty="0"/>
          </a:p>
          <a:p>
            <a:r>
              <a:rPr lang="en-US" dirty="0"/>
              <a:t>Roadmap: </a:t>
            </a:r>
            <a:r>
              <a:rPr lang="en-US" dirty="0">
                <a:hlinkClick r:id="rId7"/>
              </a:rPr>
              <a:t>https://www.uplab.ru/blog/dorozhnaya-karta/</a:t>
            </a:r>
            <a:endParaRPr lang="ru-RU" dirty="0"/>
          </a:p>
          <a:p>
            <a:r>
              <a:rPr lang="en-US" dirty="0"/>
              <a:t>Glossary: </a:t>
            </a:r>
            <a:r>
              <a:rPr lang="en-US" dirty="0">
                <a:hlinkClick r:id="rId8"/>
              </a:rPr>
              <a:t>https://tabula.com.ua/blog/chto-takoe-glossariy-i-zachem-on-nujen-perevodchikam/</a:t>
            </a:r>
            <a:endParaRPr lang="en-US" dirty="0"/>
          </a:p>
          <a:p>
            <a:r>
              <a:rPr lang="en-US" dirty="0"/>
              <a:t>DoD &amp; </a:t>
            </a:r>
            <a:r>
              <a:rPr lang="en-US" dirty="0" err="1"/>
              <a:t>DoR</a:t>
            </a:r>
            <a:r>
              <a:rPr lang="en-US" dirty="0"/>
              <a:t>: </a:t>
            </a:r>
            <a:r>
              <a:rPr lang="en-US" dirty="0">
                <a:hlinkClick r:id="rId9"/>
              </a:rPr>
              <a:t>https://bizzapps.ru/b/dev-checklists/</a:t>
            </a:r>
            <a:endParaRPr lang="en-US" dirty="0"/>
          </a:p>
          <a:p>
            <a:r>
              <a:rPr lang="en-US" dirty="0" err="1"/>
              <a:t>DoR</a:t>
            </a:r>
            <a:r>
              <a:rPr lang="en-US" dirty="0"/>
              <a:t> - </a:t>
            </a:r>
            <a:r>
              <a:rPr lang="en-US" dirty="0">
                <a:hlinkClick r:id="rId10"/>
              </a:rPr>
              <a:t>https://habr.com/ru/post/417101/</a:t>
            </a:r>
            <a:endParaRPr lang="en-US" dirty="0"/>
          </a:p>
          <a:p>
            <a:r>
              <a:rPr lang="en-US" dirty="0"/>
              <a:t>DoD - </a:t>
            </a:r>
            <a:r>
              <a:rPr lang="en-US" dirty="0">
                <a:hlinkClick r:id="rId11"/>
              </a:rPr>
              <a:t>https://dou.ua/lenta/articles/definition-of-done/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51918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4254</TotalTime>
  <Words>532</Words>
  <Application>Microsoft Macintosh PowerPoint</Application>
  <PresentationFormat>Widescreen</PresentationFormat>
  <Paragraphs>96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Ретро</vt:lpstr>
      <vt:lpstr>О домашках</vt:lpstr>
      <vt:lpstr>Артефакты БА</vt:lpstr>
      <vt:lpstr>Артефакты БА ч. 1</vt:lpstr>
      <vt:lpstr>Meeting minutes</vt:lpstr>
      <vt:lpstr>Атрибуты meeting minutes</vt:lpstr>
      <vt:lpstr>Пример</vt:lpstr>
      <vt:lpstr>Glossary</vt:lpstr>
      <vt:lpstr>Глоссарий</vt:lpstr>
      <vt:lpstr>Что содержит глоссарий</vt:lpstr>
      <vt:lpstr>Термин</vt:lpstr>
      <vt:lpstr>Методы построения:</vt:lpstr>
      <vt:lpstr>Принцип построения</vt:lpstr>
      <vt:lpstr>Scope &amp; Vision</vt:lpstr>
      <vt:lpstr>Рекомендуемый шаблон документа о концепции и границах (Vison &amp; Scope)</vt:lpstr>
      <vt:lpstr>Feature list</vt:lpstr>
      <vt:lpstr>PowerPoint Presentation</vt:lpstr>
      <vt:lpstr>PowerPoint Presentation</vt:lpstr>
      <vt:lpstr>PowerPoint Presentation</vt:lpstr>
      <vt:lpstr>Definition of Ready (DoR) &amp; Definition of Done (DoD)</vt:lpstr>
      <vt:lpstr>DoR &amp; DoD</vt:lpstr>
      <vt:lpstr>Практика</vt:lpstr>
      <vt:lpstr>PowerPoint Presentation</vt:lpstr>
      <vt:lpstr>Дополнительные материалы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</dc:title>
  <dc:creator>Olesia Korobko</dc:creator>
  <cp:lastModifiedBy>Olesia Popova</cp:lastModifiedBy>
  <cp:revision>80</cp:revision>
  <dcterms:created xsi:type="dcterms:W3CDTF">2019-07-08T17:35:39Z</dcterms:created>
  <dcterms:modified xsi:type="dcterms:W3CDTF">2020-09-05T14:40:32Z</dcterms:modified>
</cp:coreProperties>
</file>