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6"/>
  </p:notesMasterIdLst>
  <p:sldIdLst>
    <p:sldId id="256" r:id="rId2"/>
    <p:sldId id="322" r:id="rId3"/>
    <p:sldId id="368" r:id="rId4"/>
    <p:sldId id="460" r:id="rId5"/>
    <p:sldId id="366" r:id="rId6"/>
    <p:sldId id="424" r:id="rId7"/>
    <p:sldId id="425" r:id="rId8"/>
    <p:sldId id="426" r:id="rId9"/>
    <p:sldId id="427" r:id="rId10"/>
    <p:sldId id="436" r:id="rId11"/>
    <p:sldId id="458" r:id="rId12"/>
    <p:sldId id="437" r:id="rId13"/>
    <p:sldId id="462" r:id="rId14"/>
    <p:sldId id="461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48" r:id="rId24"/>
    <p:sldId id="422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29" r:id="rId35"/>
    <p:sldId id="438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420" r:id="rId44"/>
    <p:sldId id="41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5B7D964-BFCD-B540-8EA4-B91B1C938791}">
          <p14:sldIdLst>
            <p14:sldId id="256"/>
            <p14:sldId id="322"/>
          </p14:sldIdLst>
        </p14:section>
        <p14:section name="UX" id="{CA81A378-80E5-4F4A-996F-1760E2668CF0}">
          <p14:sldIdLst>
            <p14:sldId id="368"/>
            <p14:sldId id="460"/>
          </p14:sldIdLst>
        </p14:section>
        <p14:section name="Human Centered Design" id="{155BE967-9ACA-6646-9487-26E6C7D1F3CC}">
          <p14:sldIdLst>
            <p14:sldId id="366"/>
            <p14:sldId id="424"/>
            <p14:sldId id="425"/>
            <p14:sldId id="426"/>
            <p14:sldId id="427"/>
            <p14:sldId id="436"/>
            <p14:sldId id="458"/>
            <p14:sldId id="437"/>
          </p14:sldIdLst>
        </p14:section>
        <p14:section name="Информационная архитектура" id="{E19536B5-C6C3-3B49-8D7A-7FF2BFBD263D}">
          <p14:sldIdLst>
            <p14:sldId id="462"/>
            <p14:sldId id="461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</p14:sldIdLst>
        </p14:section>
        <p14:section name="Эвристики" id="{4157E9D1-BBA6-A240-BA8E-8DA613C3B214}">
          <p14:sldIdLst>
            <p14:sldId id="448"/>
            <p14:sldId id="422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</p14:sldIdLst>
        </p14:section>
        <p14:section name="Паттерны" id="{1FD1501E-A4D2-8B40-88FC-6FE26BE9161A}">
          <p14:sldIdLst>
            <p14:sldId id="429"/>
            <p14:sldId id="438"/>
            <p14:sldId id="441"/>
            <p14:sldId id="442"/>
            <p14:sldId id="443"/>
            <p14:sldId id="444"/>
            <p14:sldId id="445"/>
            <p14:sldId id="446"/>
            <p14:sldId id="447"/>
          </p14:sldIdLst>
        </p14:section>
        <p14:section name="Доп. литература" id="{DC368D65-6988-EC40-9F2C-8DECA71C6336}">
          <p14:sldIdLst>
            <p14:sldId id="420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7"/>
  </p:normalViewPr>
  <p:slideViewPr>
    <p:cSldViewPr snapToGrid="0">
      <p:cViewPr varScale="1">
        <p:scale>
          <a:sx n="76" d="100"/>
          <a:sy n="76" d="100"/>
        </p:scale>
        <p:origin x="2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579C-437B-4B88-BDE6-483EC68E97D4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690FE-35A5-4CCB-93D6-B8E58183C5A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76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087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3815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39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90660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6141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3318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2547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884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86024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23471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5313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907176"/>
            <a:ext cx="10058400" cy="39619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29.09.20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8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ui-patterns.com/" TargetMode="External"/><Relationship Id="rId2" Type="http://schemas.openxmlformats.org/officeDocument/2006/relationships/hyperlink" Target="https://artemokhrei.com/nielsen-heuristic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xexperience.net/ux-artifac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Основы </a:t>
            </a:r>
            <a:r>
              <a:rPr lang="en-US" dirty="0"/>
              <a:t>UX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</a:t>
            </a:r>
            <a:r>
              <a:rPr lang="en-US" dirty="0"/>
              <a:t>UX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</a:t>
            </a:r>
            <a:r>
              <a:rPr lang="en-US" dirty="0" err="1"/>
              <a:t>eXperience</a:t>
            </a:r>
            <a:r>
              <a:rPr lang="en-US" dirty="0"/>
              <a:t> </a:t>
            </a:r>
            <a:endParaRPr lang="ru-RU" dirty="0"/>
          </a:p>
          <a:p>
            <a:r>
              <a:rPr lang="en-US" dirty="0"/>
              <a:t>Human Centered Design</a:t>
            </a:r>
            <a:endParaRPr lang="ru-RU" dirty="0"/>
          </a:p>
          <a:p>
            <a:r>
              <a:rPr lang="ru-RU" dirty="0"/>
              <a:t>Информационная архитектура и навигация</a:t>
            </a:r>
          </a:p>
          <a:p>
            <a:r>
              <a:rPr lang="ru-RU" dirty="0"/>
              <a:t>Эвристики</a:t>
            </a:r>
          </a:p>
          <a:p>
            <a:r>
              <a:rPr lang="ru-RU" dirty="0"/>
              <a:t>Паттерны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UX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What is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163237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8ECD2F-C4C4-5349-899D-A851343B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vs UX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68AD31-8ECC-4045-8C7F-6C0B44AC3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496004-C136-CF4C-AAB5-006FEE0D2E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uk-UA" dirty="0"/>
              <a:t>ряд </a:t>
            </a:r>
            <a:r>
              <a:rPr lang="uk-UA" dirty="0" err="1"/>
              <a:t>экранов</a:t>
            </a:r>
            <a:r>
              <a:rPr lang="uk-UA" dirty="0"/>
              <a:t>, </a:t>
            </a:r>
            <a:r>
              <a:rPr lang="uk-UA" dirty="0" err="1"/>
              <a:t>страниц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визуальных</a:t>
            </a:r>
            <a:r>
              <a:rPr lang="uk-UA" dirty="0"/>
              <a:t> </a:t>
            </a:r>
            <a:r>
              <a:rPr lang="uk-UA" dirty="0" err="1"/>
              <a:t>элементов</a:t>
            </a:r>
            <a:r>
              <a:rPr lang="uk-UA" dirty="0"/>
              <a:t>, таких </a:t>
            </a:r>
            <a:r>
              <a:rPr lang="uk-UA" dirty="0" err="1"/>
              <a:t>как</a:t>
            </a:r>
            <a:r>
              <a:rPr lang="uk-UA" dirty="0"/>
              <a:t> кнопки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иконки</a:t>
            </a:r>
            <a:r>
              <a:rPr lang="uk-UA" dirty="0"/>
              <a:t>, </a:t>
            </a:r>
            <a:r>
              <a:rPr lang="uk-UA" dirty="0" err="1"/>
              <a:t>предназначенных</a:t>
            </a:r>
            <a:r>
              <a:rPr lang="uk-UA" dirty="0"/>
              <a:t> для </a:t>
            </a:r>
            <a:r>
              <a:rPr lang="uk-UA" dirty="0" err="1"/>
              <a:t>взаимодействия</a:t>
            </a:r>
            <a:r>
              <a:rPr lang="uk-UA" dirty="0"/>
              <a:t> с </a:t>
            </a:r>
            <a:r>
              <a:rPr lang="uk-UA" dirty="0" err="1"/>
              <a:t>устройством</a:t>
            </a:r>
            <a:r>
              <a:rPr lang="uk-UA" dirty="0"/>
              <a:t>.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1260DD-E06F-9140-9C3C-D94BBE240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experience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2B34AA-ABF3-7441-A1BF-C99E884797C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восприятие и ответные действия пользователя, возникающие в результате использования и/или предстоящего использования продукции, системы или услуги.</a:t>
            </a:r>
            <a:br>
              <a:rPr lang="uk-U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387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7441431" cy="2204815"/>
          </a:xfrm>
        </p:spPr>
        <p:txBody>
          <a:bodyPr>
            <a:normAutofit/>
          </a:bodyPr>
          <a:lstStyle/>
          <a:p>
            <a:r>
              <a:rPr lang="en-US" dirty="0"/>
              <a:t>Human Centered Design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r>
              <a:rPr lang="en-US" dirty="0"/>
              <a:t>Persona, User</a:t>
            </a:r>
            <a:r>
              <a:rPr lang="ru-RU" dirty="0"/>
              <a:t> </a:t>
            </a:r>
            <a:r>
              <a:rPr lang="en-US" dirty="0"/>
              <a:t>&amp; Wire Flow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06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E118-3CF2-4B14-9631-26DE339C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 / </a:t>
            </a:r>
            <a:r>
              <a:rPr lang="ru-RU" dirty="0"/>
              <a:t>Персона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B81F-2A19-40FF-8BA8-3123F1B3F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 — это созданный на основе реальных людей персонаж, который обладает своими поведенческими особенностями. Другими словами, персона — это описание одной из групп пользователей с их отличительными потребностями, задачами, жизненными сценариями и ситуациями.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446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11022837-1CB9-4D36-B382-5C40D52774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852" y="0"/>
            <a:ext cx="8240640" cy="6325513"/>
          </a:xfrm>
        </p:spPr>
      </p:pic>
    </p:spTree>
    <p:extLst>
      <p:ext uri="{BB962C8B-B14F-4D97-AF65-F5344CB8AC3E}">
        <p14:creationId xmlns:p14="http://schemas.microsoft.com/office/powerpoint/2010/main" val="2658172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22837-1CB9-4D36-B382-5C40D52774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44944" y="0"/>
            <a:ext cx="11087355" cy="6354618"/>
          </a:xfrm>
        </p:spPr>
      </p:pic>
    </p:spTree>
    <p:extLst>
      <p:ext uri="{BB962C8B-B14F-4D97-AF65-F5344CB8AC3E}">
        <p14:creationId xmlns:p14="http://schemas.microsoft.com/office/powerpoint/2010/main" val="405928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022837-1CB9-4D36-B382-5C40D527745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362217" y="2449"/>
            <a:ext cx="9527453" cy="6342500"/>
          </a:xfrm>
        </p:spPr>
      </p:pic>
    </p:spTree>
    <p:extLst>
      <p:ext uri="{BB962C8B-B14F-4D97-AF65-F5344CB8AC3E}">
        <p14:creationId xmlns:p14="http://schemas.microsoft.com/office/powerpoint/2010/main" val="261342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6960-A403-4834-984B-59872400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3088E-3FDC-4448-84DF-EAE9EC89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— это гибрид классической блок-схемы и элементов визуального интерфейса.</a:t>
            </a:r>
            <a:r>
              <a:rPr lang="ru-RU" b="1" dirty="0"/>
              <a:t> </a:t>
            </a:r>
            <a:r>
              <a:rPr lang="ru-RU" dirty="0"/>
              <a:t>В основе user flow лежат задачи, которые выполняет пользователь, а также возможные альтернативные исходы.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 основе сценария — User Flow — как правило, лежит порядок действий, которые должен выполнить пользователь.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06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E122-8EAF-4F2C-9523-1817D065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User Flow</a:t>
            </a:r>
          </a:p>
        </p:txBody>
      </p:sp>
      <p:pic>
        <p:nvPicPr>
          <p:cNvPr id="1028" name="Picture 4" descr="An example of a user flow used in UX desig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029" y="1906588"/>
            <a:ext cx="7044267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6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1E122-8EAF-4F2C-9523-1817D0651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Wire Flow</a:t>
            </a:r>
          </a:p>
        </p:txBody>
      </p:sp>
      <p:pic>
        <p:nvPicPr>
          <p:cNvPr id="9" name="Content Placeholder 8" descr="A picture containing sky&#10;&#10;Description automatically generated">
            <a:extLst>
              <a:ext uri="{FF2B5EF4-FFF2-40B4-BE49-F238E27FC236}">
                <a16:creationId xmlns:a16="http://schemas.microsoft.com/office/drawing/2014/main" id="{EEF38161-A6A6-450F-B736-82558A35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87" y="1846263"/>
            <a:ext cx="5911552" cy="4022725"/>
          </a:xfrm>
        </p:spPr>
      </p:pic>
    </p:spTree>
    <p:extLst>
      <p:ext uri="{BB962C8B-B14F-4D97-AF65-F5344CB8AC3E}">
        <p14:creationId xmlns:p14="http://schemas.microsoft.com/office/powerpoint/2010/main" val="119425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Информационная архитектура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И немного о навигации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378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A276F81-D668-074F-9663-1F83A913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Информационная</a:t>
            </a:r>
            <a:r>
              <a:rPr lang="uk-UA" dirty="0"/>
              <a:t> </a:t>
            </a:r>
            <a:r>
              <a:rPr lang="uk-UA" dirty="0" err="1"/>
              <a:t>архитектура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82F232-D936-FA47-92FB-FDFD281A0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— </a:t>
            </a:r>
            <a:r>
              <a:rPr lang="uk-UA" dirty="0" err="1"/>
              <a:t>сочетание</a:t>
            </a:r>
            <a:r>
              <a:rPr lang="uk-UA" dirty="0"/>
              <a:t> систем </a:t>
            </a:r>
            <a:r>
              <a:rPr lang="uk-UA" dirty="0" err="1"/>
              <a:t>организации</a:t>
            </a:r>
            <a:r>
              <a:rPr lang="uk-UA" dirty="0"/>
              <a:t>, </a:t>
            </a:r>
            <a:r>
              <a:rPr lang="uk-UA" dirty="0" err="1"/>
              <a:t>именования</a:t>
            </a:r>
            <a:r>
              <a:rPr lang="uk-UA" dirty="0"/>
              <a:t>, </a:t>
            </a:r>
            <a:r>
              <a:rPr lang="uk-UA" dirty="0" err="1"/>
              <a:t>навигации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 </a:t>
            </a:r>
            <a:r>
              <a:rPr lang="uk-UA" dirty="0" err="1"/>
              <a:t>поиска</a:t>
            </a:r>
            <a:r>
              <a:rPr lang="uk-UA" dirty="0"/>
              <a:t>, </a:t>
            </a:r>
            <a:r>
              <a:rPr lang="uk-UA" dirty="0" err="1"/>
              <a:t>реализованных</a:t>
            </a:r>
            <a:r>
              <a:rPr lang="uk-UA" dirty="0"/>
              <a:t> в </a:t>
            </a:r>
            <a:r>
              <a:rPr lang="uk-UA" dirty="0" err="1"/>
              <a:t>информационной</a:t>
            </a:r>
            <a:r>
              <a:rPr lang="uk-UA" dirty="0"/>
              <a:t> </a:t>
            </a:r>
            <a:r>
              <a:rPr lang="uk-UA" dirty="0" err="1"/>
              <a:t>системе</a:t>
            </a:r>
            <a:r>
              <a:rPr lang="uk-UA" dirty="0"/>
              <a:t>. На </a:t>
            </a:r>
            <a:r>
              <a:rPr lang="uk-UA" dirty="0" err="1"/>
              <a:t>уровне</a:t>
            </a:r>
            <a:r>
              <a:rPr lang="uk-UA" dirty="0"/>
              <a:t> </a:t>
            </a:r>
            <a:r>
              <a:rPr lang="uk-UA" dirty="0" err="1"/>
              <a:t>целого</a:t>
            </a:r>
            <a:r>
              <a:rPr lang="uk-UA" dirty="0"/>
              <a:t> веб-</a:t>
            </a:r>
            <a:r>
              <a:rPr lang="uk-UA" dirty="0" err="1"/>
              <a:t>сайта</a:t>
            </a:r>
            <a:r>
              <a:rPr lang="uk-UA" dirty="0"/>
              <a:t> </a:t>
            </a:r>
            <a:r>
              <a:rPr lang="uk-UA" dirty="0" err="1"/>
              <a:t>или</a:t>
            </a:r>
            <a:r>
              <a:rPr lang="uk-UA" dirty="0"/>
              <a:t> </a:t>
            </a:r>
            <a:r>
              <a:rPr lang="uk-UA" dirty="0" err="1"/>
              <a:t>приложения</a:t>
            </a:r>
            <a:r>
              <a:rPr lang="uk-UA" dirty="0"/>
              <a:t> </a:t>
            </a:r>
            <a:r>
              <a:rPr lang="uk-UA" dirty="0" err="1"/>
              <a:t>информационная</a:t>
            </a:r>
            <a:r>
              <a:rPr lang="uk-UA" dirty="0"/>
              <a:t> </a:t>
            </a:r>
            <a:r>
              <a:rPr lang="uk-UA" dirty="0" err="1"/>
              <a:t>архитектура</a:t>
            </a:r>
            <a:r>
              <a:rPr lang="uk-UA" dirty="0"/>
              <a:t> </a:t>
            </a:r>
            <a:r>
              <a:rPr lang="uk-UA" dirty="0" err="1"/>
              <a:t>определяет</a:t>
            </a:r>
            <a:r>
              <a:rPr lang="uk-UA" dirty="0"/>
              <a:t>, </a:t>
            </a:r>
            <a:r>
              <a:rPr lang="uk-UA" dirty="0" err="1"/>
              <a:t>какие</a:t>
            </a:r>
            <a:r>
              <a:rPr lang="uk-UA" dirty="0"/>
              <a:t> </a:t>
            </a:r>
            <a:r>
              <a:rPr lang="uk-UA" dirty="0" err="1"/>
              <a:t>данные</a:t>
            </a:r>
            <a:r>
              <a:rPr lang="uk-UA" dirty="0"/>
              <a:t> </a:t>
            </a:r>
            <a:r>
              <a:rPr lang="uk-UA" dirty="0" err="1"/>
              <a:t>должны</a:t>
            </a:r>
            <a:r>
              <a:rPr lang="uk-UA" dirty="0"/>
              <a:t> </a:t>
            </a:r>
            <a:r>
              <a:rPr lang="uk-UA" dirty="0" err="1"/>
              <a:t>быть</a:t>
            </a:r>
            <a:r>
              <a:rPr lang="uk-UA" dirty="0"/>
              <a:t> </a:t>
            </a:r>
            <a:r>
              <a:rPr lang="uk-UA" dirty="0" err="1"/>
              <a:t>размещены</a:t>
            </a:r>
            <a:r>
              <a:rPr lang="uk-UA" dirty="0"/>
              <a:t> на </a:t>
            </a:r>
            <a:r>
              <a:rPr lang="uk-UA" dirty="0" err="1"/>
              <a:t>каждой</a:t>
            </a:r>
            <a:r>
              <a:rPr lang="uk-UA" dirty="0"/>
              <a:t> </a:t>
            </a:r>
            <a:r>
              <a:rPr lang="uk-UA" dirty="0" err="1"/>
              <a:t>странице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</a:t>
            </a:r>
            <a:r>
              <a:rPr lang="uk-UA" dirty="0" err="1"/>
              <a:t>как</a:t>
            </a:r>
            <a:r>
              <a:rPr lang="uk-UA" dirty="0"/>
              <a:t> </a:t>
            </a:r>
            <a:r>
              <a:rPr lang="uk-UA" dirty="0" err="1"/>
              <a:t>связать</a:t>
            </a:r>
            <a:r>
              <a:rPr lang="uk-UA" dirty="0"/>
              <a:t> </a:t>
            </a:r>
            <a:r>
              <a:rPr lang="uk-UA" dirty="0" err="1"/>
              <a:t>страницы</a:t>
            </a:r>
            <a:r>
              <a:rPr lang="uk-UA" dirty="0"/>
              <a:t> друг с другом.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9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BB8D-50B9-8642-B2C9-14C5BFB1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Типы</a:t>
            </a:r>
            <a:r>
              <a:rPr lang="uk-UA" dirty="0"/>
              <a:t> </a:t>
            </a:r>
            <a:r>
              <a:rPr lang="uk-UA" dirty="0" err="1"/>
              <a:t>информационный</a:t>
            </a:r>
            <a:r>
              <a:rPr lang="uk-UA" dirty="0"/>
              <a:t> </a:t>
            </a:r>
            <a:r>
              <a:rPr lang="uk-UA" dirty="0" err="1"/>
              <a:t>архитектуры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1B53B-D3F1-3E45-AAFE-21DAB43A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err="1"/>
              <a:t>Категории</a:t>
            </a:r>
            <a:endParaRPr lang="uk-UA" dirty="0"/>
          </a:p>
          <a:p>
            <a:r>
              <a:rPr lang="uk-UA" dirty="0" err="1"/>
              <a:t>Задачи</a:t>
            </a:r>
            <a:endParaRPr lang="uk-UA" dirty="0"/>
          </a:p>
          <a:p>
            <a:r>
              <a:rPr lang="uk-UA" dirty="0" err="1"/>
              <a:t>Поиск</a:t>
            </a:r>
            <a:endParaRPr lang="uk-UA" dirty="0"/>
          </a:p>
          <a:p>
            <a:r>
              <a:rPr lang="uk-UA" dirty="0" err="1"/>
              <a:t>Время</a:t>
            </a:r>
            <a:endParaRPr lang="uk-UA" dirty="0"/>
          </a:p>
          <a:p>
            <a:r>
              <a:rPr lang="uk-UA" dirty="0"/>
              <a:t>Люди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920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F0DF-5532-524A-96F7-9B8CCDC7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Категории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58A3F-9666-2347-9885-E638A5142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Контент разбит на категории, и на этом принципе базируется навигация.</a:t>
            </a:r>
          </a:p>
          <a:p>
            <a:endParaRPr lang="ru-RU" dirty="0"/>
          </a:p>
          <a:p>
            <a:r>
              <a:rPr lang="ru-RU" dirty="0"/>
              <a:t>Часто имеет несколько уровней вложенности.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Онлайн магазины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781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09838-29B5-A34D-8A2F-36135075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Задачи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410A-06A1-6344-8344-BE025D4E0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основе архитектуры лежат задачи, которые пользователь решает на сайте.</a:t>
            </a:r>
          </a:p>
          <a:p>
            <a:endParaRPr lang="ru-RU" dirty="0"/>
          </a:p>
          <a:p>
            <a:r>
              <a:rPr lang="ru-RU" dirty="0"/>
              <a:t>Важно понимать спектр задач, решаемых вашими пользователями.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Банковские приложения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35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C44A-51B0-3243-877A-203C3844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Поиск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108D2-D7F9-A44A-85B4-5CE5AB8B3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Применим, когда </a:t>
            </a:r>
            <a:r>
              <a:rPr lang="uk-UA" dirty="0"/>
              <a:t>сайт </a:t>
            </a:r>
            <a:r>
              <a:rPr lang="uk-UA" dirty="0" err="1"/>
              <a:t>достаточно</a:t>
            </a:r>
            <a:r>
              <a:rPr lang="uk-UA" dirty="0"/>
              <a:t> </a:t>
            </a:r>
            <a:r>
              <a:rPr lang="uk-UA" dirty="0" err="1"/>
              <a:t>сложный</a:t>
            </a:r>
            <a:r>
              <a:rPr lang="uk-UA" dirty="0"/>
              <a:t> </a:t>
            </a:r>
            <a:r>
              <a:rPr lang="uk-UA" dirty="0" err="1"/>
              <a:t>или</a:t>
            </a:r>
            <a:r>
              <a:rPr lang="uk-UA" dirty="0"/>
              <a:t> </a:t>
            </a:r>
            <a:r>
              <a:rPr lang="uk-UA" dirty="0" err="1"/>
              <a:t>практически</a:t>
            </a:r>
            <a:r>
              <a:rPr lang="uk-UA" dirty="0"/>
              <a:t> </a:t>
            </a:r>
            <a:r>
              <a:rPr lang="uk-UA" dirty="0" err="1"/>
              <a:t>полностью</a:t>
            </a:r>
            <a:r>
              <a:rPr lang="uk-UA" dirty="0"/>
              <a:t> </a:t>
            </a:r>
            <a:r>
              <a:rPr lang="uk-UA" dirty="0" err="1"/>
              <a:t>состоит</a:t>
            </a:r>
            <a:r>
              <a:rPr lang="uk-UA" dirty="0"/>
              <a:t> </a:t>
            </a:r>
            <a:r>
              <a:rPr lang="uk-UA" dirty="0" err="1"/>
              <a:t>из</a:t>
            </a:r>
            <a:r>
              <a:rPr lang="uk-UA" dirty="0"/>
              <a:t> </a:t>
            </a:r>
            <a:r>
              <a:rPr lang="uk-UA" dirty="0" err="1"/>
              <a:t>контента</a:t>
            </a:r>
            <a:r>
              <a:rPr lang="uk-UA" dirty="0"/>
              <a:t>, </a:t>
            </a:r>
            <a:r>
              <a:rPr lang="uk-UA" dirty="0" err="1"/>
              <a:t>создаваемого</a:t>
            </a:r>
            <a:r>
              <a:rPr lang="uk-UA" dirty="0"/>
              <a:t> самими </a:t>
            </a:r>
            <a:r>
              <a:rPr lang="uk-UA" dirty="0" err="1"/>
              <a:t>пользователями</a:t>
            </a:r>
            <a:r>
              <a:rPr lang="uk-UA" dirty="0"/>
              <a:t>.</a:t>
            </a:r>
          </a:p>
          <a:p>
            <a:endParaRPr lang="uk-UA" dirty="0"/>
          </a:p>
          <a:p>
            <a:pPr marL="0" indent="0">
              <a:buNone/>
            </a:pPr>
            <a:r>
              <a:rPr lang="uk-UA" dirty="0"/>
              <a:t>Пример:</a:t>
            </a:r>
          </a:p>
          <a:p>
            <a:pPr marL="0" indent="0">
              <a:buNone/>
            </a:pPr>
            <a:r>
              <a:rPr lang="en-US" dirty="0" err="1"/>
              <a:t>YouYube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94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39DB-3906-884C-BD01-6C3B37E3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Время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E9D6-8926-D14C-93E8-82F7F8543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Архитектура построена на «возрасте», актуальности контента.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Почта, новостные ленты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90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662E8-0AD8-3C4B-826B-25546A41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Люди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3766-CDE7-CF4A-9B4E-FEA408C9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Дизайн </a:t>
            </a:r>
            <a:r>
              <a:rPr lang="uk-UA" dirty="0" err="1"/>
              <a:t>вращается</a:t>
            </a:r>
            <a:r>
              <a:rPr lang="uk-UA" dirty="0"/>
              <a:t> </a:t>
            </a:r>
            <a:r>
              <a:rPr lang="uk-UA" dirty="0" err="1"/>
              <a:t>вокруг</a:t>
            </a:r>
            <a:r>
              <a:rPr lang="uk-UA" dirty="0"/>
              <a:t> конкретного </a:t>
            </a:r>
            <a:r>
              <a:rPr lang="uk-UA" dirty="0" err="1"/>
              <a:t>человека</a:t>
            </a:r>
            <a:r>
              <a:rPr lang="uk-UA" dirty="0"/>
              <a:t> </a:t>
            </a:r>
            <a:r>
              <a:rPr lang="uk-UA" dirty="0" err="1"/>
              <a:t>и</a:t>
            </a:r>
            <a:r>
              <a:rPr lang="uk-UA" dirty="0"/>
              <a:t> его </a:t>
            </a:r>
            <a:r>
              <a:rPr lang="uk-UA" dirty="0" err="1"/>
              <a:t>отношений</a:t>
            </a:r>
            <a:r>
              <a:rPr lang="uk-UA" dirty="0"/>
              <a:t> с другими людьми.</a:t>
            </a:r>
          </a:p>
          <a:p>
            <a:endParaRPr lang="uk-UA" dirty="0"/>
          </a:p>
          <a:p>
            <a:pPr marL="0" indent="0">
              <a:buNone/>
            </a:pPr>
            <a:r>
              <a:rPr lang="uk-UA" dirty="0"/>
              <a:t>Пример:</a:t>
            </a:r>
          </a:p>
          <a:p>
            <a:pPr marL="0" indent="0">
              <a:buNone/>
            </a:pPr>
            <a:r>
              <a:rPr lang="uk-UA" dirty="0" err="1"/>
              <a:t>Соц</a:t>
            </a:r>
            <a:r>
              <a:rPr lang="uk-UA" dirty="0"/>
              <a:t>. Сети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i="1" dirty="0" err="1"/>
              <a:t>Примечание</a:t>
            </a:r>
            <a:r>
              <a:rPr lang="uk-UA" i="1" dirty="0"/>
              <a:t>:</a:t>
            </a:r>
          </a:p>
          <a:p>
            <a:pPr marL="0" indent="0">
              <a:buNone/>
            </a:pPr>
            <a:r>
              <a:rPr lang="en-US" i="1" dirty="0"/>
              <a:t>Facebook — </a:t>
            </a:r>
            <a:r>
              <a:rPr lang="uk-UA" i="1" dirty="0" err="1"/>
              <a:t>или</a:t>
            </a:r>
            <a:r>
              <a:rPr lang="uk-UA" i="1" dirty="0"/>
              <a:t> </a:t>
            </a:r>
            <a:r>
              <a:rPr lang="uk-UA" i="1" dirty="0" err="1"/>
              <a:t>любая</a:t>
            </a:r>
            <a:r>
              <a:rPr lang="uk-UA" i="1" dirty="0"/>
              <a:t> </a:t>
            </a:r>
            <a:r>
              <a:rPr lang="uk-UA" i="1" dirty="0" err="1"/>
              <a:t>другая</a:t>
            </a:r>
            <a:r>
              <a:rPr lang="uk-UA" i="1" dirty="0"/>
              <a:t> </a:t>
            </a:r>
            <a:r>
              <a:rPr lang="uk-UA" i="1" dirty="0" err="1"/>
              <a:t>социальная</a:t>
            </a:r>
            <a:r>
              <a:rPr lang="uk-UA" i="1" dirty="0"/>
              <a:t> </a:t>
            </a:r>
            <a:r>
              <a:rPr lang="uk-UA" i="1" dirty="0" err="1"/>
              <a:t>сеть</a:t>
            </a:r>
            <a:r>
              <a:rPr lang="uk-UA" i="1" dirty="0"/>
              <a:t> — </a:t>
            </a:r>
            <a:r>
              <a:rPr lang="uk-UA" i="1" dirty="0" err="1"/>
              <a:t>это</a:t>
            </a:r>
            <a:r>
              <a:rPr lang="uk-UA" i="1" dirty="0"/>
              <a:t> </a:t>
            </a:r>
            <a:r>
              <a:rPr lang="uk-UA" i="1" dirty="0" err="1"/>
              <a:t>информационная</a:t>
            </a:r>
            <a:r>
              <a:rPr lang="uk-UA" i="1" dirty="0"/>
              <a:t> </a:t>
            </a:r>
            <a:r>
              <a:rPr lang="uk-UA" i="1" dirty="0" err="1"/>
              <a:t>архитектура</a:t>
            </a:r>
            <a:r>
              <a:rPr lang="uk-UA" i="1" dirty="0"/>
              <a:t>, </a:t>
            </a:r>
            <a:r>
              <a:rPr lang="uk-UA" i="1" dirty="0" err="1"/>
              <a:t>построенная</a:t>
            </a:r>
            <a:r>
              <a:rPr lang="uk-UA" i="1" dirty="0"/>
              <a:t> на людях. А </a:t>
            </a:r>
            <a:r>
              <a:rPr lang="uk-UA" i="1" dirty="0" err="1"/>
              <a:t>вот</a:t>
            </a:r>
            <a:r>
              <a:rPr lang="uk-UA" i="1" dirty="0"/>
              <a:t> </a:t>
            </a:r>
            <a:r>
              <a:rPr lang="uk-UA" i="1" dirty="0" err="1"/>
              <a:t>внутри</a:t>
            </a:r>
            <a:r>
              <a:rPr lang="uk-UA" i="1" dirty="0"/>
              <a:t> </a:t>
            </a:r>
            <a:r>
              <a:rPr lang="uk-UA" i="1" dirty="0" err="1"/>
              <a:t>каждого</a:t>
            </a:r>
            <a:r>
              <a:rPr lang="uk-UA" i="1" dirty="0"/>
              <a:t> </a:t>
            </a:r>
            <a:r>
              <a:rPr lang="uk-UA" i="1" dirty="0" err="1"/>
              <a:t>профиля</a:t>
            </a:r>
            <a:r>
              <a:rPr lang="uk-UA" i="1" dirty="0"/>
              <a:t> </a:t>
            </a:r>
            <a:r>
              <a:rPr lang="en-US" i="1" dirty="0"/>
              <a:t>Facebook </a:t>
            </a:r>
            <a:r>
              <a:rPr lang="uk-UA" i="1" dirty="0" err="1"/>
              <a:t>использует</a:t>
            </a:r>
            <a:r>
              <a:rPr lang="uk-UA" i="1" dirty="0"/>
              <a:t> для </a:t>
            </a:r>
            <a:r>
              <a:rPr lang="uk-UA" i="1" dirty="0" err="1"/>
              <a:t>организации</a:t>
            </a:r>
            <a:r>
              <a:rPr lang="uk-UA" i="1" dirty="0"/>
              <a:t> </a:t>
            </a:r>
            <a:r>
              <a:rPr lang="uk-UA" i="1" dirty="0" err="1"/>
              <a:t>информации</a:t>
            </a:r>
            <a:r>
              <a:rPr lang="uk-UA" i="1" dirty="0"/>
              <a:t> систему </a:t>
            </a:r>
            <a:r>
              <a:rPr lang="uk-UA" i="1" dirty="0" err="1"/>
              <a:t>категорий</a:t>
            </a:r>
            <a:r>
              <a:rPr lang="uk-UA" i="1" dirty="0"/>
              <a:t> (</a:t>
            </a:r>
            <a:r>
              <a:rPr lang="uk-UA" i="1" dirty="0" err="1"/>
              <a:t>фотографии</a:t>
            </a:r>
            <a:r>
              <a:rPr lang="uk-UA" i="1" dirty="0"/>
              <a:t>, </a:t>
            </a:r>
            <a:r>
              <a:rPr lang="uk-UA" i="1" dirty="0" err="1"/>
              <a:t>друзья</a:t>
            </a:r>
            <a:r>
              <a:rPr lang="uk-UA" i="1" dirty="0"/>
              <a:t>, </a:t>
            </a:r>
            <a:r>
              <a:rPr lang="uk-UA" i="1" dirty="0" err="1"/>
              <a:t>места</a:t>
            </a:r>
            <a:r>
              <a:rPr lang="uk-UA" i="1" dirty="0"/>
              <a:t>).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61857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795D7E-F6A5-724F-A974-5BE15F73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Страктура</a:t>
            </a:r>
            <a:r>
              <a:rPr lang="ru-RU" dirty="0"/>
              <a:t> сайта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6FE341-DB08-6144-B9AE-95A5B9601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uk-UA" sz="1800" dirty="0" err="1"/>
              <a:t>будет</a:t>
            </a:r>
            <a:r>
              <a:rPr lang="uk-UA" sz="1800" dirty="0"/>
              <a:t> либо “</a:t>
            </a:r>
            <a:r>
              <a:rPr lang="uk-UA" sz="1800" dirty="0" err="1"/>
              <a:t>плоской</a:t>
            </a:r>
            <a:r>
              <a:rPr lang="uk-UA" sz="1800" dirty="0"/>
              <a:t>” (</a:t>
            </a:r>
            <a:r>
              <a:rPr lang="en-US" sz="1800" dirty="0"/>
              <a:t>flat) — </a:t>
            </a:r>
            <a:r>
              <a:rPr lang="uk-UA" sz="1800" dirty="0" err="1"/>
              <a:t>тогда</a:t>
            </a:r>
            <a:r>
              <a:rPr lang="uk-UA" sz="1800" dirty="0"/>
              <a:t> </a:t>
            </a:r>
            <a:r>
              <a:rPr lang="uk-UA" sz="1800" dirty="0" err="1"/>
              <a:t>будет</a:t>
            </a:r>
            <a:r>
              <a:rPr lang="uk-UA" sz="1800" dirty="0"/>
              <a:t> </a:t>
            </a:r>
            <a:r>
              <a:rPr lang="uk-UA" sz="1800" dirty="0" err="1"/>
              <a:t>больше</a:t>
            </a:r>
            <a:r>
              <a:rPr lang="uk-UA" sz="1800" dirty="0"/>
              <a:t> </a:t>
            </a:r>
            <a:r>
              <a:rPr lang="uk-UA" sz="1800" dirty="0" err="1"/>
              <a:t>секций</a:t>
            </a:r>
            <a:r>
              <a:rPr lang="uk-UA" sz="1800" dirty="0"/>
              <a:t> в меню, </a:t>
            </a:r>
            <a:r>
              <a:rPr lang="uk-UA" sz="1800" dirty="0" err="1"/>
              <a:t>зато</a:t>
            </a:r>
            <a:r>
              <a:rPr lang="uk-UA" sz="1800" dirty="0"/>
              <a:t> </a:t>
            </a:r>
            <a:r>
              <a:rPr lang="uk-UA" sz="1800" dirty="0" err="1"/>
              <a:t>понадобится</a:t>
            </a:r>
            <a:r>
              <a:rPr lang="uk-UA" sz="1800" dirty="0"/>
              <a:t> </a:t>
            </a:r>
            <a:r>
              <a:rPr lang="uk-UA" sz="1800" dirty="0" err="1"/>
              <a:t>меньше</a:t>
            </a:r>
            <a:r>
              <a:rPr lang="uk-UA" sz="1800" dirty="0"/>
              <a:t> </a:t>
            </a:r>
            <a:r>
              <a:rPr lang="uk-UA" sz="1800" dirty="0" err="1"/>
              <a:t>кликов</a:t>
            </a:r>
            <a:r>
              <a:rPr lang="uk-UA" sz="1800" dirty="0"/>
              <a:t>, </a:t>
            </a:r>
            <a:r>
              <a:rPr lang="uk-UA" sz="1800" dirty="0" err="1"/>
              <a:t>чтобы</a:t>
            </a:r>
            <a:r>
              <a:rPr lang="uk-UA" sz="1800" dirty="0"/>
              <a:t> </a:t>
            </a:r>
            <a:r>
              <a:rPr lang="uk-UA" sz="1800" dirty="0" err="1"/>
              <a:t>добраться</a:t>
            </a:r>
            <a:r>
              <a:rPr lang="uk-UA" sz="1800" dirty="0"/>
              <a:t> до самого </a:t>
            </a:r>
            <a:r>
              <a:rPr lang="uk-UA" sz="1800" dirty="0" err="1"/>
              <a:t>низа</a:t>
            </a:r>
            <a:r>
              <a:rPr lang="uk-UA" sz="1800" dirty="0"/>
              <a:t> — либо “</a:t>
            </a:r>
            <a:r>
              <a:rPr lang="uk-UA" sz="1800" dirty="0" err="1"/>
              <a:t>глубокой</a:t>
            </a:r>
            <a:r>
              <a:rPr lang="uk-UA" sz="1800" dirty="0"/>
              <a:t>” (</a:t>
            </a:r>
            <a:r>
              <a:rPr lang="en-US" sz="1800" dirty="0"/>
              <a:t>deep), </a:t>
            </a:r>
            <a:r>
              <a:rPr lang="uk-UA" sz="1800" dirty="0" err="1"/>
              <a:t>что</a:t>
            </a:r>
            <a:r>
              <a:rPr lang="uk-UA" sz="1800" dirty="0"/>
              <a:t> </a:t>
            </a:r>
            <a:r>
              <a:rPr lang="uk-UA" sz="1800" dirty="0" err="1"/>
              <a:t>означает</a:t>
            </a:r>
            <a:r>
              <a:rPr lang="uk-UA" sz="1800" dirty="0"/>
              <a:t> </a:t>
            </a:r>
            <a:r>
              <a:rPr lang="uk-UA" sz="1800" dirty="0" err="1"/>
              <a:t>более</a:t>
            </a:r>
            <a:r>
              <a:rPr lang="uk-UA" sz="1800" dirty="0"/>
              <a:t> </a:t>
            </a:r>
            <a:r>
              <a:rPr lang="uk-UA" sz="1800" dirty="0" err="1"/>
              <a:t>простое</a:t>
            </a:r>
            <a:r>
              <a:rPr lang="uk-UA" sz="1800" dirty="0"/>
              <a:t> меню, но </a:t>
            </a:r>
            <a:r>
              <a:rPr lang="uk-UA" sz="1800" dirty="0" err="1"/>
              <a:t>требует</a:t>
            </a:r>
            <a:r>
              <a:rPr lang="uk-UA" sz="1800" dirty="0"/>
              <a:t> </a:t>
            </a:r>
            <a:r>
              <a:rPr lang="uk-UA" sz="1800" dirty="0" err="1"/>
              <a:t>больше</a:t>
            </a:r>
            <a:r>
              <a:rPr lang="uk-UA" sz="1800" dirty="0"/>
              <a:t> </a:t>
            </a:r>
            <a:r>
              <a:rPr lang="uk-UA" sz="1800" dirty="0" err="1"/>
              <a:t>кликов</a:t>
            </a:r>
            <a:r>
              <a:rPr lang="uk-UA" sz="1800" dirty="0"/>
              <a:t> на </a:t>
            </a:r>
            <a:r>
              <a:rPr lang="uk-UA" sz="1800" dirty="0" err="1"/>
              <a:t>пути</a:t>
            </a:r>
            <a:r>
              <a:rPr lang="uk-UA" sz="1800" dirty="0"/>
              <a:t> </a:t>
            </a:r>
            <a:r>
              <a:rPr lang="uk-UA" sz="1800" dirty="0" err="1"/>
              <a:t>к</a:t>
            </a:r>
            <a:r>
              <a:rPr lang="uk-UA" sz="1800" dirty="0"/>
              <a:t> </a:t>
            </a:r>
            <a:r>
              <a:rPr lang="uk-UA" sz="1800" dirty="0" err="1"/>
              <a:t>цели</a:t>
            </a:r>
            <a:r>
              <a:rPr lang="uk-UA" sz="1800" dirty="0"/>
              <a:t>.</a:t>
            </a:r>
            <a:endParaRPr lang="en-US" sz="1800" dirty="0"/>
          </a:p>
        </p:txBody>
      </p:sp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11CED27D-DDF4-F248-B928-44671027D7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537" y="1379538"/>
            <a:ext cx="31750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86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7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77" name="Rectangle 7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78" name="Rectangle 76">
            <a:extLst>
              <a:ext uri="{FF2B5EF4-FFF2-40B4-BE49-F238E27FC236}">
                <a16:creationId xmlns:a16="http://schemas.microsoft.com/office/drawing/2014/main" id="{E9BA134F-37B6-498A-B46D-040B86E5D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9" name="Rectangle 78">
            <a:extLst>
              <a:ext uri="{FF2B5EF4-FFF2-40B4-BE49-F238E27FC236}">
                <a16:creationId xmlns:a16="http://schemas.microsoft.com/office/drawing/2014/main" id="{2BFE3F30-11E0-4842-8523-7222538C8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rgbClr val="3A5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3DB62B-CC10-654B-9BA9-45B2D4CE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Примеры навигационных компонентов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942C11-DFDC-5B4E-8531-A6EEE8C2E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2236304"/>
            <a:ext cx="5977938" cy="3652667"/>
          </a:xfrm>
        </p:spPr>
        <p:txBody>
          <a:bodyPr vert="horz" lIns="0" tIns="45720" rIns="0" bIns="45720" rtlCol="0">
            <a:normAutofit/>
          </a:bodyPr>
          <a:lstStyle/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1 — </a:t>
            </a:r>
            <a:r>
              <a:rPr lang="en-US" sz="1800" dirty="0" err="1"/>
              <a:t>вспомогательная</a:t>
            </a:r>
            <a:r>
              <a:rPr lang="en-US" sz="1800" dirty="0"/>
              <a:t> </a:t>
            </a:r>
            <a:r>
              <a:rPr lang="en-US" sz="1800" dirty="0" err="1"/>
              <a:t>навигация</a:t>
            </a:r>
            <a:r>
              <a:rPr lang="en-US" sz="1800" dirty="0"/>
              <a:t>; 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2 — </a:t>
            </a:r>
            <a:r>
              <a:rPr lang="en-US" sz="1800" dirty="0" err="1"/>
              <a:t>глобальная</a:t>
            </a:r>
            <a:r>
              <a:rPr lang="en-US" sz="1800" dirty="0"/>
              <a:t> </a:t>
            </a:r>
            <a:r>
              <a:rPr lang="en-US" sz="1800" dirty="0" err="1"/>
              <a:t>навигация</a:t>
            </a:r>
            <a:r>
              <a:rPr lang="en-US" sz="1800" dirty="0"/>
              <a:t>; 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3 — </a:t>
            </a:r>
            <a:r>
              <a:rPr lang="en-US" sz="1800" dirty="0" err="1"/>
              <a:t>указатель</a:t>
            </a:r>
            <a:r>
              <a:rPr lang="en-US" sz="1800" dirty="0"/>
              <a:t> </a:t>
            </a:r>
            <a:r>
              <a:rPr lang="en-US" sz="1800" dirty="0" err="1"/>
              <a:t>местоположения</a:t>
            </a:r>
            <a:r>
              <a:rPr lang="en-US" sz="1800" dirty="0"/>
              <a:t> («</a:t>
            </a:r>
            <a:r>
              <a:rPr lang="en-US" sz="1800" dirty="0" err="1"/>
              <a:t>хлебные</a:t>
            </a:r>
            <a:r>
              <a:rPr lang="en-US" sz="1800" dirty="0"/>
              <a:t> </a:t>
            </a:r>
            <a:r>
              <a:rPr lang="en-US" sz="1800" dirty="0" err="1"/>
              <a:t>крошки</a:t>
            </a:r>
            <a:r>
              <a:rPr lang="en-US" sz="1800" dirty="0"/>
              <a:t>», breadcrumb trail; </a:t>
            </a:r>
            <a:r>
              <a:rPr lang="en-US" sz="1800" dirty="0" err="1"/>
              <a:t>буквально</a:t>
            </a:r>
            <a:r>
              <a:rPr lang="en-US" sz="1800" dirty="0"/>
              <a:t> — «</a:t>
            </a:r>
            <a:r>
              <a:rPr lang="en-US" sz="1800" dirty="0" err="1"/>
              <a:t>путь</a:t>
            </a:r>
            <a:r>
              <a:rPr lang="en-US" sz="1800" dirty="0"/>
              <a:t>, </a:t>
            </a:r>
            <a:r>
              <a:rPr lang="en-US" sz="1800" dirty="0" err="1"/>
              <a:t>помеченный</a:t>
            </a:r>
            <a:r>
              <a:rPr lang="en-US" sz="1800" dirty="0"/>
              <a:t> </a:t>
            </a:r>
            <a:r>
              <a:rPr lang="en-US" sz="1800" dirty="0" err="1"/>
              <a:t>рассыпанными</a:t>
            </a:r>
            <a:r>
              <a:rPr lang="en-US" sz="1800" dirty="0"/>
              <a:t> </a:t>
            </a:r>
            <a:r>
              <a:rPr lang="en-US" sz="1800" dirty="0" err="1"/>
              <a:t>хлебными</a:t>
            </a:r>
            <a:r>
              <a:rPr lang="en-US" sz="1800" dirty="0"/>
              <a:t> </a:t>
            </a:r>
            <a:r>
              <a:rPr lang="en-US" sz="1800" dirty="0" err="1"/>
              <a:t>крошками</a:t>
            </a:r>
            <a:r>
              <a:rPr lang="en-US" sz="1800" dirty="0"/>
              <a:t>»); 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4 — </a:t>
            </a:r>
            <a:r>
              <a:rPr lang="en-US" sz="1800" dirty="0" err="1"/>
              <a:t>локальная</a:t>
            </a:r>
            <a:r>
              <a:rPr lang="en-US" sz="1800" dirty="0"/>
              <a:t> </a:t>
            </a:r>
            <a:r>
              <a:rPr lang="en-US" sz="1800" dirty="0" err="1"/>
              <a:t>навигация</a:t>
            </a:r>
            <a:r>
              <a:rPr lang="en-US" sz="1800" dirty="0"/>
              <a:t>;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5 — </a:t>
            </a:r>
            <a:r>
              <a:rPr lang="en-US" sz="1800" dirty="0" err="1"/>
              <a:t>ссылки</a:t>
            </a:r>
            <a:r>
              <a:rPr lang="en-US" sz="1800" dirty="0"/>
              <a:t> </a:t>
            </a:r>
            <a:r>
              <a:rPr lang="en-US" sz="1800" dirty="0" err="1"/>
              <a:t>по</a:t>
            </a:r>
            <a:r>
              <a:rPr lang="en-US" sz="1800" dirty="0"/>
              <a:t> </a:t>
            </a:r>
            <a:r>
              <a:rPr lang="en-US" sz="1800" dirty="0" err="1"/>
              <a:t>теме</a:t>
            </a:r>
            <a:r>
              <a:rPr lang="en-US" sz="1800" dirty="0"/>
              <a:t> (</a:t>
            </a:r>
            <a:r>
              <a:rPr lang="en-US" sz="1800" dirty="0" err="1"/>
              <a:t>в</a:t>
            </a:r>
            <a:r>
              <a:rPr lang="en-US" sz="1800" dirty="0"/>
              <a:t> </a:t>
            </a:r>
            <a:r>
              <a:rPr lang="en-US" sz="1800" dirty="0" err="1"/>
              <a:t>данном</a:t>
            </a:r>
            <a:r>
              <a:rPr lang="en-US" sz="1800" dirty="0"/>
              <a:t> </a:t>
            </a:r>
            <a:r>
              <a:rPr lang="en-US" sz="1800" dirty="0" err="1"/>
              <a:t>случае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r>
              <a:rPr lang="en-US" sz="1800" dirty="0"/>
              <a:t> </a:t>
            </a:r>
            <a:r>
              <a:rPr lang="en-US" sz="1800" dirty="0" err="1"/>
              <a:t>статьи</a:t>
            </a:r>
            <a:r>
              <a:rPr lang="en-US" sz="1800" dirty="0"/>
              <a:t> </a:t>
            </a:r>
            <a:r>
              <a:rPr lang="en-US" sz="1800" dirty="0" err="1"/>
              <a:t>и</a:t>
            </a:r>
            <a:r>
              <a:rPr lang="en-US" sz="1800" dirty="0"/>
              <a:t> </a:t>
            </a:r>
            <a:r>
              <a:rPr lang="en-US" sz="1800" dirty="0" err="1"/>
              <a:t>сообщения</a:t>
            </a:r>
            <a:r>
              <a:rPr lang="en-US" sz="1800" dirty="0"/>
              <a:t> </a:t>
            </a:r>
            <a:r>
              <a:rPr lang="en-US" sz="1800" dirty="0" err="1"/>
              <a:t>в</a:t>
            </a:r>
            <a:r>
              <a:rPr lang="en-US" sz="1800" dirty="0"/>
              <a:t> </a:t>
            </a:r>
            <a:r>
              <a:rPr lang="en-US" sz="1800" dirty="0" err="1"/>
              <a:t>блоге</a:t>
            </a:r>
            <a:r>
              <a:rPr lang="en-US" sz="1800" dirty="0"/>
              <a:t>); </a:t>
            </a:r>
          </a:p>
          <a:p>
            <a:pPr>
              <a:lnSpc>
                <a:spcPct val="90000"/>
              </a:lnSpc>
              <a:buFont typeface="Calibri" panose="020F0502020204030204" pitchFamily="34" charset="0"/>
            </a:pPr>
            <a:r>
              <a:rPr lang="en-US" sz="1800" dirty="0"/>
              <a:t>6 — «</a:t>
            </a:r>
            <a:r>
              <a:rPr lang="en-US" sz="1800" dirty="0" err="1"/>
              <a:t>толстый</a:t>
            </a:r>
            <a:r>
              <a:rPr lang="en-US" sz="1800" dirty="0"/>
              <a:t>» </a:t>
            </a:r>
            <a:r>
              <a:rPr lang="en-US" sz="1800" dirty="0" err="1"/>
              <a:t>футер</a:t>
            </a:r>
            <a:r>
              <a:rPr lang="en-US" sz="1800" dirty="0"/>
              <a:t>, </a:t>
            </a:r>
            <a:r>
              <a:rPr lang="en-US" sz="1800" dirty="0" err="1"/>
              <a:t>дублирующий</a:t>
            </a:r>
            <a:r>
              <a:rPr lang="en-US" sz="1800" dirty="0"/>
              <a:t> </a:t>
            </a:r>
            <a:r>
              <a:rPr lang="en-US" sz="1800" dirty="0" err="1"/>
              <a:t>элементы</a:t>
            </a:r>
            <a:r>
              <a:rPr lang="en-US" sz="1800" dirty="0"/>
              <a:t> </a:t>
            </a:r>
            <a:r>
              <a:rPr lang="en-US" sz="1800" dirty="0" err="1"/>
              <a:t>глобальной</a:t>
            </a:r>
            <a:r>
              <a:rPr lang="en-US" sz="1800" dirty="0"/>
              <a:t>, </a:t>
            </a:r>
            <a:r>
              <a:rPr lang="en-US" sz="1800" dirty="0" err="1"/>
              <a:t>локальной</a:t>
            </a:r>
            <a:r>
              <a:rPr lang="en-US" sz="1800" dirty="0"/>
              <a:t> </a:t>
            </a:r>
            <a:r>
              <a:rPr lang="en-US" sz="1800" dirty="0" err="1"/>
              <a:t>и</a:t>
            </a:r>
            <a:r>
              <a:rPr lang="en-US" sz="1800" dirty="0"/>
              <a:t> </a:t>
            </a:r>
            <a:r>
              <a:rPr lang="en-US" sz="1800" dirty="0" err="1"/>
              <a:t>вспомогательной</a:t>
            </a:r>
            <a:r>
              <a:rPr lang="en-US" sz="1800" dirty="0"/>
              <a:t> </a:t>
            </a:r>
            <a:r>
              <a:rPr lang="en-US" sz="1800" dirty="0" err="1"/>
              <a:t>навигации</a:t>
            </a:r>
            <a:endParaRPr lang="en-US" sz="1800" dirty="0"/>
          </a:p>
        </p:txBody>
      </p:sp>
      <p:sp>
        <p:nvSpPr>
          <p:cNvPr id="3080" name="Rectangle 80">
            <a:extLst>
              <a:ext uri="{FF2B5EF4-FFF2-40B4-BE49-F238E27FC236}">
                <a16:creationId xmlns:a16="http://schemas.microsoft.com/office/drawing/2014/main" id="{3BC04142-131F-4352-8F66-1B161AF72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rgbClr val="F4CB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074" name="Picture 2" descr="Навигационные компоненты">
            <a:extLst>
              <a:ext uri="{FF2B5EF4-FFF2-40B4-BE49-F238E27FC236}">
                <a16:creationId xmlns:a16="http://schemas.microsoft.com/office/drawing/2014/main" id="{0FC9D845-499C-9F42-BA93-D3CCC98999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3406" y="152832"/>
            <a:ext cx="4007519" cy="656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406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951903" cy="2204815"/>
          </a:xfrm>
        </p:spPr>
        <p:txBody>
          <a:bodyPr>
            <a:normAutofit fontScale="90000"/>
          </a:bodyPr>
          <a:lstStyle/>
          <a:p>
            <a:pPr algn="l"/>
            <a:r>
              <a:rPr lang="uk-UA" dirty="0"/>
              <a:t>10 эвристик Якоба Нильсена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3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708B-F539-4BC4-922F-9455D893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Отображение статуса системы 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490F17-EB18-487F-9948-AA5CABB0B6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2772" y="2708184"/>
            <a:ext cx="3448531" cy="130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17864-47BA-4AD0-A844-FFD515A75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Система всегда должна предоставлять пользователю актуальную информацию о текущем статусе, корректно отвечать на взаимодействия за разумное время.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80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708B-F539-4BC4-922F-9455D893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Схожесть системы с реальным миром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EBD0B2-CF5D-44C6-AB16-51E4F9D0E7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1200" y="1427163"/>
            <a:ext cx="197167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17864-47BA-4AD0-A844-FFD515A75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Система должна «общаться» с пользователем на понятном ему языке, избегая специализированных терминов в пользу общеупотребляемых слов. Информация должна подаваться в естественном и логичном порядке.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78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7342B6-D737-4296-BCDD-AA75294E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Свобода действий и возможность отмены действия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619727A-FFAD-47F2-87A2-37AC67A091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33362" y="3142961"/>
            <a:ext cx="8785601" cy="142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AC8767-650E-49E4-9FCC-85A287F319C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57338" y="1590675"/>
            <a:ext cx="10634662" cy="367665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Пользователи часто выбирают ту или иную функцию по ошибке. Нужно предоставить им «запасной выход» – очевидную и удобную возможность отменить действие, совершенное по ошибке.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05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A36F8-2429-4F62-BA66-102ADB821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Е</a:t>
            </a:r>
            <a:r>
              <a:rPr lang="uk-UA" dirty="0"/>
              <a:t>динообразие и стандартизация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890F3-6D5A-432D-8FDD-5B1D9DC01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Не путайте пользователя, описывая разными словами одни и те же вещи, ситуации, действия. Элементы системы должны соответствовать единому стандарту.</a:t>
            </a:r>
            <a:endParaRPr lang="ru-RU" dirty="0"/>
          </a:p>
          <a:p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346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302252-65E7-4363-AD3B-79E59D26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Предотвращение ошибок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E2BD7E5-14C6-48BF-8BF3-20A193693F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885995"/>
            <a:ext cx="6492875" cy="494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D1CFD-DA79-45F5-8804-04A22CD60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Сведите к минимуму количество условий, в которых может быть допущена ошибка. При необходимости выводите пользователю сообщения, предупреждающие о возможных ошибках.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98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B242-DC20-4F4B-9395-0EFBF365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Максимум информации на виду, а не в памяти</a:t>
            </a: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9C6864-15D6-4A35-9F95-7305B1FC99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4298" y="2084210"/>
            <a:ext cx="2705478" cy="255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756ED-E68C-42F2-8EDF-BD5FE0753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Минимизируйте количество информации, которую пользователь должен держать в голове, переходя от одной части системы к другой. Необходимые данные должны быть на виду все время, пока пользователь взаимодействует с интерфейсом.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76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4388-4588-44BC-8C67-F520681C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Гибкость и удобство использования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C8D1E20-0B7D-4515-8338-4631DF7520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8112" y="2108200"/>
            <a:ext cx="565785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FCA7C-7F69-4909-B4E7-DA6A4400F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Не стоит нагружать опытных пользователей лишней информацией. Лучше предоставить им возможность проще и быстрее совершать повторяющиеся действия.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62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53E8-90DE-47B0-A8B2-4F0E2C34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Эстетичный и минималистичный дизайн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2D252-7BAF-4BFB-8107-03FCBD9A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Тексты не должны содержать ненужной и устаревшей информации. Каждое ненужное предложение отвлекает внимание пользователя от того, что действительно важно.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06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AFDE-0121-4523-9F7B-CA9C57B1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Распознавание и решение проблем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ABE971F-DE49-48BE-BB75-21213DDC5C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0" y="1969408"/>
            <a:ext cx="6492875" cy="278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370A0-416E-4580-B25E-4805E6AA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Сообщения об ошибках должны быть написаны на понятном пользователю языке, четко излагать суть проблемы и предлагать варианты ее решения.</a:t>
            </a:r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75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11A4E-975F-47E4-AE7D-1F472DF25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Наличие помощи и справочных материалов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C7A48F-99BF-4E5A-A8E7-25A73E0F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Хотя следует стремиться к тому, чтобы системой можно было пользоваться без документации, но в процессе работы с ней такая документация все же бывает нужна. Справка должна быть удобной для поиска информации и не слишком объемной.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66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Patterns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Паттерны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21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E00E2-3129-4AAA-AE08-EC933FA4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/ </a:t>
            </a:r>
            <a:r>
              <a:rPr lang="ru-RU" dirty="0"/>
              <a:t>Паттерн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B5AF2-A4C7-4C53-9C8E-DCCEBDB29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общепринятое, переиспользуемое решение повсеместно возникающих проблем или задач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518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35EB5E9-F114-49E9-A4A1-4ADFEEC0DA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06" y="2678906"/>
            <a:ext cx="1500188" cy="15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5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B1D1A74-1E23-45B4-AF1F-2E5B8ECD07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050" y="2686050"/>
            <a:ext cx="1485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87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ard&#10;&#10;Description automatically generated">
            <a:extLst>
              <a:ext uri="{FF2B5EF4-FFF2-40B4-BE49-F238E27FC236}">
                <a16:creationId xmlns:a16="http://schemas.microsoft.com/office/drawing/2014/main" id="{2BA0D2E0-6450-46E9-86B0-B32D953EC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48" y="2632030"/>
            <a:ext cx="3640703" cy="159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510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C4D1492-9EA3-431E-B1AD-3D7284D93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71" y="2307431"/>
            <a:ext cx="7647057" cy="224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26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1B7182C-7BB4-4CB6-A9B5-FF13BFC1D2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607" y="2020093"/>
            <a:ext cx="2080786" cy="352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652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ell phone&#10;&#10;Description automatically generated">
            <a:extLst>
              <a:ext uri="{FF2B5EF4-FFF2-40B4-BE49-F238E27FC236}">
                <a16:creationId xmlns:a16="http://schemas.microsoft.com/office/drawing/2014/main" id="{C04811FC-234C-44A0-B44D-FE3ECCF3D0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88" y="1993370"/>
            <a:ext cx="2824823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18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63233F9-7019-47FC-868C-B0E6019F4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599" y="1961945"/>
            <a:ext cx="7706801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37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972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34DF-6EE1-4021-AC6E-F559B959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CEC1D-B9C4-41F0-AA8D-4EE2C88F1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Эвристики Нильсена - </a:t>
            </a:r>
            <a:r>
              <a:rPr lang="en-US" dirty="0">
                <a:hlinkClick r:id="rId2"/>
              </a:rPr>
              <a:t>https://artemokhrei.com/nielsen-heuristics/</a:t>
            </a:r>
            <a:endParaRPr lang="ru-RU" dirty="0"/>
          </a:p>
          <a:p>
            <a:r>
              <a:rPr lang="ru-RU" dirty="0"/>
              <a:t>Паттерны - </a:t>
            </a:r>
            <a:r>
              <a:rPr lang="en-US" dirty="0">
                <a:hlinkClick r:id="rId3"/>
              </a:rPr>
              <a:t>http://ui-patterns.com/</a:t>
            </a:r>
            <a:endParaRPr lang="ru-RU" dirty="0"/>
          </a:p>
          <a:p>
            <a:r>
              <a:rPr lang="ru-RU" dirty="0"/>
              <a:t>Артефакты </a:t>
            </a:r>
            <a:r>
              <a:rPr lang="en-US"/>
              <a:t>UX - </a:t>
            </a:r>
            <a:r>
              <a:rPr lang="en-US">
                <a:hlinkClick r:id="rId4"/>
              </a:rPr>
              <a:t>https://uxexperience.net/ux-artifacts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79345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852</Words>
  <Application>Microsoft Macintosh PowerPoint</Application>
  <PresentationFormat>Widescreen</PresentationFormat>
  <Paragraphs>105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Ретро</vt:lpstr>
      <vt:lpstr>Основы UX</vt:lpstr>
      <vt:lpstr>Основы UX</vt:lpstr>
      <vt:lpstr>UX</vt:lpstr>
      <vt:lpstr>UI vs UX</vt:lpstr>
      <vt:lpstr>Human Centered Design</vt:lpstr>
      <vt:lpstr>Persona / Персона</vt:lpstr>
      <vt:lpstr>PowerPoint Presentation</vt:lpstr>
      <vt:lpstr>PowerPoint Presentation</vt:lpstr>
      <vt:lpstr>PowerPoint Presentation</vt:lpstr>
      <vt:lpstr>User Flow</vt:lpstr>
      <vt:lpstr>Пример User Flow</vt:lpstr>
      <vt:lpstr>Пример Wire Flow</vt:lpstr>
      <vt:lpstr>Информационная архитектура</vt:lpstr>
      <vt:lpstr>Информационная архитектура</vt:lpstr>
      <vt:lpstr>Типы информационный архитектуры</vt:lpstr>
      <vt:lpstr>Категории</vt:lpstr>
      <vt:lpstr>Задачи</vt:lpstr>
      <vt:lpstr>Поиск</vt:lpstr>
      <vt:lpstr>Время</vt:lpstr>
      <vt:lpstr>Люди</vt:lpstr>
      <vt:lpstr>Страктура сайта</vt:lpstr>
      <vt:lpstr>Примеры навигационных компонентов</vt:lpstr>
      <vt:lpstr>10 эвристик Якоба Нильсена</vt:lpstr>
      <vt:lpstr>Отображение статуса системы </vt:lpstr>
      <vt:lpstr>Схожесть системы с реальным миром</vt:lpstr>
      <vt:lpstr>Свобода действий и возможность отмены действия</vt:lpstr>
      <vt:lpstr>Единообразие и стандартизация</vt:lpstr>
      <vt:lpstr>Предотвращение ошибок</vt:lpstr>
      <vt:lpstr>Максимум информации на виду, а не в памяти</vt:lpstr>
      <vt:lpstr>Гибкость и удобство использования</vt:lpstr>
      <vt:lpstr>Эстетичный и минималистичный дизайн</vt:lpstr>
      <vt:lpstr>Распознавание и решение проблем</vt:lpstr>
      <vt:lpstr>Наличие помощи и справочных материалов</vt:lpstr>
      <vt:lpstr>Patterns</vt:lpstr>
      <vt:lpstr>Pattern / Паттерн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Дополнительные материалы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UX</dc:title>
  <dc:creator>Olesia Popova</dc:creator>
  <cp:lastModifiedBy>Olesia Popova</cp:lastModifiedBy>
  <cp:revision>5</cp:revision>
  <dcterms:created xsi:type="dcterms:W3CDTF">2020-09-29T15:18:26Z</dcterms:created>
  <dcterms:modified xsi:type="dcterms:W3CDTF">2020-09-29T15:38:13Z</dcterms:modified>
</cp:coreProperties>
</file>