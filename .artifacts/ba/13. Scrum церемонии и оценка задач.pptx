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7"/>
  </p:notesMasterIdLst>
  <p:sldIdLst>
    <p:sldId id="256" r:id="rId2"/>
    <p:sldId id="322" r:id="rId3"/>
    <p:sldId id="420" r:id="rId4"/>
    <p:sldId id="450" r:id="rId5"/>
    <p:sldId id="451" r:id="rId6"/>
    <p:sldId id="452" r:id="rId7"/>
    <p:sldId id="453" r:id="rId8"/>
    <p:sldId id="454" r:id="rId9"/>
    <p:sldId id="456" r:id="rId10"/>
    <p:sldId id="455" r:id="rId11"/>
    <p:sldId id="449" r:id="rId12"/>
    <p:sldId id="441" r:id="rId13"/>
    <p:sldId id="443" r:id="rId14"/>
    <p:sldId id="444" r:id="rId15"/>
    <p:sldId id="446" r:id="rId16"/>
    <p:sldId id="445" r:id="rId17"/>
    <p:sldId id="457" r:id="rId18"/>
    <p:sldId id="415" r:id="rId19"/>
    <p:sldId id="414" r:id="rId20"/>
    <p:sldId id="419" r:id="rId21"/>
    <p:sldId id="425" r:id="rId22"/>
    <p:sldId id="447" r:id="rId23"/>
    <p:sldId id="440" r:id="rId24"/>
    <p:sldId id="442" r:id="rId25"/>
    <p:sldId id="416" r:id="rId26"/>
    <p:sldId id="421" r:id="rId27"/>
    <p:sldId id="427" r:id="rId28"/>
    <p:sldId id="428" r:id="rId29"/>
    <p:sldId id="429" r:id="rId30"/>
    <p:sldId id="385" r:id="rId31"/>
    <p:sldId id="422" r:id="rId32"/>
    <p:sldId id="430" r:id="rId33"/>
    <p:sldId id="434" r:id="rId34"/>
    <p:sldId id="417" r:id="rId35"/>
    <p:sldId id="423" r:id="rId36"/>
    <p:sldId id="435" r:id="rId37"/>
    <p:sldId id="458" r:id="rId38"/>
    <p:sldId id="424" r:id="rId39"/>
    <p:sldId id="439" r:id="rId40"/>
    <p:sldId id="437" r:id="rId41"/>
    <p:sldId id="438" r:id="rId42"/>
    <p:sldId id="436" r:id="rId43"/>
    <p:sldId id="433" r:id="rId44"/>
    <p:sldId id="432" r:id="rId45"/>
    <p:sldId id="448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82C804-D5C1-B04F-AA5D-E1E9488FD3F2}">
          <p14:sldIdLst>
            <p14:sldId id="256"/>
            <p14:sldId id="322"/>
          </p14:sldIdLst>
        </p14:section>
        <p14:section name="Оценка задач" id="{57612053-E09F-5846-88F0-58F7FEA6ED62}">
          <p14:sldIdLst>
            <p14:sldId id="420"/>
            <p14:sldId id="450"/>
            <p14:sldId id="451"/>
            <p14:sldId id="452"/>
            <p14:sldId id="453"/>
            <p14:sldId id="454"/>
            <p14:sldId id="456"/>
            <p14:sldId id="455"/>
            <p14:sldId id="449"/>
            <p14:sldId id="441"/>
            <p14:sldId id="443"/>
            <p14:sldId id="444"/>
            <p14:sldId id="446"/>
            <p14:sldId id="445"/>
            <p14:sldId id="457"/>
            <p14:sldId id="415"/>
            <p14:sldId id="414"/>
          </p14:sldIdLst>
        </p14:section>
        <p14:section name="Scrum церемонии" id="{1B354C56-B048-9144-92FE-4F88157006D2}">
          <p14:sldIdLst>
            <p14:sldId id="419"/>
            <p14:sldId id="425"/>
            <p14:sldId id="447"/>
            <p14:sldId id="440"/>
            <p14:sldId id="442"/>
            <p14:sldId id="416"/>
            <p14:sldId id="421"/>
            <p14:sldId id="427"/>
            <p14:sldId id="428"/>
            <p14:sldId id="429"/>
            <p14:sldId id="385"/>
            <p14:sldId id="422"/>
            <p14:sldId id="430"/>
            <p14:sldId id="434"/>
            <p14:sldId id="417"/>
            <p14:sldId id="423"/>
            <p14:sldId id="435"/>
            <p14:sldId id="458"/>
            <p14:sldId id="424"/>
            <p14:sldId id="439"/>
            <p14:sldId id="437"/>
            <p14:sldId id="438"/>
            <p14:sldId id="436"/>
          </p14:sldIdLst>
        </p14:section>
        <p14:section name="Доп. материалы" id="{0BC64452-24AD-D34F-B09A-ED32C857A809}">
          <p14:sldIdLst>
            <p14:sldId id="433"/>
            <p14:sldId id="432"/>
            <p14:sldId id="4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828" autoAdjust="0"/>
  </p:normalViewPr>
  <p:slideViewPr>
    <p:cSldViewPr snapToGrid="0">
      <p:cViewPr varScale="1">
        <p:scale>
          <a:sx n="89" d="100"/>
          <a:sy n="89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78F19-45CD-0747-B3B7-04BE2CC79D16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FD1639E5-703B-574A-81AD-6C26AEDF65E9}">
      <dgm:prSet phldrT="[Text]"/>
      <dgm:spPr/>
      <dgm:t>
        <a:bodyPr/>
        <a:lstStyle/>
        <a:p>
          <a:r>
            <a:rPr lang="uk-UA" b="0" i="0" dirty="0"/>
            <a:t>«на </a:t>
          </a:r>
          <a:r>
            <a:rPr lang="uk-UA" b="0" i="0" dirty="0" err="1"/>
            <a:t>эту</a:t>
          </a:r>
          <a:r>
            <a:rPr lang="uk-UA" b="0" i="0" dirty="0"/>
            <a:t> задачу </a:t>
          </a:r>
          <a:r>
            <a:rPr lang="uk-UA" b="0" i="0" dirty="0" err="1"/>
            <a:t>требуется</a:t>
          </a:r>
          <a:r>
            <a:rPr lang="uk-UA" b="0" i="0" dirty="0"/>
            <a:t> </a:t>
          </a:r>
          <a:r>
            <a:rPr lang="uk-UA" b="0" i="0" dirty="0" err="1"/>
            <a:t>пять</a:t>
          </a:r>
          <a:r>
            <a:rPr lang="uk-UA" b="0" i="0" dirty="0"/>
            <a:t>–</a:t>
          </a:r>
          <a:r>
            <a:rPr lang="uk-UA" b="0" i="0" dirty="0" err="1"/>
            <a:t>семь</a:t>
          </a:r>
          <a:r>
            <a:rPr lang="uk-UA" b="0" i="0" dirty="0"/>
            <a:t> </a:t>
          </a:r>
          <a:r>
            <a:rPr lang="uk-UA" b="0" i="0" dirty="0" err="1"/>
            <a:t>дней</a:t>
          </a:r>
          <a:r>
            <a:rPr lang="uk-UA" b="0" i="0" dirty="0"/>
            <a:t>»</a:t>
          </a:r>
          <a:endParaRPr lang="en-GB" dirty="0"/>
        </a:p>
      </dgm:t>
    </dgm:pt>
    <dgm:pt modelId="{E94D004B-527D-314E-9426-39E0A8AE2272}" type="parTrans" cxnId="{9BC55968-DB74-394C-B7F9-4DECE4268CC3}">
      <dgm:prSet/>
      <dgm:spPr/>
      <dgm:t>
        <a:bodyPr/>
        <a:lstStyle/>
        <a:p>
          <a:endParaRPr lang="en-GB"/>
        </a:p>
      </dgm:t>
    </dgm:pt>
    <dgm:pt modelId="{5BCC313E-250F-9B4C-AC9D-81EBA5BE6550}" type="sibTrans" cxnId="{9BC55968-DB74-394C-B7F9-4DECE4268CC3}">
      <dgm:prSet/>
      <dgm:spPr/>
      <dgm:t>
        <a:bodyPr/>
        <a:lstStyle/>
        <a:p>
          <a:endParaRPr lang="en-GB"/>
        </a:p>
      </dgm:t>
    </dgm:pt>
    <dgm:pt modelId="{117627FF-0DB2-6541-9493-3B5890FD4B1B}">
      <dgm:prSet phldrT="[Text]"/>
      <dgm:spPr/>
      <dgm:t>
        <a:bodyPr/>
        <a:lstStyle/>
        <a:p>
          <a:r>
            <a:rPr lang="uk-UA" b="0" i="0" dirty="0"/>
            <a:t>«через </a:t>
          </a:r>
          <a:r>
            <a:rPr lang="uk-UA" b="0" i="0" dirty="0" err="1"/>
            <a:t>пять</a:t>
          </a:r>
          <a:r>
            <a:rPr lang="uk-UA" b="0" i="0" dirty="0"/>
            <a:t> </a:t>
          </a:r>
          <a:r>
            <a:rPr lang="uk-UA" b="0" i="0" dirty="0" err="1"/>
            <a:t>дней</a:t>
          </a:r>
          <a:r>
            <a:rPr lang="uk-UA" b="0" i="0" dirty="0"/>
            <a:t> </a:t>
          </a:r>
          <a:r>
            <a:rPr lang="uk-UA" b="0" i="0" dirty="0" err="1"/>
            <a:t>будет</a:t>
          </a:r>
          <a:r>
            <a:rPr lang="uk-UA" b="0" i="0" dirty="0"/>
            <a:t> готово»</a:t>
          </a:r>
          <a:endParaRPr lang="en-GB" dirty="0"/>
        </a:p>
      </dgm:t>
    </dgm:pt>
    <dgm:pt modelId="{4E46595A-7D94-C947-9277-8C831149F0DE}" type="parTrans" cxnId="{5664D6B2-1C5A-CE4B-BB92-0B0F7A87E297}">
      <dgm:prSet/>
      <dgm:spPr/>
      <dgm:t>
        <a:bodyPr/>
        <a:lstStyle/>
        <a:p>
          <a:endParaRPr lang="en-GB"/>
        </a:p>
      </dgm:t>
    </dgm:pt>
    <dgm:pt modelId="{6F21A728-E6CF-7D48-9D40-FC75268D09B2}" type="sibTrans" cxnId="{5664D6B2-1C5A-CE4B-BB92-0B0F7A87E297}">
      <dgm:prSet/>
      <dgm:spPr/>
      <dgm:t>
        <a:bodyPr/>
        <a:lstStyle/>
        <a:p>
          <a:endParaRPr lang="en-GB"/>
        </a:p>
      </dgm:t>
    </dgm:pt>
    <dgm:pt modelId="{7CB50531-CD9B-DF41-96A1-BE784FC9CF5A}" type="pres">
      <dgm:prSet presAssocID="{4C478F19-45CD-0747-B3B7-04BE2CC79D16}" presName="Name0" presStyleCnt="0">
        <dgm:presLayoutVars>
          <dgm:dir/>
          <dgm:resizeHandles val="exact"/>
        </dgm:presLayoutVars>
      </dgm:prSet>
      <dgm:spPr/>
    </dgm:pt>
    <dgm:pt modelId="{23CEEE12-3631-6E46-A5A1-634D8DE1EB6B}" type="pres">
      <dgm:prSet presAssocID="{FD1639E5-703B-574A-81AD-6C26AEDF65E9}" presName="node" presStyleLbl="node1" presStyleIdx="0" presStyleCnt="2">
        <dgm:presLayoutVars>
          <dgm:bulletEnabled val="1"/>
        </dgm:presLayoutVars>
      </dgm:prSet>
      <dgm:spPr/>
    </dgm:pt>
    <dgm:pt modelId="{8FCB36F2-DCD8-6049-987D-CBEDB418E3E0}" type="pres">
      <dgm:prSet presAssocID="{5BCC313E-250F-9B4C-AC9D-81EBA5BE6550}" presName="sibTrans" presStyleLbl="sibTrans2D1" presStyleIdx="0" presStyleCnt="1"/>
      <dgm:spPr>
        <a:prstGeom prst="mathNotEqual">
          <a:avLst/>
        </a:prstGeom>
      </dgm:spPr>
    </dgm:pt>
    <dgm:pt modelId="{086D9400-DCA1-694C-9B28-94D34411BAC9}" type="pres">
      <dgm:prSet presAssocID="{5BCC313E-250F-9B4C-AC9D-81EBA5BE6550}" presName="connectorText" presStyleLbl="sibTrans2D1" presStyleIdx="0" presStyleCnt="1"/>
      <dgm:spPr/>
    </dgm:pt>
    <dgm:pt modelId="{2B6EC5A4-5E61-6F40-9035-067C3902DADD}" type="pres">
      <dgm:prSet presAssocID="{117627FF-0DB2-6541-9493-3B5890FD4B1B}" presName="node" presStyleLbl="node1" presStyleIdx="1" presStyleCnt="2">
        <dgm:presLayoutVars>
          <dgm:bulletEnabled val="1"/>
        </dgm:presLayoutVars>
      </dgm:prSet>
      <dgm:spPr/>
    </dgm:pt>
  </dgm:ptLst>
  <dgm:cxnLst>
    <dgm:cxn modelId="{5965600D-386A-0D4C-9E17-D5B251AC41E3}" type="presOf" srcId="{5BCC313E-250F-9B4C-AC9D-81EBA5BE6550}" destId="{086D9400-DCA1-694C-9B28-94D34411BAC9}" srcOrd="1" destOrd="0" presId="urn:microsoft.com/office/officeart/2005/8/layout/process1"/>
    <dgm:cxn modelId="{9BC55968-DB74-394C-B7F9-4DECE4268CC3}" srcId="{4C478F19-45CD-0747-B3B7-04BE2CC79D16}" destId="{FD1639E5-703B-574A-81AD-6C26AEDF65E9}" srcOrd="0" destOrd="0" parTransId="{E94D004B-527D-314E-9426-39E0A8AE2272}" sibTransId="{5BCC313E-250F-9B4C-AC9D-81EBA5BE6550}"/>
    <dgm:cxn modelId="{D4C8D896-A999-C841-8B37-90D4766D925D}" type="presOf" srcId="{4C478F19-45CD-0747-B3B7-04BE2CC79D16}" destId="{7CB50531-CD9B-DF41-96A1-BE784FC9CF5A}" srcOrd="0" destOrd="0" presId="urn:microsoft.com/office/officeart/2005/8/layout/process1"/>
    <dgm:cxn modelId="{1948B499-9947-6B4C-9EC2-FB688A036CDF}" type="presOf" srcId="{FD1639E5-703B-574A-81AD-6C26AEDF65E9}" destId="{23CEEE12-3631-6E46-A5A1-634D8DE1EB6B}" srcOrd="0" destOrd="0" presId="urn:microsoft.com/office/officeart/2005/8/layout/process1"/>
    <dgm:cxn modelId="{8C686FB2-14AE-3943-867E-CE66F0AC704C}" type="presOf" srcId="{117627FF-0DB2-6541-9493-3B5890FD4B1B}" destId="{2B6EC5A4-5E61-6F40-9035-067C3902DADD}" srcOrd="0" destOrd="0" presId="urn:microsoft.com/office/officeart/2005/8/layout/process1"/>
    <dgm:cxn modelId="{5664D6B2-1C5A-CE4B-BB92-0B0F7A87E297}" srcId="{4C478F19-45CD-0747-B3B7-04BE2CC79D16}" destId="{117627FF-0DB2-6541-9493-3B5890FD4B1B}" srcOrd="1" destOrd="0" parTransId="{4E46595A-7D94-C947-9277-8C831149F0DE}" sibTransId="{6F21A728-E6CF-7D48-9D40-FC75268D09B2}"/>
    <dgm:cxn modelId="{B2032CF8-3BF0-394F-B825-DEE9AD75D25B}" type="presOf" srcId="{5BCC313E-250F-9B4C-AC9D-81EBA5BE6550}" destId="{8FCB36F2-DCD8-6049-987D-CBEDB418E3E0}" srcOrd="0" destOrd="0" presId="urn:microsoft.com/office/officeart/2005/8/layout/process1"/>
    <dgm:cxn modelId="{3C3B136E-7ECE-7B4D-829E-1807C8D0E9FD}" type="presParOf" srcId="{7CB50531-CD9B-DF41-96A1-BE784FC9CF5A}" destId="{23CEEE12-3631-6E46-A5A1-634D8DE1EB6B}" srcOrd="0" destOrd="0" presId="urn:microsoft.com/office/officeart/2005/8/layout/process1"/>
    <dgm:cxn modelId="{747A62A4-1702-2843-A436-D388770A5115}" type="presParOf" srcId="{7CB50531-CD9B-DF41-96A1-BE784FC9CF5A}" destId="{8FCB36F2-DCD8-6049-987D-CBEDB418E3E0}" srcOrd="1" destOrd="0" presId="urn:microsoft.com/office/officeart/2005/8/layout/process1"/>
    <dgm:cxn modelId="{71032467-97F8-2A47-AD75-D76758B5B957}" type="presParOf" srcId="{8FCB36F2-DCD8-6049-987D-CBEDB418E3E0}" destId="{086D9400-DCA1-694C-9B28-94D34411BAC9}" srcOrd="0" destOrd="0" presId="urn:microsoft.com/office/officeart/2005/8/layout/process1"/>
    <dgm:cxn modelId="{A938742B-B51F-4341-9979-E4990D0E1CD2}" type="presParOf" srcId="{7CB50531-CD9B-DF41-96A1-BE784FC9CF5A}" destId="{2B6EC5A4-5E61-6F40-9035-067C3902DAD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EEE12-3631-6E46-A5A1-634D8DE1EB6B}">
      <dsp:nvSpPr>
        <dsp:cNvPr id="0" name=""/>
        <dsp:cNvSpPr/>
      </dsp:nvSpPr>
      <dsp:spPr>
        <a:xfrm>
          <a:off x="1268" y="1817687"/>
          <a:ext cx="2704043" cy="16224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«на </a:t>
          </a:r>
          <a:r>
            <a:rPr lang="uk-UA" sz="2800" b="0" i="0" kern="1200" dirty="0" err="1"/>
            <a:t>эту</a:t>
          </a:r>
          <a:r>
            <a:rPr lang="uk-UA" sz="2800" b="0" i="0" kern="1200" dirty="0"/>
            <a:t> задачу </a:t>
          </a:r>
          <a:r>
            <a:rPr lang="uk-UA" sz="2800" b="0" i="0" kern="1200" dirty="0" err="1"/>
            <a:t>требуется</a:t>
          </a:r>
          <a:r>
            <a:rPr lang="uk-UA" sz="2800" b="0" i="0" kern="1200" dirty="0"/>
            <a:t> </a:t>
          </a:r>
          <a:r>
            <a:rPr lang="uk-UA" sz="2800" b="0" i="0" kern="1200" dirty="0" err="1"/>
            <a:t>пять</a:t>
          </a:r>
          <a:r>
            <a:rPr lang="uk-UA" sz="2800" b="0" i="0" kern="1200" dirty="0"/>
            <a:t>–</a:t>
          </a:r>
          <a:r>
            <a:rPr lang="uk-UA" sz="2800" b="0" i="0" kern="1200" dirty="0" err="1"/>
            <a:t>семь</a:t>
          </a:r>
          <a:r>
            <a:rPr lang="uk-UA" sz="2800" b="0" i="0" kern="1200" dirty="0"/>
            <a:t> </a:t>
          </a:r>
          <a:r>
            <a:rPr lang="uk-UA" sz="2800" b="0" i="0" kern="1200" dirty="0" err="1"/>
            <a:t>дней</a:t>
          </a:r>
          <a:r>
            <a:rPr lang="uk-UA" sz="2800" b="0" i="0" kern="1200" dirty="0"/>
            <a:t>»</a:t>
          </a:r>
          <a:endParaRPr lang="en-GB" sz="2800" kern="1200" dirty="0"/>
        </a:p>
      </dsp:txBody>
      <dsp:txXfrm>
        <a:off x="48787" y="1865206"/>
        <a:ext cx="2609005" cy="1527387"/>
      </dsp:txXfrm>
    </dsp:sp>
    <dsp:sp modelId="{8FCB36F2-DCD8-6049-987D-CBEDB418E3E0}">
      <dsp:nvSpPr>
        <dsp:cNvPr id="0" name=""/>
        <dsp:cNvSpPr/>
      </dsp:nvSpPr>
      <dsp:spPr>
        <a:xfrm>
          <a:off x="2975715" y="2293598"/>
          <a:ext cx="573257" cy="670602"/>
        </a:xfrm>
        <a:prstGeom prst="mathNotEqual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300" kern="1200"/>
        </a:p>
      </dsp:txBody>
      <dsp:txXfrm>
        <a:off x="2975715" y="2427718"/>
        <a:ext cx="401280" cy="402362"/>
      </dsp:txXfrm>
    </dsp:sp>
    <dsp:sp modelId="{2B6EC5A4-5E61-6F40-9035-067C3902DADD}">
      <dsp:nvSpPr>
        <dsp:cNvPr id="0" name=""/>
        <dsp:cNvSpPr/>
      </dsp:nvSpPr>
      <dsp:spPr>
        <a:xfrm>
          <a:off x="3786928" y="1817687"/>
          <a:ext cx="2704043" cy="16224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«через </a:t>
          </a:r>
          <a:r>
            <a:rPr lang="uk-UA" sz="2800" b="0" i="0" kern="1200" dirty="0" err="1"/>
            <a:t>пять</a:t>
          </a:r>
          <a:r>
            <a:rPr lang="uk-UA" sz="2800" b="0" i="0" kern="1200" dirty="0"/>
            <a:t> </a:t>
          </a:r>
          <a:r>
            <a:rPr lang="uk-UA" sz="2800" b="0" i="0" kern="1200" dirty="0" err="1"/>
            <a:t>дней</a:t>
          </a:r>
          <a:r>
            <a:rPr lang="uk-UA" sz="2800" b="0" i="0" kern="1200" dirty="0"/>
            <a:t> </a:t>
          </a:r>
          <a:r>
            <a:rPr lang="uk-UA" sz="2800" b="0" i="0" kern="1200" dirty="0" err="1"/>
            <a:t>будет</a:t>
          </a:r>
          <a:r>
            <a:rPr lang="uk-UA" sz="2800" b="0" i="0" kern="1200" dirty="0"/>
            <a:t> готово»</a:t>
          </a:r>
          <a:endParaRPr lang="en-GB" sz="2800" kern="1200" dirty="0"/>
        </a:p>
      </dsp:txBody>
      <dsp:txXfrm>
        <a:off x="3834447" y="1865206"/>
        <a:ext cx="2609005" cy="1527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579C-437B-4B88-BDE6-483EC68E97D4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690FE-35A5-4CCB-93D6-B8E58183C5A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76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3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0330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5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468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2013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895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9576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5196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719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6647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7073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915886"/>
            <a:ext cx="10058400" cy="39532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20.09.20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5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VsSaolMtkKU&amp;list=LLsCQP6eKUaKxv--2QNU8kqw&amp;index=11" TargetMode="External"/><Relationship Id="rId3" Type="http://schemas.openxmlformats.org/officeDocument/2006/relationships/hyperlink" Target="https://medium.com/@webmisha/%D0%BA%D0%B0%D0%BA-%D0%BF%D1%80%D0%BE%D0%B2%D0%B5%D1%81%D1%82%D0%B8-%D1%80%D0%B5%D1%82%D1%80%D0%BE%D1%81%D0%BF%D0%B5%D0%BA%D1%82%D0%B8%D0%B2%D1%83-93124778247" TargetMode="External"/><Relationship Id="rId7" Type="http://schemas.openxmlformats.org/officeDocument/2006/relationships/hyperlink" Target="https://www.youtube.com/watch?v=En3ifkDYgHM" TargetMode="External"/><Relationship Id="rId2" Type="http://schemas.openxmlformats.org/officeDocument/2006/relationships/hyperlink" Target="https://doitsmartly.ru/all-articles/management/99-agile/118-backlog-groom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channel/UC7542qt1xw992Lc0DqfCF8Q" TargetMode="External"/><Relationship Id="rId5" Type="http://schemas.openxmlformats.org/officeDocument/2006/relationships/hyperlink" Target="https://ru.wikipedia.org/wiki/PERT" TargetMode="External"/><Relationship Id="rId4" Type="http://schemas.openxmlformats.org/officeDocument/2006/relationships/hyperlink" Target="https://doitsmartly.ru/all-articles/management/99-agile/115-agile-estimation-techniques.html" TargetMode="External"/><Relationship Id="rId9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n3ifkDYgHM" TargetMode="External"/><Relationship Id="rId2" Type="http://schemas.openxmlformats.org/officeDocument/2006/relationships/hyperlink" Target="https://youtu.be/VsSaolMtkK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6q5-cVeNj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10073794" cy="220481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Scrum </a:t>
            </a:r>
            <a:r>
              <a:rPr lang="ru-RU" dirty="0"/>
              <a:t>церемонии и оценка задач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Митинги и церемонии</a:t>
            </a: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Scrum </a:t>
            </a:r>
            <a:r>
              <a:rPr lang="ru-RU" dirty="0"/>
              <a:t>церемонии и оценка задач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задач</a:t>
            </a:r>
          </a:p>
          <a:p>
            <a:pPr lvl="1"/>
            <a:r>
              <a:rPr lang="ru-RU" dirty="0"/>
              <a:t>Техники оценки задач</a:t>
            </a:r>
            <a:endParaRPr lang="en-US" dirty="0"/>
          </a:p>
          <a:p>
            <a:pPr lvl="1"/>
            <a:r>
              <a:rPr lang="en-US" dirty="0"/>
              <a:t>Hours vs Story Points</a:t>
            </a:r>
            <a:endParaRPr lang="ru-RU" dirty="0"/>
          </a:p>
          <a:p>
            <a:endParaRPr lang="ru-RU" dirty="0"/>
          </a:p>
          <a:p>
            <a:r>
              <a:rPr lang="en-US" dirty="0"/>
              <a:t>Scrum </a:t>
            </a:r>
            <a:r>
              <a:rPr lang="ru-RU" dirty="0"/>
              <a:t>церемонии </a:t>
            </a:r>
          </a:p>
          <a:p>
            <a:pPr lvl="1"/>
            <a:r>
              <a:rPr lang="en-US" dirty="0"/>
              <a:t>Stand-up</a:t>
            </a:r>
          </a:p>
          <a:p>
            <a:pPr lvl="1"/>
            <a:r>
              <a:rPr lang="en-US" dirty="0"/>
              <a:t>Grooming / Refinement</a:t>
            </a:r>
            <a:endParaRPr lang="ru-RU" dirty="0"/>
          </a:p>
          <a:p>
            <a:pPr lvl="1"/>
            <a:r>
              <a:rPr lang="en-US" dirty="0"/>
              <a:t>Demo</a:t>
            </a:r>
          </a:p>
          <a:p>
            <a:pPr lvl="1"/>
            <a:r>
              <a:rPr lang="en-US" dirty="0"/>
              <a:t>Planning </a:t>
            </a:r>
          </a:p>
          <a:p>
            <a:pPr lvl="1"/>
            <a:r>
              <a:rPr lang="en-US"/>
              <a:t>Retrospective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Техники оценки задач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12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DF9C-D25A-C24C-9043-EBD61AF1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645E031-B546-0E4B-BF01-5CF246E35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957835"/>
              </p:ext>
            </p:extLst>
          </p:nvPr>
        </p:nvGraphicFramePr>
        <p:xfrm>
          <a:off x="4800600" y="731520"/>
          <a:ext cx="649224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21566-0720-ED46-BF14-1086B8114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uk-UA" sz="1800" dirty="0" err="1"/>
              <a:t>это</a:t>
            </a:r>
            <a:r>
              <a:rPr lang="uk-UA" sz="1800" dirty="0"/>
              <a:t> прогноз, </a:t>
            </a:r>
            <a:r>
              <a:rPr lang="uk-UA" sz="1800" dirty="0" err="1"/>
              <a:t>построенный</a:t>
            </a:r>
            <a:r>
              <a:rPr lang="uk-UA" sz="1800" dirty="0"/>
              <a:t> на </a:t>
            </a:r>
            <a:r>
              <a:rPr lang="uk-UA" sz="1800" dirty="0" err="1"/>
              <a:t>основе</a:t>
            </a:r>
            <a:r>
              <a:rPr lang="uk-UA" sz="1800" dirty="0"/>
              <a:t> </a:t>
            </a:r>
            <a:r>
              <a:rPr lang="uk-UA" sz="1800" dirty="0" err="1"/>
              <a:t>имеющейся</a:t>
            </a:r>
            <a:r>
              <a:rPr lang="uk-UA" sz="1800" dirty="0"/>
              <a:t> </a:t>
            </a:r>
            <a:r>
              <a:rPr lang="uk-UA" sz="1800" dirty="0" err="1"/>
              <a:t>информации</a:t>
            </a:r>
            <a:r>
              <a:rPr lang="uk-UA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487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174EBC-88A9-FF45-A478-30C9A9B3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по аналогии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1C461-C1F5-1A48-A2DF-6DEC987EE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Новая задача займет примерно столько же, сколько похожая старая.</a:t>
            </a:r>
          </a:p>
          <a:p>
            <a:r>
              <a:rPr lang="ru-RU" dirty="0"/>
              <a:t>Точность повышается, при работе с похожими проектами в неизменном контексте (методология, перечень заинтересованных лиц, команда разработки, инструменты для управления требованиями). </a:t>
            </a:r>
          </a:p>
        </p:txBody>
      </p:sp>
    </p:spTree>
    <p:extLst>
      <p:ext uri="{BB962C8B-B14F-4D97-AF65-F5344CB8AC3E}">
        <p14:creationId xmlns:p14="http://schemas.microsoft.com/office/powerpoint/2010/main" val="82407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DE63-766D-6949-B3AE-52842E19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по частям (декомпозиция)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6A11-D27B-A448-B317-99BE2214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Оценка задачи = сумма оценок ее частей.</a:t>
            </a:r>
          </a:p>
          <a:p>
            <a:r>
              <a:rPr lang="ru-RU" dirty="0"/>
              <a:t>Маленькие части оценивать легче, чем большие.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3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7A05-6590-3C48-9B90-025C51B1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по трем точкам </a:t>
            </a:r>
            <a:r>
              <a:rPr lang="uk-UA" dirty="0"/>
              <a:t>(</a:t>
            </a:r>
            <a:r>
              <a:rPr lang="en-US" dirty="0"/>
              <a:t>Pert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1DA17-C0C3-C54F-9F58-046A0D825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Оценка = (оптимистическая + пессимистическая + (4 х реалистическая</a:t>
            </a:r>
            <a:r>
              <a:rPr lang="uk-UA" dirty="0"/>
              <a:t>))/6.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9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634D8-7077-B342-8C9E-F219BC60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Экспертная</a:t>
            </a:r>
            <a:r>
              <a:rPr lang="uk-UA" dirty="0"/>
              <a:t> </a:t>
            </a:r>
            <a:r>
              <a:rPr lang="uk-UA" dirty="0" err="1"/>
              <a:t>оценка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ECE6-F641-C64E-80B0-6D2A6192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err="1"/>
              <a:t>Делегирование</a:t>
            </a:r>
            <a:r>
              <a:rPr lang="uk-UA" dirty="0"/>
              <a:t> права </a:t>
            </a:r>
            <a:r>
              <a:rPr lang="uk-UA" dirty="0" err="1"/>
              <a:t>определить</a:t>
            </a:r>
            <a:r>
              <a:rPr lang="uk-UA" dirty="0"/>
              <a:t> </a:t>
            </a:r>
            <a:r>
              <a:rPr lang="uk-UA" dirty="0" err="1"/>
              <a:t>оценку</a:t>
            </a:r>
            <a:r>
              <a:rPr lang="uk-UA" dirty="0"/>
              <a:t> </a:t>
            </a:r>
            <a:r>
              <a:rPr lang="uk-UA" dirty="0" err="1"/>
              <a:t>человеку</a:t>
            </a:r>
            <a:r>
              <a:rPr lang="uk-UA" dirty="0"/>
              <a:t>, </a:t>
            </a:r>
            <a:r>
              <a:rPr lang="uk-UA" dirty="0" err="1"/>
              <a:t>который</a:t>
            </a:r>
            <a:r>
              <a:rPr lang="uk-UA" dirty="0"/>
              <a:t> </a:t>
            </a:r>
            <a:r>
              <a:rPr lang="uk-UA" dirty="0" err="1"/>
              <a:t>это</a:t>
            </a:r>
            <a:r>
              <a:rPr lang="uk-UA" dirty="0"/>
              <a:t> </a:t>
            </a:r>
            <a:r>
              <a:rPr lang="uk-UA" dirty="0" err="1"/>
              <a:t>сделает</a:t>
            </a:r>
            <a:r>
              <a:rPr lang="uk-UA" dirty="0"/>
              <a:t> </a:t>
            </a:r>
            <a:r>
              <a:rPr lang="uk-UA" dirty="0" err="1"/>
              <a:t>лучше</a:t>
            </a:r>
            <a:r>
              <a:rPr lang="uk-UA" dirty="0"/>
              <a:t> вас </a:t>
            </a:r>
            <a:r>
              <a:rPr lang="uk-UA" dirty="0" err="1"/>
              <a:t>или</a:t>
            </a:r>
            <a:r>
              <a:rPr lang="uk-UA" dirty="0"/>
              <a:t> </a:t>
            </a:r>
            <a:r>
              <a:rPr lang="uk-UA" dirty="0" err="1"/>
              <a:t>вместе</a:t>
            </a:r>
            <a:r>
              <a:rPr lang="uk-UA" dirty="0"/>
              <a:t> с вами.</a:t>
            </a:r>
          </a:p>
        </p:txBody>
      </p:sp>
    </p:spTree>
    <p:extLst>
      <p:ext uri="{BB962C8B-B14F-4D97-AF65-F5344CB8AC3E}">
        <p14:creationId xmlns:p14="http://schemas.microsoft.com/office/powerpoint/2010/main" val="331449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11DC-FDAB-4C4D-BDB1-5E85315B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Метод Дельфи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42129-1D25-0842-936F-92B62DA03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uk-UA" dirty="0" err="1"/>
              <a:t>Эксперты</a:t>
            </a:r>
            <a:r>
              <a:rPr lang="uk-UA" dirty="0"/>
              <a:t> </a:t>
            </a:r>
            <a:r>
              <a:rPr lang="uk-UA" dirty="0" err="1"/>
              <a:t>независимо</a:t>
            </a:r>
            <a:r>
              <a:rPr lang="uk-UA" dirty="0"/>
              <a:t> друг от друга </a:t>
            </a:r>
            <a:r>
              <a:rPr lang="uk-UA" dirty="0" err="1"/>
              <a:t>оценивают</a:t>
            </a:r>
            <a:r>
              <a:rPr lang="uk-UA" dirty="0"/>
              <a:t> </a:t>
            </a:r>
            <a:r>
              <a:rPr lang="uk-UA" dirty="0" err="1"/>
              <a:t>задачи</a:t>
            </a:r>
            <a:r>
              <a:rPr lang="uk-UA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 err="1"/>
              <a:t>Их</a:t>
            </a:r>
            <a:r>
              <a:rPr lang="uk-UA" dirty="0"/>
              <a:t> </a:t>
            </a:r>
            <a:r>
              <a:rPr lang="uk-UA" dirty="0" err="1"/>
              <a:t>оценки</a:t>
            </a:r>
            <a:r>
              <a:rPr lang="uk-UA" dirty="0"/>
              <a:t> </a:t>
            </a:r>
            <a:r>
              <a:rPr lang="uk-UA" dirty="0" err="1"/>
              <a:t>анализируются</a:t>
            </a:r>
            <a:r>
              <a:rPr lang="uk-UA" dirty="0"/>
              <a:t>: </a:t>
            </a:r>
            <a:r>
              <a:rPr lang="uk-UA" dirty="0" err="1"/>
              <a:t>если</a:t>
            </a:r>
            <a:r>
              <a:rPr lang="uk-UA" dirty="0"/>
              <a:t> все </a:t>
            </a:r>
            <a:r>
              <a:rPr lang="uk-UA" dirty="0" err="1"/>
              <a:t>эксперты</a:t>
            </a:r>
            <a:r>
              <a:rPr lang="uk-UA" dirty="0"/>
              <a:t> дали </a:t>
            </a:r>
            <a:r>
              <a:rPr lang="uk-UA" dirty="0" err="1"/>
              <a:t>одинаковый</a:t>
            </a:r>
            <a:r>
              <a:rPr lang="uk-UA" dirty="0"/>
              <a:t> </a:t>
            </a:r>
            <a:r>
              <a:rPr lang="uk-UA" dirty="0" err="1"/>
              <a:t>или</a:t>
            </a:r>
            <a:r>
              <a:rPr lang="uk-UA" dirty="0"/>
              <a:t> </a:t>
            </a:r>
            <a:r>
              <a:rPr lang="uk-UA" dirty="0" err="1"/>
              <a:t>незначительно</a:t>
            </a:r>
            <a:r>
              <a:rPr lang="uk-UA" dirty="0"/>
              <a:t> </a:t>
            </a:r>
            <a:r>
              <a:rPr lang="uk-UA" dirty="0" err="1"/>
              <a:t>отличающиеся</a:t>
            </a:r>
            <a:r>
              <a:rPr lang="uk-UA" dirty="0"/>
              <a:t> </a:t>
            </a:r>
            <a:r>
              <a:rPr lang="uk-UA" dirty="0" err="1"/>
              <a:t>оценки</a:t>
            </a:r>
            <a:r>
              <a:rPr lang="uk-UA" dirty="0"/>
              <a:t>, </a:t>
            </a:r>
            <a:r>
              <a:rPr lang="uk-UA" dirty="0" err="1"/>
              <a:t>мы</a:t>
            </a:r>
            <a:r>
              <a:rPr lang="uk-UA" dirty="0"/>
              <a:t> получили </a:t>
            </a:r>
            <a:r>
              <a:rPr lang="uk-UA" dirty="0" err="1"/>
              <a:t>согласованный</a:t>
            </a:r>
            <a:r>
              <a:rPr lang="uk-UA" dirty="0"/>
              <a:t> результат. 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В </a:t>
            </a:r>
            <a:r>
              <a:rPr lang="uk-UA" dirty="0" err="1"/>
              <a:t>противном</a:t>
            </a:r>
            <a:r>
              <a:rPr lang="uk-UA" dirty="0"/>
              <a:t> </a:t>
            </a:r>
            <a:r>
              <a:rPr lang="uk-UA" dirty="0" err="1"/>
              <a:t>случае</a:t>
            </a:r>
            <a:r>
              <a:rPr lang="uk-UA" dirty="0"/>
              <a:t>, </a:t>
            </a:r>
            <a:r>
              <a:rPr lang="uk-UA" dirty="0" err="1"/>
              <a:t>эксперты</a:t>
            </a:r>
            <a:r>
              <a:rPr lang="uk-UA" dirty="0"/>
              <a:t> </a:t>
            </a:r>
            <a:r>
              <a:rPr lang="uk-UA" dirty="0" err="1"/>
              <a:t>получают</a:t>
            </a:r>
            <a:r>
              <a:rPr lang="uk-UA" dirty="0"/>
              <a:t> </a:t>
            </a:r>
            <a:r>
              <a:rPr lang="uk-UA" dirty="0" err="1"/>
              <a:t>информацию</a:t>
            </a:r>
            <a:r>
              <a:rPr lang="uk-UA" dirty="0"/>
              <a:t>, </a:t>
            </a:r>
            <a:r>
              <a:rPr lang="uk-UA" dirty="0" err="1"/>
              <a:t>какие</a:t>
            </a:r>
            <a:r>
              <a:rPr lang="uk-UA" dirty="0"/>
              <a:t> </a:t>
            </a:r>
            <a:r>
              <a:rPr lang="uk-UA" dirty="0" err="1"/>
              <a:t>есть</a:t>
            </a:r>
            <a:r>
              <a:rPr lang="uk-UA" dirty="0"/>
              <a:t> </a:t>
            </a:r>
            <a:r>
              <a:rPr lang="uk-UA" dirty="0" err="1"/>
              <a:t>альтернативные</a:t>
            </a:r>
            <a:r>
              <a:rPr lang="uk-UA" dirty="0"/>
              <a:t> </a:t>
            </a:r>
            <a:r>
              <a:rPr lang="uk-UA" dirty="0" err="1"/>
              <a:t>мнения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могут</a:t>
            </a:r>
            <a:r>
              <a:rPr lang="uk-UA" dirty="0"/>
              <a:t> </a:t>
            </a:r>
            <a:r>
              <a:rPr lang="uk-UA" dirty="0" err="1"/>
              <a:t>обосновать</a:t>
            </a:r>
            <a:r>
              <a:rPr lang="uk-UA" dirty="0"/>
              <a:t> свою точку </a:t>
            </a:r>
            <a:r>
              <a:rPr lang="uk-UA" dirty="0" err="1"/>
              <a:t>зрения</a:t>
            </a:r>
            <a:r>
              <a:rPr lang="uk-UA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Проводиться </a:t>
            </a:r>
            <a:r>
              <a:rPr lang="uk-UA" dirty="0" err="1"/>
              <a:t>очередной</a:t>
            </a:r>
            <a:r>
              <a:rPr lang="uk-UA" dirty="0"/>
              <a:t> раунд </a:t>
            </a:r>
            <a:r>
              <a:rPr lang="uk-UA" dirty="0" err="1"/>
              <a:t>независимой</a:t>
            </a:r>
            <a:r>
              <a:rPr lang="uk-UA" dirty="0"/>
              <a:t> </a:t>
            </a:r>
            <a:r>
              <a:rPr lang="uk-UA" dirty="0" err="1"/>
              <a:t>оценки</a:t>
            </a:r>
            <a:r>
              <a:rPr lang="uk-UA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0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00F3-9E59-C94F-A8F2-9E96535B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85120" cy="1450757"/>
          </a:xfrm>
        </p:spPr>
        <p:txBody>
          <a:bodyPr/>
          <a:lstStyle/>
          <a:p>
            <a:r>
              <a:rPr lang="uk-UA" dirty="0"/>
              <a:t>Метод </a:t>
            </a:r>
            <a:r>
              <a:rPr lang="uk-UA" dirty="0" err="1"/>
              <a:t>набегающей</a:t>
            </a:r>
            <a:r>
              <a:rPr lang="uk-UA" dirty="0"/>
              <a:t> </a:t>
            </a:r>
            <a:r>
              <a:rPr lang="uk-UA" dirty="0" err="1"/>
              <a:t>волны</a:t>
            </a:r>
            <a:r>
              <a:rPr lang="uk-UA" dirty="0"/>
              <a:t> (</a:t>
            </a:r>
            <a:r>
              <a:rPr lang="en-US" dirty="0"/>
              <a:t>Rolling Wave)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45AB7-585F-3049-BD45-45EA6FC4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Грубая предварительная оценка всего задания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Декомпозиция на задачи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Оценка первой задачи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Выполнение первой задачи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Пересмотр оценки всего задания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Переход к следующей задаче.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ru-RU" dirty="0"/>
              <a:t>П</a:t>
            </a:r>
            <a:r>
              <a:rPr lang="uk-UA" dirty="0" err="1"/>
              <a:t>ервоначальная</a:t>
            </a:r>
            <a:r>
              <a:rPr lang="uk-UA" dirty="0"/>
              <a:t> </a:t>
            </a:r>
            <a:r>
              <a:rPr lang="uk-UA" dirty="0" err="1"/>
              <a:t>оценка</a:t>
            </a:r>
            <a:r>
              <a:rPr lang="uk-UA" dirty="0"/>
              <a:t> </a:t>
            </a:r>
            <a:r>
              <a:rPr lang="uk-UA" dirty="0" err="1"/>
              <a:t>может</a:t>
            </a:r>
            <a:r>
              <a:rPr lang="uk-UA" dirty="0"/>
              <a:t> </a:t>
            </a:r>
            <a:r>
              <a:rPr lang="uk-UA" dirty="0" err="1"/>
              <a:t>поменяться</a:t>
            </a:r>
            <a:r>
              <a:rPr lang="uk-UA" dirty="0"/>
              <a:t> </a:t>
            </a:r>
            <a:r>
              <a:rPr lang="uk-UA" dirty="0" err="1"/>
              <a:t>значительно</a:t>
            </a:r>
            <a:r>
              <a:rPr lang="uk-UA" dirty="0"/>
              <a:t>. </a:t>
            </a:r>
            <a:r>
              <a:rPr lang="uk-UA" dirty="0" err="1"/>
              <a:t>Зато</a:t>
            </a:r>
            <a:r>
              <a:rPr lang="uk-UA" dirty="0"/>
              <a:t> </a:t>
            </a:r>
            <a:r>
              <a:rPr lang="uk-UA" dirty="0" err="1"/>
              <a:t>вы</a:t>
            </a:r>
            <a:r>
              <a:rPr lang="uk-UA" dirty="0"/>
              <a:t> не </a:t>
            </a:r>
            <a:r>
              <a:rPr lang="uk-UA" dirty="0" err="1"/>
              <a:t>откладываете</a:t>
            </a:r>
            <a:r>
              <a:rPr lang="uk-UA" dirty="0"/>
              <a:t> </a:t>
            </a:r>
            <a:r>
              <a:rPr lang="uk-UA" dirty="0" err="1"/>
              <a:t>печальную</a:t>
            </a:r>
            <a:r>
              <a:rPr lang="uk-UA" dirty="0"/>
              <a:t> </a:t>
            </a:r>
            <a:r>
              <a:rPr lang="uk-UA" dirty="0" err="1"/>
              <a:t>новость</a:t>
            </a:r>
            <a:r>
              <a:rPr lang="uk-UA" dirty="0"/>
              <a:t>, </a:t>
            </a:r>
            <a:r>
              <a:rPr lang="uk-UA" dirty="0" err="1"/>
              <a:t>что</a:t>
            </a:r>
            <a:r>
              <a:rPr lang="uk-UA" dirty="0"/>
              <a:t> в </a:t>
            </a:r>
            <a:r>
              <a:rPr lang="uk-UA" dirty="0" err="1"/>
              <a:t>срок</a:t>
            </a:r>
            <a:r>
              <a:rPr lang="uk-UA" dirty="0"/>
              <a:t> все готово не </a:t>
            </a:r>
            <a:r>
              <a:rPr lang="uk-UA" dirty="0" err="1"/>
              <a:t>будет</a:t>
            </a:r>
            <a:r>
              <a:rPr lang="uk-UA" dirty="0"/>
              <a:t>, на </a:t>
            </a:r>
            <a:r>
              <a:rPr lang="uk-UA" dirty="0" err="1"/>
              <a:t>финал</a:t>
            </a:r>
            <a:r>
              <a:rPr lang="uk-UA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4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Оценка задач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Hours vs Story Points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4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7607381-72DB-41C0-AE41-6F579BC8B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505" y="731838"/>
            <a:ext cx="5027065" cy="5257800"/>
          </a:xfr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1EF1365-48C7-4C51-AA6E-058A8DF4D370}"/>
              </a:ext>
            </a:extLst>
          </p:cNvPr>
          <p:cNvSpPr txBox="1">
            <a:spLocks/>
          </p:cNvSpPr>
          <p:nvPr/>
        </p:nvSpPr>
        <p:spPr>
          <a:xfrm>
            <a:off x="1061556" y="2108169"/>
            <a:ext cx="2077782" cy="577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none" baseline="0">
                <a:solidFill>
                  <a:srgbClr val="0F79C1"/>
                </a:solidFill>
                <a:effectLst/>
                <a:latin typeface="Arial Nova" panose="020B05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Story Point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EA822F0-9890-4432-B5CC-0DBA51D4228C}"/>
              </a:ext>
            </a:extLst>
          </p:cNvPr>
          <p:cNvSpPr txBox="1">
            <a:spLocks/>
          </p:cNvSpPr>
          <p:nvPr/>
        </p:nvSpPr>
        <p:spPr>
          <a:xfrm>
            <a:off x="886764" y="3700966"/>
            <a:ext cx="2484658" cy="577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7030A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X 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man-hours</a:t>
            </a:r>
          </a:p>
        </p:txBody>
      </p:sp>
      <p:sp>
        <p:nvSpPr>
          <p:cNvPr id="16" name="Not Equal 15">
            <a:extLst>
              <a:ext uri="{FF2B5EF4-FFF2-40B4-BE49-F238E27FC236}">
                <a16:creationId xmlns:a16="http://schemas.microsoft.com/office/drawing/2014/main" id="{4D9B27F6-0331-4833-BCA5-9DB61C0E482D}"/>
              </a:ext>
            </a:extLst>
          </p:cNvPr>
          <p:cNvSpPr>
            <a:spLocks/>
          </p:cNvSpPr>
          <p:nvPr/>
        </p:nvSpPr>
        <p:spPr>
          <a:xfrm>
            <a:off x="1500150" y="2837842"/>
            <a:ext cx="1200593" cy="577362"/>
          </a:xfrm>
          <a:prstGeom prst="mathNotEqual">
            <a:avLst/>
          </a:prstGeom>
          <a:solidFill>
            <a:srgbClr val="FF0000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0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Man">
            <a:extLst>
              <a:ext uri="{FF2B5EF4-FFF2-40B4-BE49-F238E27FC236}">
                <a16:creationId xmlns:a16="http://schemas.microsoft.com/office/drawing/2014/main" id="{76E1A47C-7358-4C51-A78E-40EEBD6F4F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395" y="2347330"/>
            <a:ext cx="2150968" cy="2150968"/>
          </a:xfrm>
          <a:prstGeom prst="rect">
            <a:avLst/>
          </a:prstGeom>
        </p:spPr>
      </p:pic>
      <p:pic>
        <p:nvPicPr>
          <p:cNvPr id="6" name="Graphic 5" descr="Woman">
            <a:extLst>
              <a:ext uri="{FF2B5EF4-FFF2-40B4-BE49-F238E27FC236}">
                <a16:creationId xmlns:a16="http://schemas.microsoft.com/office/drawing/2014/main" id="{04C94EE6-F1E4-4064-8D61-8C7A7D6B9E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1951" y="2353516"/>
            <a:ext cx="2150968" cy="2150968"/>
          </a:xfrm>
          <a:prstGeom prst="rect">
            <a:avLst/>
          </a:prstGeom>
        </p:spPr>
      </p:pic>
      <p:sp>
        <p:nvSpPr>
          <p:cNvPr id="7" name="Cloud Callout 7">
            <a:extLst>
              <a:ext uri="{FF2B5EF4-FFF2-40B4-BE49-F238E27FC236}">
                <a16:creationId xmlns:a16="http://schemas.microsoft.com/office/drawing/2014/main" id="{D45EA4F4-E83B-491C-BD1D-C021FC182A71}"/>
              </a:ext>
            </a:extLst>
          </p:cNvPr>
          <p:cNvSpPr/>
          <p:nvPr/>
        </p:nvSpPr>
        <p:spPr>
          <a:xfrm>
            <a:off x="9324777" y="1468104"/>
            <a:ext cx="2012550" cy="1051657"/>
          </a:xfrm>
          <a:prstGeom prst="cloudCallout">
            <a:avLst>
              <a:gd name="adj1" fmla="val -66127"/>
              <a:gd name="adj2" fmla="val 6736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7 minutes</a:t>
            </a:r>
          </a:p>
        </p:txBody>
      </p:sp>
      <p:sp>
        <p:nvSpPr>
          <p:cNvPr id="8" name="Cloud Callout 7">
            <a:extLst>
              <a:ext uri="{FF2B5EF4-FFF2-40B4-BE49-F238E27FC236}">
                <a16:creationId xmlns:a16="http://schemas.microsoft.com/office/drawing/2014/main" id="{ACA8D954-F81B-4351-95A0-A6872EF1E0F3}"/>
              </a:ext>
            </a:extLst>
          </p:cNvPr>
          <p:cNvSpPr/>
          <p:nvPr/>
        </p:nvSpPr>
        <p:spPr>
          <a:xfrm flipH="1">
            <a:off x="854673" y="1468105"/>
            <a:ext cx="2012550" cy="1051657"/>
          </a:xfrm>
          <a:prstGeom prst="cloudCallout">
            <a:avLst>
              <a:gd name="adj1" fmla="val -66127"/>
              <a:gd name="adj2" fmla="val 6736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5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9B2359-0D82-49C3-B456-40C8814D3DCD}"/>
              </a:ext>
            </a:extLst>
          </p:cNvPr>
          <p:cNvSpPr/>
          <p:nvPr/>
        </p:nvSpPr>
        <p:spPr>
          <a:xfrm>
            <a:off x="3025260" y="5125912"/>
            <a:ext cx="1129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Bob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8DC85-6D6A-448B-B2F8-9BEC99D2A6B1}"/>
              </a:ext>
            </a:extLst>
          </p:cNvPr>
          <p:cNvSpPr/>
          <p:nvPr/>
        </p:nvSpPr>
        <p:spPr>
          <a:xfrm>
            <a:off x="8062816" y="5125912"/>
            <a:ext cx="1129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Sarah</a:t>
            </a:r>
          </a:p>
        </p:txBody>
      </p:sp>
      <p:pic>
        <p:nvPicPr>
          <p:cNvPr id="11" name="Graphic 10" descr="Popcorn">
            <a:extLst>
              <a:ext uri="{FF2B5EF4-FFF2-40B4-BE49-F238E27FC236}">
                <a16:creationId xmlns:a16="http://schemas.microsoft.com/office/drawing/2014/main" id="{5ED04F7A-A426-41C4-AC92-F6F6EE58F6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9213" y="2519761"/>
            <a:ext cx="1006275" cy="1006275"/>
          </a:xfrm>
          <a:prstGeom prst="rect">
            <a:avLst/>
          </a:prstGeom>
        </p:spPr>
      </p:pic>
      <p:pic>
        <p:nvPicPr>
          <p:cNvPr id="12" name="Graphic 11" descr="Popcorn">
            <a:extLst>
              <a:ext uri="{FF2B5EF4-FFF2-40B4-BE49-F238E27FC236}">
                <a16:creationId xmlns:a16="http://schemas.microsoft.com/office/drawing/2014/main" id="{199DAB8E-3840-4A27-AC62-E958F4190B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4650" y="2519761"/>
            <a:ext cx="1006275" cy="100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93C793-BCE7-4194-ADB4-B3E669624FDA}"/>
              </a:ext>
            </a:extLst>
          </p:cNvPr>
          <p:cNvSpPr/>
          <p:nvPr/>
        </p:nvSpPr>
        <p:spPr>
          <a:xfrm>
            <a:off x="7695463" y="5363814"/>
            <a:ext cx="2663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Risks (Uncertainty)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EC095-BE0C-4B66-8DAD-0BF33A3098C6}"/>
              </a:ext>
            </a:extLst>
          </p:cNvPr>
          <p:cNvSpPr/>
          <p:nvPr/>
        </p:nvSpPr>
        <p:spPr>
          <a:xfrm>
            <a:off x="5045653" y="406515"/>
            <a:ext cx="2296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Scope (Quantity)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C92156-00BA-49AE-A455-190855E3F85A}"/>
              </a:ext>
            </a:extLst>
          </p:cNvPr>
          <p:cNvSpPr/>
          <p:nvPr/>
        </p:nvSpPr>
        <p:spPr>
          <a:xfrm>
            <a:off x="2227823" y="5359078"/>
            <a:ext cx="3079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Complexity (Difficulty)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25C285-59A4-424E-87C1-CAB01545AC64}"/>
              </a:ext>
            </a:extLst>
          </p:cNvPr>
          <p:cNvCxnSpPr/>
          <p:nvPr/>
        </p:nvCxnSpPr>
        <p:spPr>
          <a:xfrm flipV="1">
            <a:off x="6193899" y="868180"/>
            <a:ext cx="0" cy="281940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0FA8FC-3550-45F1-9E77-698F1AAECC9A}"/>
              </a:ext>
            </a:extLst>
          </p:cNvPr>
          <p:cNvCxnSpPr>
            <a:cxnSpLocks/>
          </p:cNvCxnSpPr>
          <p:nvPr/>
        </p:nvCxnSpPr>
        <p:spPr>
          <a:xfrm flipH="1">
            <a:off x="3530278" y="3687580"/>
            <a:ext cx="2663621" cy="163677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B6753B-B611-41FB-A50A-B6ED864B66BB}"/>
              </a:ext>
            </a:extLst>
          </p:cNvPr>
          <p:cNvCxnSpPr>
            <a:cxnSpLocks/>
          </p:cNvCxnSpPr>
          <p:nvPr/>
        </p:nvCxnSpPr>
        <p:spPr>
          <a:xfrm>
            <a:off x="6193899" y="3687580"/>
            <a:ext cx="2663621" cy="163677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61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50C8-29F8-4775-B735-3D06FE43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151314"/>
          </a:xfrm>
        </p:spPr>
        <p:txBody>
          <a:bodyPr/>
          <a:lstStyle/>
          <a:p>
            <a:r>
              <a:rPr lang="ru-RU" dirty="0"/>
              <a:t>Числа Фибоначчи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634C39-FB84-4223-BFA6-3961E4253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556646"/>
            <a:ext cx="6492875" cy="36081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975A5-DA89-40D1-BFB3-0E5013FDE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745673"/>
            <a:ext cx="3200400" cy="455953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Баллы ставятся по экспоненте, чем труднее задача, тем больший промежуток между соседними оценками.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Используются целые числа, которые дают более конкретное представление о величине.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Заставляют сделать выбор между «больше или меньше».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Убирает заблуждение, что время на задачу можно уменьшить пропорционально, если работать вдвоём, втроём и так далее. Такое заблуждение часто бывает при шкале оценок 2^n (1, 2, 4...).</a:t>
            </a:r>
          </a:p>
        </p:txBody>
      </p:sp>
    </p:spTree>
    <p:extLst>
      <p:ext uri="{BB962C8B-B14F-4D97-AF65-F5344CB8AC3E}">
        <p14:creationId xmlns:p14="http://schemas.microsoft.com/office/powerpoint/2010/main" val="390026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DA89-6FEE-41A0-BCEE-D96A0ED2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Типичные ошибки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00F3-DB15-4700-9E47-7EE53754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Story Point</a:t>
            </a:r>
            <a:r>
              <a:rPr lang="ru-RU" dirty="0"/>
              <a:t> не надо сводить только к сложности, неопределенности или объему работы.</a:t>
            </a:r>
          </a:p>
          <a:p>
            <a:r>
              <a:rPr lang="en-US" dirty="0"/>
              <a:t>Story Point</a:t>
            </a:r>
            <a:r>
              <a:rPr lang="ru-RU" dirty="0"/>
              <a:t> не переводится в часы</a:t>
            </a:r>
            <a:r>
              <a:rPr lang="en-US" dirty="0"/>
              <a:t>.</a:t>
            </a:r>
          </a:p>
          <a:p>
            <a:r>
              <a:rPr lang="en-US" dirty="0"/>
              <a:t>Story Point</a:t>
            </a:r>
            <a:r>
              <a:rPr lang="ru-RU" dirty="0"/>
              <a:t> не усредняются (3</a:t>
            </a:r>
            <a:r>
              <a:rPr lang="en-US" dirty="0"/>
              <a:t>?</a:t>
            </a:r>
            <a:r>
              <a:rPr lang="ru-RU" dirty="0"/>
              <a:t>5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&gt; </a:t>
            </a:r>
            <a:r>
              <a:rPr lang="ru-RU" dirty="0"/>
              <a:t>4).</a:t>
            </a:r>
          </a:p>
          <a:p>
            <a:r>
              <a:rPr lang="ru-RU" dirty="0"/>
              <a:t>Оценка не меняется в ходе спринта.</a:t>
            </a:r>
          </a:p>
          <a:p>
            <a:r>
              <a:rPr lang="ru-RU" dirty="0"/>
              <a:t>Баги нужно оценивать.</a:t>
            </a:r>
          </a:p>
          <a:p>
            <a:r>
              <a:rPr lang="ru-RU" dirty="0"/>
              <a:t>Неверно выбранный эквивалентный </a:t>
            </a:r>
            <a:r>
              <a:rPr lang="en-US" dirty="0"/>
              <a:t>Story Point </a:t>
            </a:r>
            <a:r>
              <a:rPr lang="ru-RU" dirty="0"/>
              <a:t>=</a:t>
            </a:r>
            <a:r>
              <a:rPr lang="en-US" dirty="0"/>
              <a:t>&gt; </a:t>
            </a:r>
            <a:r>
              <a:rPr lang="ru-RU" dirty="0"/>
              <a:t>0,5 </a:t>
            </a:r>
            <a:r>
              <a:rPr lang="en-US" dirty="0"/>
              <a:t>SP</a:t>
            </a:r>
            <a:endParaRPr lang="ru-RU" dirty="0"/>
          </a:p>
          <a:p>
            <a:r>
              <a:rPr lang="ru-RU" dirty="0"/>
              <a:t>Не подстраивайте оценку в </a:t>
            </a:r>
            <a:r>
              <a:rPr lang="en-US" dirty="0"/>
              <a:t>Story Point </a:t>
            </a:r>
            <a:r>
              <a:rPr lang="ru-RU" dirty="0"/>
              <a:t>под отдельного разработчика.</a:t>
            </a:r>
          </a:p>
          <a:p>
            <a:r>
              <a:rPr lang="ru-RU" dirty="0"/>
              <a:t>Если меняется состав команды, нужно настроить оценки заново.</a:t>
            </a:r>
          </a:p>
          <a:p>
            <a:r>
              <a:rPr lang="ru-RU" dirty="0"/>
              <a:t>Не забывайте обсудить неадекватные оценки на ретроспективе.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4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C714-1800-534C-8092-FA6B6738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P.S.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301C4-F7A2-444E-80B1-649D0851B0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047" y="1903361"/>
            <a:ext cx="6023906" cy="419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24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Практика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Planning poker</a:t>
            </a:r>
          </a:p>
        </p:txBody>
      </p:sp>
    </p:spTree>
    <p:extLst>
      <p:ext uri="{BB962C8B-B14F-4D97-AF65-F5344CB8AC3E}">
        <p14:creationId xmlns:p14="http://schemas.microsoft.com/office/powerpoint/2010/main" val="294337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3966-6DEA-4DB5-9742-E0F6E29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Оценить задачи</a:t>
            </a:r>
            <a:endParaRPr lang="en-US" dirty="0"/>
          </a:p>
        </p:txBody>
      </p:sp>
      <p:pic>
        <p:nvPicPr>
          <p:cNvPr id="5134" name="Picture 14" descr="ÐÐ°ÑÑÐ¸Ð½ÐºÐ¸ Ð¿Ð¾ Ð·Ð°Ð¿ÑÐ¾ÑÑ draw io logo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923" y="10311333"/>
            <a:ext cx="272948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Long sleeve shirt">
            <a:extLst>
              <a:ext uri="{FF2B5EF4-FFF2-40B4-BE49-F238E27FC236}">
                <a16:creationId xmlns:a16="http://schemas.microsoft.com/office/drawing/2014/main" id="{9D85A1C2-8245-4274-962A-A3FCD3F11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0548" y="4038222"/>
            <a:ext cx="2155044" cy="2155044"/>
          </a:xfrm>
          <a:prstGeom prst="rect">
            <a:avLst/>
          </a:prstGeom>
        </p:spPr>
      </p:pic>
      <p:pic>
        <p:nvPicPr>
          <p:cNvPr id="14" name="Graphic 13" descr="Winter hat">
            <a:extLst>
              <a:ext uri="{FF2B5EF4-FFF2-40B4-BE49-F238E27FC236}">
                <a16:creationId xmlns:a16="http://schemas.microsoft.com/office/drawing/2014/main" id="{037DDD72-3414-49A9-8EDE-D929A35895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3112" y="1819341"/>
            <a:ext cx="2155044" cy="2155044"/>
          </a:xfrm>
          <a:prstGeom prst="rect">
            <a:avLst/>
          </a:prstGeom>
        </p:spPr>
      </p:pic>
      <p:pic>
        <p:nvPicPr>
          <p:cNvPr id="15" name="Graphic 14" descr="Mittens">
            <a:extLst>
              <a:ext uri="{FF2B5EF4-FFF2-40B4-BE49-F238E27FC236}">
                <a16:creationId xmlns:a16="http://schemas.microsoft.com/office/drawing/2014/main" id="{AD5FD128-CD48-45E2-AB9F-6B1BDFFFC4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1334" y="1819341"/>
            <a:ext cx="2155045" cy="2155045"/>
          </a:xfrm>
          <a:prstGeom prst="rect">
            <a:avLst/>
          </a:prstGeom>
        </p:spPr>
      </p:pic>
      <p:pic>
        <p:nvPicPr>
          <p:cNvPr id="16" name="Graphic 15" descr="Dress">
            <a:extLst>
              <a:ext uri="{FF2B5EF4-FFF2-40B4-BE49-F238E27FC236}">
                <a16:creationId xmlns:a16="http://schemas.microsoft.com/office/drawing/2014/main" id="{877225DD-0430-440D-B975-1451B748B3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64889" y="1819341"/>
            <a:ext cx="2155044" cy="2155044"/>
          </a:xfrm>
          <a:prstGeom prst="rect">
            <a:avLst/>
          </a:prstGeom>
        </p:spPr>
      </p:pic>
      <p:pic>
        <p:nvPicPr>
          <p:cNvPr id="17" name="Graphic 16" descr="Sox">
            <a:extLst>
              <a:ext uri="{FF2B5EF4-FFF2-40B4-BE49-F238E27FC236}">
                <a16:creationId xmlns:a16="http://schemas.microsoft.com/office/drawing/2014/main" id="{CB72A478-7976-4238-8A90-E572D6D1CE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4481" y="4038222"/>
            <a:ext cx="2155044" cy="215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9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B9FF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F5FCF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Planning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Sprint Planning &amp; Planning</a:t>
            </a:r>
            <a:r>
              <a:rPr lang="ru-RU" dirty="0"/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Poker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50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82B8-EDC3-41C7-842F-7B5D9094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</a:t>
            </a:r>
            <a:r>
              <a:rPr lang="ru-RU" dirty="0"/>
              <a:t> </a:t>
            </a:r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7DBF2-EF12-459F-BE81-560B72B82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это ограниченная по времени встреча в начале спринта, на которой Команда и Владелец Продукта (</a:t>
            </a:r>
            <a:r>
              <a:rPr lang="en-US" dirty="0"/>
              <a:t>PO</a:t>
            </a:r>
            <a:r>
              <a:rPr lang="ru-RU" dirty="0"/>
              <a:t>) обсуждают и принимают решение о том, какая работа будет завершена в спринте.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7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Velocity VS Capacity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усредненные по времени результаты, полученные командой.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Capacity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это оценочное значение, которое потенциально может быть доставлено, которое определяется во время планирования. Он основан на скорости и адаптирован к реалиям ожидаемых праздников, отсутствия персонала или изменений.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DBEA-5E28-45AA-9482-D22C274B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Planning Poker</a:t>
            </a:r>
            <a:r>
              <a:rPr lang="en-US" dirty="0"/>
              <a:t> / </a:t>
            </a:r>
            <a:r>
              <a:rPr lang="ru-RU" dirty="0"/>
              <a:t>Scrum poker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2C47-57F8-4157-A6DC-7F901AFD5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 — техника оценки, основанная на достижении договоренности, главным образом используемая для оценки сложности предстоящей работы или относительного объема решаемых задач при разработке программного обеспечения.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97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46FD-C0F0-4F14-9A97-5DA4D01F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</a:t>
            </a:r>
            <a:r>
              <a:rPr lang="en-US" dirty="0"/>
              <a:t>Sprint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0915-F8DE-46E6-B3F7-278520A2D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3" y="1911927"/>
            <a:ext cx="10679915" cy="4392295"/>
          </a:xfrm>
        </p:spPr>
        <p:txBody>
          <a:bodyPr>
            <a:normAutofit/>
          </a:bodyPr>
          <a:lstStyle/>
          <a:p>
            <a:r>
              <a:rPr lang="ru-RU" dirty="0"/>
              <a:t>Владелец продукта сам определяет и решает, какая работа будет завершена;</a:t>
            </a:r>
          </a:p>
          <a:p>
            <a:r>
              <a:rPr lang="ru-RU" dirty="0"/>
              <a:t>Нет доверия или уважения с обеих сторон;</a:t>
            </a:r>
          </a:p>
          <a:p>
            <a:r>
              <a:rPr lang="ru-RU" dirty="0"/>
              <a:t>Неподходящая среда, команда не чувствует поддержки или безопасности;</a:t>
            </a:r>
          </a:p>
          <a:p>
            <a:r>
              <a:rPr lang="ru-RU" dirty="0"/>
              <a:t>Команда не понимает, для чего нужна эта встреча;</a:t>
            </a:r>
          </a:p>
          <a:p>
            <a:r>
              <a:rPr lang="ru-RU" dirty="0"/>
              <a:t>Неактивность команды;</a:t>
            </a:r>
          </a:p>
          <a:p>
            <a:r>
              <a:rPr lang="ru-RU" dirty="0"/>
              <a:t>Встреча не включает участников в процесс;</a:t>
            </a:r>
          </a:p>
          <a:p>
            <a:r>
              <a:rPr lang="ru-RU" dirty="0"/>
              <a:t>Беклог продукта не актуален, не приоритезирован или не готов к обсуждению;</a:t>
            </a:r>
          </a:p>
          <a:p>
            <a:r>
              <a:rPr lang="ru-RU" dirty="0"/>
              <a:t>Излишняя детализация (вся работа уже распределена по исполнителям);</a:t>
            </a:r>
            <a:endParaRPr lang="en-US" dirty="0"/>
          </a:p>
          <a:p>
            <a:r>
              <a:rPr lang="ru-RU" dirty="0"/>
              <a:t>Встреча слишком длинная.</a:t>
            </a:r>
          </a:p>
        </p:txBody>
      </p:sp>
    </p:spTree>
    <p:extLst>
      <p:ext uri="{BB962C8B-B14F-4D97-AF65-F5344CB8AC3E}">
        <p14:creationId xmlns:p14="http://schemas.microsoft.com/office/powerpoint/2010/main" val="4036949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Stand-up / </a:t>
            </a:r>
            <a:br>
              <a:rPr lang="en-US" sz="4400" dirty="0"/>
            </a:br>
            <a:r>
              <a:rPr lang="en-US" sz="4400" dirty="0"/>
              <a:t>Daily sync-up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up be quick</a:t>
            </a:r>
          </a:p>
        </p:txBody>
      </p:sp>
    </p:spTree>
    <p:extLst>
      <p:ext uri="{BB962C8B-B14F-4D97-AF65-F5344CB8AC3E}">
        <p14:creationId xmlns:p14="http://schemas.microsoft.com/office/powerpoint/2010/main" val="16297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1F64-60D4-4735-ABB4-1B8717CC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Stand-up / Daily sync-up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61B8B-7231-4FF2-9F38-B0B8E5B7F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ежедневное короткое собрание всей команды, целью которой явдяется синхронизация статуса всех членов команды. Заявление статуса происходит по следующему шаблону: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Вчера я занимался </a:t>
            </a:r>
            <a:r>
              <a:rPr lang="ru-RU" dirty="0"/>
              <a:t>вот этим...</a:t>
            </a:r>
          </a:p>
          <a:p>
            <a:pPr marL="0" indent="0">
              <a:buNone/>
            </a:pPr>
            <a:r>
              <a:rPr lang="ru-RU" b="1" dirty="0"/>
              <a:t>Сегодня планирую заниматься </a:t>
            </a:r>
            <a:r>
              <a:rPr lang="ru-RU" dirty="0"/>
              <a:t>вот этим...</a:t>
            </a:r>
          </a:p>
          <a:p>
            <a:pPr marL="0" indent="0">
              <a:buNone/>
            </a:pPr>
            <a:r>
              <a:rPr lang="ru-RU" dirty="0"/>
              <a:t>У меня есть вот такие </a:t>
            </a:r>
            <a:r>
              <a:rPr lang="ru-RU" b="1" dirty="0"/>
              <a:t>блокеры / проблемы</a:t>
            </a:r>
            <a:r>
              <a:rPr lang="ru-RU" dirty="0"/>
              <a:t>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95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5C5B60-F830-4187-9D6E-940D63BB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Stand-up / Daily sync-up</a:t>
            </a:r>
            <a:r>
              <a:rPr lang="ru-RU" dirty="0"/>
              <a:t>: Цель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E91A5-9D98-4431-8222-85AF2E482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подготовка к рабочему дню и планирование его;</a:t>
            </a:r>
          </a:p>
          <a:p>
            <a:r>
              <a:rPr lang="ru-RU" dirty="0"/>
              <a:t>оценка предыдущего своего рабочего дня;</a:t>
            </a:r>
          </a:p>
          <a:p>
            <a:r>
              <a:rPr lang="ru-RU" dirty="0"/>
              <a:t>поделиться информацией и планами с коллегами;</a:t>
            </a:r>
          </a:p>
          <a:p>
            <a:r>
              <a:rPr lang="ru-RU" dirty="0"/>
              <a:t>получить информацию от коллег, которая может пригодится в течение рабочего дня.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25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5C5B60-F830-4187-9D6E-940D63BB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Stand-up / Daily sync-up</a:t>
            </a:r>
            <a:r>
              <a:rPr lang="ru-RU" dirty="0"/>
              <a:t>: Условия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F6BC42-D442-492E-A9ED-4021BFBF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день в одно и то же время;</a:t>
            </a:r>
          </a:p>
          <a:p>
            <a:r>
              <a:rPr lang="ru-RU" dirty="0"/>
              <a:t>Не более 20 минут;</a:t>
            </a:r>
          </a:p>
          <a:p>
            <a:r>
              <a:rPr lang="ru-RU" dirty="0"/>
              <a:t>Информация только в рамках шаблона статуса;</a:t>
            </a:r>
          </a:p>
          <a:p>
            <a:r>
              <a:rPr lang="ru-RU" dirty="0"/>
              <a:t>Говорит только один человек и в свою очередь.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6461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C0FD-F0B5-4723-840F-E1F15CA4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Статус?</a:t>
            </a:r>
            <a:endParaRPr lang="en-US" dirty="0"/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sz="1800" dirty="0"/>
              <a:t>«Дайте </a:t>
            </a:r>
            <a:r>
              <a:rPr lang="ru-RU" sz="1800" dirty="0" err="1"/>
              <a:t>тестировщику</a:t>
            </a:r>
            <a:r>
              <a:rPr lang="ru-RU" sz="1800" dirty="0"/>
              <a:t> леща, пусть расскажет свой статус»</a:t>
            </a:r>
            <a:endParaRPr lang="en-US" sz="1800" dirty="0"/>
          </a:p>
          <a:p>
            <a:endParaRPr lang="en-US" dirty="0"/>
          </a:p>
        </p:txBody>
      </p:sp>
      <p:pic>
        <p:nvPicPr>
          <p:cNvPr id="12" name="Content Placeholder 4" descr="A small fish&#10;&#10;Description automatically generated">
            <a:extLst>
              <a:ext uri="{FF2B5EF4-FFF2-40B4-BE49-F238E27FC236}">
                <a16:creationId xmlns:a16="http://schemas.microsoft.com/office/drawing/2014/main" id="{AB8D11EE-FEF1-429B-AC19-6DE1EAF37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5" r="3" b="2"/>
          <a:stretch/>
        </p:blipFill>
        <p:spPr>
          <a:xfrm>
            <a:off x="4100945" y="-19256"/>
            <a:ext cx="8091055" cy="68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1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Grooming / Refinement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15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6972-E60D-455F-8EF5-7629E213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Grooming</a:t>
            </a:r>
            <a:r>
              <a:rPr lang="ru-RU" dirty="0"/>
              <a:t> (</a:t>
            </a:r>
            <a:r>
              <a:rPr lang="en-US" dirty="0"/>
              <a:t>Refinement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CCB1-EE4B-4CA5-8F2D-0CD089E7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это регулярное мероприятие, в рамках которого Product Owner совместно с командой проводят анализ и реструктуризацию бэклога. </a:t>
            </a:r>
          </a:p>
          <a:p>
            <a:pPr marL="0" indent="0">
              <a:buNone/>
            </a:pPr>
            <a:r>
              <a:rPr lang="ru-RU" dirty="0"/>
              <a:t>Цель — гарантировать, что </a:t>
            </a:r>
            <a:r>
              <a:rPr lang="ru-RU" dirty="0" err="1"/>
              <a:t>бэклог</a:t>
            </a:r>
            <a:r>
              <a:rPr lang="ru-RU" dirty="0"/>
              <a:t> заполнен самыми нужными элементами, в должной степени декомпозированными и </a:t>
            </a:r>
            <a:r>
              <a:rPr lang="ru-RU" dirty="0" err="1"/>
              <a:t>приоритизированными</a:t>
            </a:r>
            <a:r>
              <a:rPr lang="ru-RU" dirty="0"/>
              <a:t> в соответствии с текущим видением продукта. А также подготовить почву для следующего спринта: проверить, что есть все данные для работы над элементами, которые войдут в будущий спринт. </a:t>
            </a:r>
          </a:p>
        </p:txBody>
      </p:sp>
    </p:spTree>
    <p:extLst>
      <p:ext uri="{BB962C8B-B14F-4D97-AF65-F5344CB8AC3E}">
        <p14:creationId xmlns:p14="http://schemas.microsoft.com/office/powerpoint/2010/main" val="1890151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6972-E60D-455F-8EF5-7629E213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Grooming</a:t>
            </a:r>
            <a:r>
              <a:rPr lang="ru-RU" dirty="0"/>
              <a:t>: Цели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CCB1-EE4B-4CA5-8F2D-0CD089E7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Подготовить задачи в бэклоге для последующей работы с ними: декомпозировать на пользовательские истории, оценить и определить приоритет;</a:t>
            </a:r>
          </a:p>
          <a:p>
            <a:r>
              <a:rPr lang="ru-RU" dirty="0"/>
              <a:t>Уточнить актуальность задач, представленных в бэклоге с точки зрения развития продукта;</a:t>
            </a:r>
          </a:p>
          <a:p>
            <a:r>
              <a:rPr lang="ru-RU" dirty="0"/>
              <a:t>Прояснить имеющиеся вопросы, получить дополнительную необходимую информацию по задачам, которые пока непонятны и поэтому не могут быть приняты в работу.</a:t>
            </a:r>
          </a:p>
        </p:txBody>
      </p:sp>
    </p:spTree>
    <p:extLst>
      <p:ext uri="{BB962C8B-B14F-4D97-AF65-F5344CB8AC3E}">
        <p14:creationId xmlns:p14="http://schemas.microsoft.com/office/powerpoint/2010/main" val="627836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6972-E60D-455F-8EF5-7629E213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Grooming</a:t>
            </a:r>
            <a:r>
              <a:rPr lang="ru-RU" dirty="0"/>
              <a:t>: Этапы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CCB1-EE4B-4CA5-8F2D-0CD089E7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Удаление существующих задач;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Добавление новых задач;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Декомпозиция задач;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Приоритезация задач;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Оценка задач;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Применение результатов / уроков предыдущих итераций разработки.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37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7552266" cy="126420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Project Demonstration</a:t>
            </a:r>
            <a:r>
              <a:rPr lang="ru-RU" dirty="0"/>
              <a:t> /</a:t>
            </a:r>
            <a:r>
              <a:rPr lang="en-US" dirty="0"/>
              <a:t> Sprint Demo</a:t>
            </a:r>
            <a:r>
              <a:rPr lang="ru-RU" dirty="0"/>
              <a:t> /</a:t>
            </a:r>
            <a:r>
              <a:rPr lang="en-US" dirty="0"/>
              <a:t> Sprint Review</a:t>
            </a:r>
            <a:r>
              <a:rPr lang="ru-RU" dirty="0"/>
              <a:t> /</a:t>
            </a:r>
            <a:r>
              <a:rPr lang="en-US" dirty="0"/>
              <a:t> Iteration Increment Show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36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5C44-3701-4D60-84BB-1D9EEDFD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4AA94-0CDE-4454-8BE1-04427AB0E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</a:t>
            </a:r>
            <a:r>
              <a:rPr lang="en-US" dirty="0"/>
              <a:t> </a:t>
            </a:r>
            <a:r>
              <a:rPr lang="ru-RU" dirty="0"/>
              <a:t>демонстрацият инкремента продукта, созданного за последний спринт. Product Owner, менеджмент, заказчики, пользователи в свою очередь его оценивают.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93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FC63-D8EF-4137-8750-D3C4C335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r>
              <a:rPr lang="ru-RU" dirty="0"/>
              <a:t> подготовка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E07AD-4E61-45E7-9993-2198BE75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демонстрируется?</a:t>
            </a:r>
          </a:p>
          <a:p>
            <a:r>
              <a:rPr lang="ru-RU" dirty="0"/>
              <a:t>Кто демонстрирует? </a:t>
            </a:r>
          </a:p>
          <a:p>
            <a:r>
              <a:rPr lang="ru-RU" dirty="0"/>
              <a:t>Какая последовательность демонстрации?</a:t>
            </a:r>
          </a:p>
          <a:p>
            <a:r>
              <a:rPr lang="ru-RU" dirty="0"/>
              <a:t>Как подготовиться?</a:t>
            </a:r>
          </a:p>
          <a:p>
            <a:r>
              <a:rPr lang="ru-RU" dirty="0"/>
              <a:t>Как демонстрировать?</a:t>
            </a:r>
          </a:p>
          <a:p>
            <a:r>
              <a:rPr lang="ru-RU" dirty="0"/>
              <a:t>Кто отвечает на вопросы?</a:t>
            </a:r>
          </a:p>
          <a:p>
            <a:r>
              <a:rPr lang="ru-RU" dirty="0"/>
              <a:t>Что делать в случае неожиданностей?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622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r>
              <a:rPr lang="en-US" sz="4400" dirty="0"/>
              <a:t>Retrospective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648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5A46-2189-46E8-84F3-BDF31CDB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99070-0571-4013-81A1-1ACD5F6AA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это встреча, которая позволяет команде выявить собственные зоны роста, разработать изменения, организовать решение текущих проблем и предотвратить текущие трудности.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b="1" dirty="0"/>
              <a:t>Цель ретроспективы</a:t>
            </a:r>
            <a:r>
              <a:rPr lang="ru-RU" dirty="0"/>
              <a:t>: совершенствование рабочих процессов.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6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Description automatically generated">
            <a:extLst>
              <a:ext uri="{FF2B5EF4-FFF2-40B4-BE49-F238E27FC236}">
                <a16:creationId xmlns:a16="http://schemas.microsoft.com/office/drawing/2014/main" id="{2CE175E5-5EEB-44FD-8BEA-B79B0D80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1" y="1064071"/>
            <a:ext cx="10261596" cy="47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39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58D027C-46D2-45D1-90C0-67FBC300F0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2" r="4" b="34016"/>
          <a:stretch/>
        </p:blipFill>
        <p:spPr>
          <a:xfrm>
            <a:off x="1450353" y="965201"/>
            <a:ext cx="9291291" cy="4918074"/>
          </a:xfrm>
          <a:prstGeom prst="rect">
            <a:avLst/>
          </a:prstGeom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51994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579B490-52CD-4365-84B3-A1DAC4B23B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894" y="965201"/>
            <a:ext cx="8666209" cy="491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99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1956-06CF-416F-8AE8-E52C9BF1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4EB6-A69D-4FDF-9790-463E8BC29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Заполнение таблицы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Голосование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Формирование </a:t>
            </a:r>
            <a:r>
              <a:rPr lang="en-US" dirty="0"/>
              <a:t>AIs</a:t>
            </a:r>
            <a:r>
              <a:rPr lang="ru-RU" dirty="0"/>
              <a:t> и ответственных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776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7730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3966-6DEA-4DB5-9742-E0F6E29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BFE7-FE70-473C-80E0-DD9E34798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701209"/>
            <a:ext cx="10363826" cy="460301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Груминг - </a:t>
            </a:r>
            <a:r>
              <a:rPr lang="en-US" dirty="0">
                <a:hlinkClick r:id="rId2"/>
              </a:rPr>
              <a:t>https://doitsmartly.ru/all-articles/management/99-agile/118-backlog-grooming.html</a:t>
            </a:r>
            <a:endParaRPr lang="ru-RU" dirty="0"/>
          </a:p>
          <a:p>
            <a:r>
              <a:rPr lang="ru-RU" dirty="0"/>
              <a:t>Ретроспектива - </a:t>
            </a:r>
            <a:r>
              <a:rPr lang="en-US" dirty="0">
                <a:hlinkClick r:id="rId3"/>
              </a:rPr>
              <a:t>https://medium.com/@webmisha/%D0%BA%D0%B0%D0%BA-%D0%BF%D1%80%D0%BE%D0%B2%D0%B5%D1%81%D1%82%D0%B8-%D1%80%D0%B5%D1%82%D1%80%D0%BE%D1%81%D0%BF%D0%B5%D0%BA%D1%82%D0%B8%D0%B2%D1%83-93124778247</a:t>
            </a:r>
            <a:endParaRPr lang="ru-RU" dirty="0"/>
          </a:p>
          <a:p>
            <a:r>
              <a:rPr lang="ru-RU" dirty="0"/>
              <a:t>7 методик оценки задач - </a:t>
            </a:r>
            <a:r>
              <a:rPr lang="en-US" dirty="0">
                <a:hlinkClick r:id="rId4"/>
              </a:rPr>
              <a:t>https://doitsmartly.ru/all-articles/management/99-agile/115-agile-estimation-techniques.html</a:t>
            </a:r>
            <a:endParaRPr lang="en-US" dirty="0"/>
          </a:p>
          <a:p>
            <a:r>
              <a:rPr lang="en-US" dirty="0"/>
              <a:t>PERT - </a:t>
            </a:r>
            <a:r>
              <a:rPr lang="en-US" dirty="0">
                <a:hlinkClick r:id="rId5"/>
              </a:rPr>
              <a:t>https://ru.wikipedia.org/wiki/PERT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Mike Cohn</a:t>
            </a:r>
            <a:r>
              <a:rPr lang="en-US" dirty="0"/>
              <a:t>: Scrum Foundations E4: Sprint Planning - </a:t>
            </a:r>
            <a:r>
              <a:rPr lang="en-US" dirty="0">
                <a:hlinkClick r:id="rId7"/>
              </a:rPr>
              <a:t>https://www.youtube.com/watch?v=En3ifkDYgHM</a:t>
            </a:r>
            <a:endParaRPr lang="en-US" dirty="0"/>
          </a:p>
          <a:p>
            <a:r>
              <a:rPr lang="en-US" dirty="0">
                <a:hlinkClick r:id="rId6"/>
              </a:rPr>
              <a:t>Mike Cohn</a:t>
            </a:r>
            <a:r>
              <a:rPr lang="en-US" dirty="0"/>
              <a:t>: What are Story Points? - </a:t>
            </a:r>
            <a:r>
              <a:rPr lang="en-US" dirty="0">
                <a:hlinkClick r:id="rId8"/>
              </a:rPr>
              <a:t>https://www.youtube.com/watch?v=VsSaolMtkKU&amp;list=LLsCQP6eKUaKxv--2QNU8kqw&amp;index=11</a:t>
            </a:r>
            <a:endParaRPr lang="en-US" dirty="0"/>
          </a:p>
        </p:txBody>
      </p:sp>
      <p:pic>
        <p:nvPicPr>
          <p:cNvPr id="5134" name="Picture 14" descr="ÐÐ°ÑÑÐ¸Ð½ÐºÐ¸ Ð¿Ð¾ Ð·Ð°Ð¿ÑÐ¾ÑÑ draw io logo"/>
          <p:cNvPicPr>
            <a:picLocks noChangeAspect="1" noChangeArrowheads="1"/>
          </p:cNvPicPr>
          <p:nvPr/>
        </p:nvPicPr>
        <p:blipFill>
          <a:blip r:embed="rId9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923" y="10311333"/>
            <a:ext cx="272948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08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Mike Cohn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Story Points? </a:t>
            </a:r>
            <a:r>
              <a:rPr lang="en-US" dirty="0">
                <a:hlinkClick r:id="rId2"/>
              </a:rPr>
              <a:t>https://youtu.be/VsSaolMtkKU</a:t>
            </a:r>
            <a:r>
              <a:rPr lang="en-US" dirty="0"/>
              <a:t> </a:t>
            </a:r>
          </a:p>
          <a:p>
            <a:r>
              <a:rPr lang="en-US" dirty="0"/>
              <a:t>Scrum Foundations E4: Sprint Planning </a:t>
            </a:r>
            <a:r>
              <a:rPr lang="en-US" dirty="0">
                <a:hlinkClick r:id="rId3"/>
              </a:rPr>
              <a:t>https://youtu.be/En3ifkDYgHM</a:t>
            </a:r>
            <a:r>
              <a:rPr lang="en-US" dirty="0"/>
              <a:t> </a:t>
            </a:r>
          </a:p>
          <a:p>
            <a:r>
              <a:rPr lang="en-US" dirty="0"/>
              <a:t>User Stories </a:t>
            </a:r>
            <a:r>
              <a:rPr lang="en-US" dirty="0">
                <a:hlinkClick r:id="rId4"/>
              </a:rPr>
              <a:t>https://youtu.be/6q5-cVeNjCE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7646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2265</TotalTime>
  <Words>1321</Words>
  <Application>Microsoft Macintosh PowerPoint</Application>
  <PresentationFormat>Widescreen</PresentationFormat>
  <Paragraphs>161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Arial Nova</vt:lpstr>
      <vt:lpstr>Calibri</vt:lpstr>
      <vt:lpstr>Calibri Light</vt:lpstr>
      <vt:lpstr>Ретро</vt:lpstr>
      <vt:lpstr>Scrum церемонии и оценка задач</vt:lpstr>
      <vt:lpstr>Scrum церемонии и оценка задач</vt:lpstr>
      <vt:lpstr>Техники оценки задач</vt:lpstr>
      <vt:lpstr>Оценка</vt:lpstr>
      <vt:lpstr>Оценка по аналогии</vt:lpstr>
      <vt:lpstr>Оценка по частям (декомпозиция)</vt:lpstr>
      <vt:lpstr>Оценка по трем точкам (Pert)</vt:lpstr>
      <vt:lpstr>Экспертная оценка</vt:lpstr>
      <vt:lpstr>Метод Дельфи</vt:lpstr>
      <vt:lpstr>Метод набегающей волны (Rolling Wave)</vt:lpstr>
      <vt:lpstr>Оценка задач</vt:lpstr>
      <vt:lpstr>PowerPoint Presentation</vt:lpstr>
      <vt:lpstr>PowerPoint Presentation</vt:lpstr>
      <vt:lpstr>PowerPoint Presentation</vt:lpstr>
      <vt:lpstr>Числа Фибоначчи</vt:lpstr>
      <vt:lpstr>Типичные ошибки</vt:lpstr>
      <vt:lpstr>P.S.</vt:lpstr>
      <vt:lpstr>Практика</vt:lpstr>
      <vt:lpstr>Оценить задачи</vt:lpstr>
      <vt:lpstr>Planning </vt:lpstr>
      <vt:lpstr>Sprint Planning</vt:lpstr>
      <vt:lpstr>Velocity VS Capacity</vt:lpstr>
      <vt:lpstr>Planning Poker / Scrum poker</vt:lpstr>
      <vt:lpstr>Проблемы Sprint Planning</vt:lpstr>
      <vt:lpstr>Stand-up /  Daily sync-up</vt:lpstr>
      <vt:lpstr>Stand-up / Daily sync-up</vt:lpstr>
      <vt:lpstr>Stand-up / Daily sync-up: Цель</vt:lpstr>
      <vt:lpstr>Stand-up / Daily sync-up: Условия</vt:lpstr>
      <vt:lpstr>Статус?</vt:lpstr>
      <vt:lpstr>Grooming / Refinement</vt:lpstr>
      <vt:lpstr>Grooming (Refinement)</vt:lpstr>
      <vt:lpstr>Grooming: Цели</vt:lpstr>
      <vt:lpstr>Grooming: Этапы</vt:lpstr>
      <vt:lpstr>Demo</vt:lpstr>
      <vt:lpstr>Demo</vt:lpstr>
      <vt:lpstr>Demo подготовка</vt:lpstr>
      <vt:lpstr>Retrospective</vt:lpstr>
      <vt:lpstr>Retrospective</vt:lpstr>
      <vt:lpstr>PowerPoint Presentation</vt:lpstr>
      <vt:lpstr>PowerPoint Presentation</vt:lpstr>
      <vt:lpstr>PowerPoint Presentation</vt:lpstr>
      <vt:lpstr>Retrospective flow</vt:lpstr>
      <vt:lpstr>Дополнительные материалы</vt:lpstr>
      <vt:lpstr>Дополнительные материалы</vt:lpstr>
      <vt:lpstr>Mike Cohn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Коммуникация с командой и оценка задач</dc:title>
  <dc:creator>Olesia Popova</dc:creator>
  <cp:lastModifiedBy>Olesia Popova</cp:lastModifiedBy>
  <cp:revision>31</cp:revision>
  <dcterms:created xsi:type="dcterms:W3CDTF">2019-08-28T14:01:07Z</dcterms:created>
  <dcterms:modified xsi:type="dcterms:W3CDTF">2020-09-20T15:09:10Z</dcterms:modified>
</cp:coreProperties>
</file>