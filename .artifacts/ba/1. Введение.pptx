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52" r:id="rId2"/>
  </p:sldMasterIdLst>
  <p:sldIdLst>
    <p:sldId id="256" r:id="rId3"/>
    <p:sldId id="257" r:id="rId4"/>
    <p:sldId id="295" r:id="rId5"/>
    <p:sldId id="258" r:id="rId6"/>
    <p:sldId id="259" r:id="rId7"/>
    <p:sldId id="260" r:id="rId8"/>
    <p:sldId id="262" r:id="rId9"/>
    <p:sldId id="264" r:id="rId10"/>
    <p:sldId id="263" r:id="rId11"/>
    <p:sldId id="265" r:id="rId12"/>
    <p:sldId id="278" r:id="rId13"/>
    <p:sldId id="296" r:id="rId14"/>
    <p:sldId id="266" r:id="rId15"/>
    <p:sldId id="267" r:id="rId16"/>
    <p:sldId id="268" r:id="rId17"/>
    <p:sldId id="270" r:id="rId18"/>
    <p:sldId id="269" r:id="rId19"/>
    <p:sldId id="271" r:id="rId20"/>
    <p:sldId id="272" r:id="rId21"/>
    <p:sldId id="273" r:id="rId22"/>
    <p:sldId id="275" r:id="rId23"/>
    <p:sldId id="274" r:id="rId24"/>
    <p:sldId id="276" r:id="rId25"/>
    <p:sldId id="277" r:id="rId26"/>
    <p:sldId id="280" r:id="rId27"/>
    <p:sldId id="281" r:id="rId28"/>
    <p:sldId id="279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7" r:id="rId39"/>
    <p:sldId id="298" r:id="rId40"/>
    <p:sldId id="294" r:id="rId41"/>
    <p:sldId id="299" r:id="rId42"/>
    <p:sldId id="300" r:id="rId43"/>
    <p:sldId id="301" r:id="rId44"/>
    <p:sldId id="302" r:id="rId45"/>
    <p:sldId id="303" r:id="rId46"/>
    <p:sldId id="30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68" autoAdjust="0"/>
    <p:restoredTop sz="94660"/>
  </p:normalViewPr>
  <p:slideViewPr>
    <p:cSldViewPr snapToGrid="0">
      <p:cViewPr>
        <p:scale>
          <a:sx n="75" d="100"/>
          <a:sy n="75" d="100"/>
        </p:scale>
        <p:origin x="57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4334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968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28974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0467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3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7038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1867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1386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2511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19647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184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0190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862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80119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0731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2023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67203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65796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89289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63290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9481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5984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12.06.2020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321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post/297612/" TargetMode="External"/><Relationship Id="rId2" Type="http://schemas.openxmlformats.org/officeDocument/2006/relationships/hyperlink" Target="https://worksection.com/blog/agile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habr.com/ru/post/433934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dirty="0" err="1"/>
              <a:t>Введение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uk-UA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Обзор</a:t>
            </a:r>
            <a:r>
              <a:rPr lang="uk-U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сферы</a:t>
            </a:r>
            <a:r>
              <a:rPr lang="uk-U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и роли </a:t>
            </a:r>
            <a:r>
              <a:rPr lang="uk-UA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бизнес</a:t>
            </a:r>
            <a:r>
              <a:rPr lang="uk-U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аналитика</a:t>
            </a:r>
            <a:r>
              <a:rPr lang="uk-U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ней</a:t>
            </a: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 рабочего процесса в сфере ИТ: </a:t>
            </a:r>
            <a:r>
              <a:rPr lang="en-US" dirty="0"/>
              <a:t>outstaffing</a:t>
            </a:r>
            <a:r>
              <a:rPr lang="ru-RU" dirty="0"/>
              <a:t>,  </a:t>
            </a:r>
            <a:r>
              <a:rPr lang="en-US" dirty="0"/>
              <a:t>outsourcing</a:t>
            </a:r>
            <a:r>
              <a:rPr lang="ru-RU" dirty="0"/>
              <a:t>, </a:t>
            </a:r>
            <a:r>
              <a:rPr lang="en-US" dirty="0"/>
              <a:t>product company</a:t>
            </a:r>
            <a:endParaRPr lang="uk-UA" dirty="0"/>
          </a:p>
          <a:p>
            <a:r>
              <a:rPr lang="ru-RU" dirty="0"/>
              <a:t>Методологии разработки ПО: Водопадная, Гибкая (</a:t>
            </a:r>
            <a:r>
              <a:rPr lang="en-US" dirty="0"/>
              <a:t>Scrum</a:t>
            </a:r>
            <a:r>
              <a:rPr lang="ru-RU" dirty="0"/>
              <a:t>, </a:t>
            </a:r>
            <a:r>
              <a:rPr lang="en-US" dirty="0"/>
              <a:t>Kanban</a:t>
            </a:r>
            <a:r>
              <a:rPr lang="ru-RU" dirty="0"/>
              <a:t>, </a:t>
            </a:r>
            <a:r>
              <a:rPr lang="en-US" dirty="0" err="1"/>
              <a:t>SAFe</a:t>
            </a:r>
            <a:r>
              <a:rPr lang="ru-RU" dirty="0"/>
              <a:t>)</a:t>
            </a:r>
            <a:endParaRPr lang="uk-UA" dirty="0"/>
          </a:p>
          <a:p>
            <a:r>
              <a:rPr lang="ru-RU" dirty="0"/>
              <a:t>Команда разработки и роли в ней</a:t>
            </a:r>
            <a:endParaRPr lang="uk-UA" dirty="0"/>
          </a:p>
          <a:p>
            <a:r>
              <a:rPr lang="ru-RU" dirty="0"/>
              <a:t>Особенность БА в сфере ИТ: задачи, функции, особенности в разных </a:t>
            </a:r>
            <a:r>
              <a:rPr lang="ru-RU" dirty="0" smtClean="0"/>
              <a:t>методологиях</a:t>
            </a:r>
          </a:p>
          <a:p>
            <a:r>
              <a:rPr lang="ru-RU" dirty="0" smtClean="0"/>
              <a:t>Дополнительные источники</a:t>
            </a:r>
            <a:endParaRPr lang="uk-UA" dirty="0"/>
          </a:p>
          <a:p>
            <a:r>
              <a:rPr lang="ru-RU" dirty="0" smtClean="0"/>
              <a:t>Практи</a:t>
            </a:r>
            <a:r>
              <a:rPr lang="ru-RU" dirty="0" smtClean="0"/>
              <a:t>ческая часть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9048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572C8-158B-4F62-8A03-7CABEA1F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9778232" cy="2204815"/>
          </a:xfrm>
        </p:spPr>
        <p:txBody>
          <a:bodyPr>
            <a:normAutofit/>
          </a:bodyPr>
          <a:lstStyle/>
          <a:p>
            <a:pPr algn="l"/>
            <a:r>
              <a:rPr lang="ru-RU" sz="6000" dirty="0"/>
              <a:t>Особенности рабочего процесса в сфере ИТ</a:t>
            </a:r>
            <a:endParaRPr lang="en-US" sz="6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08640-24C1-415C-9665-12E1221D4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>
                <a:solidFill>
                  <a:schemeClr val="tx1">
                    <a:lumMod val="50000"/>
                    <a:lumOff val="50000"/>
                  </a:schemeClr>
                </a:solidFill>
              </a:rPr>
              <a:t>Какие рабочие отношения встречаются на рынке информационных технологий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3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Чем отличается сфера ИТ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Трудовые отношения «Заказчик-подрядчик»</a:t>
            </a:r>
          </a:p>
          <a:p>
            <a:r>
              <a:rPr lang="ru-RU" dirty="0"/>
              <a:t>Типы компаний по предоставляемым услугам: </a:t>
            </a:r>
            <a:r>
              <a:rPr lang="ru-RU" dirty="0" err="1"/>
              <a:t>аутсорсинговые</a:t>
            </a:r>
            <a:r>
              <a:rPr lang="ru-RU" dirty="0"/>
              <a:t>, </a:t>
            </a:r>
            <a:r>
              <a:rPr lang="ru-RU" dirty="0" err="1"/>
              <a:t>аутстафинговые</a:t>
            </a:r>
            <a:r>
              <a:rPr lang="ru-RU" dirty="0"/>
              <a:t>, продуктовые, мешанные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278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Аутстаффинг / </a:t>
            </a:r>
            <a:r>
              <a:rPr lang="en-US" dirty="0"/>
              <a:t>Outstaffing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— </a:t>
            </a:r>
            <a:r>
              <a:rPr lang="ru-RU" dirty="0"/>
              <a:t>это выведение персонала за штат компании. При </a:t>
            </a:r>
            <a:r>
              <a:rPr lang="ru-RU" dirty="0" err="1"/>
              <a:t>аутстаффинге</a:t>
            </a:r>
            <a:r>
              <a:rPr lang="ru-RU" dirty="0"/>
              <a:t> персонал заключает трудовые договоры не с фирмой, являющейся фактическим работодателем, а с организацией-посредником, или </a:t>
            </a:r>
            <a:r>
              <a:rPr lang="ru-RU" dirty="0" err="1"/>
              <a:t>аутстаффером</a:t>
            </a:r>
            <a:r>
              <a:rPr lang="ru-RU" dirty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085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Аутстаффинг / </a:t>
            </a:r>
            <a:r>
              <a:rPr lang="en-US" dirty="0"/>
              <a:t>Outstaffing</a:t>
            </a:r>
            <a:endParaRPr lang="uk-UA" dirty="0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Увеличение расходов, с целью уменьшения налога на прибыль;</a:t>
            </a:r>
            <a:endParaRPr lang="uk-UA" dirty="0"/>
          </a:p>
          <a:p>
            <a:pPr lvl="0"/>
            <a:r>
              <a:rPr lang="ru-RU" dirty="0"/>
              <a:t>Снижение количества штатных сотрудников и сопутствующих затрат;</a:t>
            </a:r>
          </a:p>
          <a:p>
            <a:pPr lvl="0"/>
            <a:r>
              <a:rPr lang="ru-RU" dirty="0"/>
              <a:t>Уменьшение простоя у сотрудников;</a:t>
            </a:r>
            <a:endParaRPr lang="uk-UA" dirty="0"/>
          </a:p>
          <a:p>
            <a:pPr lvl="0"/>
            <a:r>
              <a:rPr lang="ru-RU" dirty="0"/>
              <a:t>Снижение рисков, связанных с трудовыми отношениями.</a:t>
            </a:r>
            <a:endParaRPr lang="uk-UA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11" name="Объект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Усложненная модель коммуникации;</a:t>
            </a:r>
            <a:endParaRPr lang="uk-UA" dirty="0"/>
          </a:p>
          <a:p>
            <a:pPr lvl="0"/>
            <a:r>
              <a:rPr lang="ru-RU" dirty="0"/>
              <a:t>Снижение контроля и влияния на:</a:t>
            </a:r>
          </a:p>
          <a:p>
            <a:pPr lvl="1"/>
            <a:r>
              <a:rPr lang="ru-RU" dirty="0"/>
              <a:t>трудовой процесс работника;</a:t>
            </a:r>
          </a:p>
          <a:p>
            <a:pPr lvl="1"/>
            <a:r>
              <a:rPr lang="ru-RU" dirty="0"/>
              <a:t>Качество выполняемой работы</a:t>
            </a:r>
            <a:endParaRPr lang="uk-UA" dirty="0"/>
          </a:p>
          <a:p>
            <a:pPr lvl="0"/>
            <a:r>
              <a:rPr lang="ru-RU" dirty="0"/>
              <a:t>Возможность потери работника:</a:t>
            </a:r>
            <a:endParaRPr lang="uk-UA" dirty="0"/>
          </a:p>
          <a:p>
            <a:pPr lvl="1"/>
            <a:r>
              <a:rPr lang="ru-RU" dirty="0"/>
              <a:t>Неудовлетворенности работника взаимодействием с компанией-заказчиком;</a:t>
            </a:r>
            <a:endParaRPr lang="uk-UA" dirty="0"/>
          </a:p>
          <a:p>
            <a:pPr lvl="1"/>
            <a:r>
              <a:rPr lang="ru-RU" dirty="0"/>
              <a:t>Переманивание сотрудников заказчиком.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1308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Аутсорсинг</a:t>
            </a:r>
            <a:r>
              <a:rPr lang="en-US"/>
              <a:t> / O</a:t>
            </a:r>
            <a:r>
              <a:rPr lang="ru-RU"/>
              <a:t>utsourcing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– </a:t>
            </a:r>
            <a:r>
              <a:rPr lang="ru-RU" dirty="0"/>
              <a:t>передача организацией, на основании договора, определённых видов или функций производственной предпринимательской деятельности другой компании, действующей в нужной области. 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264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Аутсорсинг</a:t>
            </a:r>
            <a:r>
              <a:rPr lang="en-US" dirty="0"/>
              <a:t> / O</a:t>
            </a:r>
            <a:r>
              <a:rPr lang="ru-RU" dirty="0"/>
              <a:t>utsourcing</a:t>
            </a:r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Отсутствие</a:t>
            </a:r>
            <a:r>
              <a:rPr lang="uk-UA" dirty="0"/>
              <a:t> затрат на </a:t>
            </a:r>
            <a:r>
              <a:rPr lang="ru-RU" dirty="0"/>
              <a:t>содержание</a:t>
            </a:r>
            <a:r>
              <a:rPr lang="uk-UA" dirty="0"/>
              <a:t> </a:t>
            </a:r>
            <a:r>
              <a:rPr lang="ru-RU" dirty="0"/>
              <a:t>и обучение </a:t>
            </a:r>
            <a:r>
              <a:rPr lang="uk-UA" dirty="0" err="1"/>
              <a:t>собственной</a:t>
            </a:r>
            <a:r>
              <a:rPr lang="uk-UA" dirty="0"/>
              <a:t> </a:t>
            </a:r>
            <a:r>
              <a:rPr lang="uk-UA" dirty="0" err="1"/>
              <a:t>структуры</a:t>
            </a:r>
            <a:r>
              <a:rPr lang="uk-UA" dirty="0"/>
              <a:t>;</a:t>
            </a:r>
          </a:p>
          <a:p>
            <a:pPr lvl="0"/>
            <a:r>
              <a:rPr lang="ru-RU" dirty="0"/>
              <a:t>Высокое качество получаемых услуг;</a:t>
            </a:r>
          </a:p>
          <a:p>
            <a:pPr lvl="0"/>
            <a:r>
              <a:rPr lang="ru-RU" dirty="0"/>
              <a:t>Доступ к более высоким технологиям;</a:t>
            </a:r>
          </a:p>
          <a:p>
            <a:pPr lvl="0"/>
            <a:r>
              <a:rPr lang="ru-RU" dirty="0"/>
              <a:t>Приобретение</a:t>
            </a:r>
            <a:r>
              <a:rPr lang="uk-UA" dirty="0"/>
              <a:t> </a:t>
            </a:r>
            <a:r>
              <a:rPr lang="uk-UA" dirty="0" err="1"/>
              <a:t>готовых</a:t>
            </a:r>
            <a:r>
              <a:rPr lang="uk-UA" dirty="0"/>
              <a:t> </a:t>
            </a:r>
            <a:r>
              <a:rPr lang="uk-UA" dirty="0" err="1"/>
              <a:t>решений</a:t>
            </a:r>
            <a:r>
              <a:rPr lang="uk-UA" dirty="0"/>
              <a:t> и </a:t>
            </a:r>
            <a:r>
              <a:rPr lang="uk-UA" dirty="0" err="1"/>
              <a:t>инфраструктуры</a:t>
            </a:r>
            <a:r>
              <a:rPr lang="uk-UA" dirty="0"/>
              <a:t>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Рост расходов при излишнем аутсорсинге; </a:t>
            </a:r>
            <a:endParaRPr lang="uk-UA" dirty="0"/>
          </a:p>
          <a:p>
            <a:pPr lvl="0"/>
            <a:r>
              <a:rPr lang="ru-RU" dirty="0"/>
              <a:t>Снижение контроля над выполнением переданных на аутсорсинг процессов; </a:t>
            </a:r>
            <a:endParaRPr lang="uk-UA" dirty="0"/>
          </a:p>
          <a:p>
            <a:pPr lvl="0"/>
            <a:r>
              <a:rPr lang="ru-RU" dirty="0"/>
              <a:t>Риск </a:t>
            </a:r>
            <a:r>
              <a:rPr lang="uk-UA" dirty="0" err="1"/>
              <a:t>утечки</a:t>
            </a:r>
            <a:r>
              <a:rPr lang="uk-UA" dirty="0"/>
              <a:t> </a:t>
            </a:r>
            <a:r>
              <a:rPr lang="uk-UA" dirty="0" err="1"/>
              <a:t>конфиденциальной</a:t>
            </a:r>
            <a:r>
              <a:rPr lang="uk-UA" dirty="0"/>
              <a:t> </a:t>
            </a:r>
            <a:r>
              <a:rPr lang="uk-UA" dirty="0" err="1"/>
              <a:t>информации</a:t>
            </a:r>
            <a:r>
              <a:rPr lang="uk-UA" dirty="0"/>
              <a:t>;</a:t>
            </a:r>
          </a:p>
          <a:p>
            <a:pPr lvl="0"/>
            <a:r>
              <a:rPr lang="ru-RU" dirty="0"/>
              <a:t>Риск непонимания и конфликтов на разных уровнях взаимодействия.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0993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576560" cy="1450757"/>
          </a:xfrm>
        </p:spPr>
        <p:txBody>
          <a:bodyPr>
            <a:normAutofit/>
          </a:bodyPr>
          <a:lstStyle/>
          <a:p>
            <a:r>
              <a:rPr lang="ru-RU" sz="4400" dirty="0"/>
              <a:t>Продуктовая компания</a:t>
            </a:r>
            <a:r>
              <a:rPr lang="en-US" sz="4400" dirty="0"/>
              <a:t> / Product company</a:t>
            </a:r>
            <a:endParaRPr lang="uk-UA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 — это компания, которая работает над одним продуктом, или группой схожих продуктов. Продукт, чаще всего, является в собственности компании не менее чем на 51%. 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3497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Продуктовая компания</a:t>
            </a:r>
            <a:r>
              <a:rPr lang="en-US" sz="4400" dirty="0"/>
              <a:t> / Product company</a:t>
            </a:r>
            <a:endParaRPr lang="uk-UA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Большая прибыль удачных проектов</a:t>
            </a:r>
          </a:p>
          <a:p>
            <a:pPr lvl="0"/>
            <a:r>
              <a:rPr lang="ru-RU" dirty="0"/>
              <a:t>Корпоративная культура и команда</a:t>
            </a:r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Долгосрочная перспектива</a:t>
            </a:r>
          </a:p>
          <a:p>
            <a:pPr lvl="0"/>
            <a:r>
              <a:rPr lang="ru-RU" dirty="0"/>
              <a:t>Риск неудачи на рынке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076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6404-A57D-4789-914E-8A459BFF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Консалтинг</a:t>
            </a:r>
            <a:r>
              <a:rPr lang="en-US" dirty="0"/>
              <a:t> / Consulting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B7C5B-934E-4D60-9629-9A5E6824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– деятельность по консультированию руководителей, управленцев по широкому кругу вопросов в сфере финансовой, коммерческой, юридической, технологической, технической, экспертной деятельностей. Цель консалтинга — помочь системе управления (менеджменту) в достижении заявленных целей.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59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1616365"/>
            <a:ext cx="9464194" cy="2801812"/>
          </a:xfrm>
        </p:spPr>
        <p:txBody>
          <a:bodyPr>
            <a:normAutofit/>
          </a:bodyPr>
          <a:lstStyle/>
          <a:p>
            <a:pPr algn="l"/>
            <a:r>
              <a:rPr lang="ru-RU" sz="6000" dirty="0"/>
              <a:t>Методологии разработки программного обеспечения</a:t>
            </a:r>
            <a:endParaRPr lang="en-US" sz="6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>
                <a:solidFill>
                  <a:schemeClr val="tx1">
                    <a:lumMod val="50000"/>
                    <a:lumOff val="50000"/>
                  </a:schemeClr>
                </a:solidFill>
              </a:rPr>
              <a:t>Подходы к организации процесса разработки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52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Программное обеспечение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30000" dirty="0"/>
              <a:t> </a:t>
            </a:r>
            <a:r>
              <a:rPr lang="ru-RU" dirty="0"/>
              <a:t>(</a:t>
            </a:r>
            <a:r>
              <a:rPr lang="ru-RU" b="1" dirty="0"/>
              <a:t>ПО, англ. </a:t>
            </a:r>
            <a:r>
              <a:rPr lang="en-US" b="1" dirty="0"/>
              <a:t>Software</a:t>
            </a:r>
            <a:r>
              <a:rPr lang="ru-RU" dirty="0"/>
              <a:t>) — программа или множество программ, используемых для управления компьютером</a:t>
            </a:r>
            <a:r>
              <a:rPr lang="en-US" dirty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7620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Методологии разработки ПО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Каскадная / Водопадная модель</a:t>
            </a:r>
            <a:r>
              <a:rPr lang="ru-RU" b="1" dirty="0"/>
              <a:t> </a:t>
            </a:r>
            <a:r>
              <a:rPr lang="ru-RU" dirty="0"/>
              <a:t>/ </a:t>
            </a:r>
            <a:r>
              <a:rPr lang="ru-RU" dirty="0" err="1"/>
              <a:t>Waterfall</a:t>
            </a:r>
            <a:endParaRPr lang="ru-RU" dirty="0"/>
          </a:p>
          <a:p>
            <a:r>
              <a:rPr lang="uk-UA" dirty="0" err="1"/>
              <a:t>Спиральная</a:t>
            </a:r>
            <a:r>
              <a:rPr lang="uk-UA" dirty="0"/>
              <a:t> модель / </a:t>
            </a:r>
            <a:r>
              <a:rPr lang="en-US" dirty="0"/>
              <a:t>Spiral</a:t>
            </a:r>
            <a:endParaRPr lang="uk-UA" dirty="0"/>
          </a:p>
          <a:p>
            <a:r>
              <a:rPr lang="ru-RU" dirty="0"/>
              <a:t>Гибкая модель / </a:t>
            </a:r>
            <a:r>
              <a:rPr lang="en-US" dirty="0"/>
              <a:t>Agile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40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350982"/>
            <a:ext cx="3200400" cy="232617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3600" dirty="0" err="1"/>
              <a:t>Каскадная</a:t>
            </a:r>
            <a:r>
              <a:rPr lang="en-US" sz="3600" dirty="0"/>
              <a:t> / </a:t>
            </a:r>
            <a:r>
              <a:rPr lang="en-US" sz="3600" dirty="0" err="1"/>
              <a:t>Водопадная</a:t>
            </a:r>
            <a:r>
              <a:rPr lang="en-US" sz="3600" dirty="0"/>
              <a:t> </a:t>
            </a:r>
            <a:r>
              <a:rPr lang="en-US" sz="3600" dirty="0" err="1"/>
              <a:t>модель</a:t>
            </a:r>
            <a:r>
              <a:rPr lang="en-US" sz="3600" b="1" dirty="0"/>
              <a:t> </a:t>
            </a:r>
            <a:r>
              <a:rPr lang="en-US" sz="3600" dirty="0"/>
              <a:t>/ Waterfall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110183" y="1200727"/>
            <a:ext cx="8081817" cy="5657273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type="body" sz="half" idx="2"/>
          </p:nvPr>
        </p:nvSpPr>
        <p:spPr>
          <a:xfrm>
            <a:off x="457201" y="2880359"/>
            <a:ext cx="3200400" cy="37323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dirty="0" err="1" smtClean="0"/>
              <a:t>подразумевает</a:t>
            </a:r>
            <a:r>
              <a:rPr lang="en-US" sz="1800" dirty="0" smtClean="0"/>
              <a:t> </a:t>
            </a:r>
            <a:r>
              <a:rPr lang="en-US" sz="1800" dirty="0" err="1"/>
              <a:t>строгое</a:t>
            </a:r>
            <a:r>
              <a:rPr lang="en-US" sz="1800" dirty="0"/>
              <a:t> </a:t>
            </a:r>
            <a:r>
              <a:rPr lang="en-US" sz="1800" dirty="0" err="1"/>
              <a:t>последовательное</a:t>
            </a:r>
            <a:r>
              <a:rPr lang="en-US" sz="1800" dirty="0"/>
              <a:t> </a:t>
            </a:r>
            <a:r>
              <a:rPr lang="en-US" sz="1800" dirty="0" err="1"/>
              <a:t>выполнение</a:t>
            </a:r>
            <a:r>
              <a:rPr lang="en-US" sz="1800" dirty="0"/>
              <a:t> </a:t>
            </a:r>
            <a:r>
              <a:rPr lang="en-US" sz="1800" dirty="0" err="1"/>
              <a:t>всех</a:t>
            </a:r>
            <a:r>
              <a:rPr lang="en-US" sz="1800" dirty="0"/>
              <a:t> </a:t>
            </a:r>
            <a:r>
              <a:rPr lang="en-US" sz="1800" dirty="0" err="1"/>
              <a:t>этапов</a:t>
            </a:r>
            <a:r>
              <a:rPr lang="en-US" sz="1800" dirty="0"/>
              <a:t>, </a:t>
            </a:r>
            <a:r>
              <a:rPr lang="en-US" sz="1800" dirty="0" err="1"/>
              <a:t>каждый</a:t>
            </a:r>
            <a:r>
              <a:rPr lang="en-US" sz="1800" dirty="0"/>
              <a:t> </a:t>
            </a:r>
            <a:r>
              <a:rPr lang="en-US" sz="1800" dirty="0" err="1"/>
              <a:t>из</a:t>
            </a:r>
            <a:r>
              <a:rPr lang="en-US" sz="1800" dirty="0"/>
              <a:t> </a:t>
            </a:r>
            <a:r>
              <a:rPr lang="en-US" sz="1800" dirty="0" err="1"/>
              <a:t>которых</a:t>
            </a:r>
            <a:r>
              <a:rPr lang="en-US" sz="1800" dirty="0"/>
              <a:t> </a:t>
            </a:r>
            <a:r>
              <a:rPr lang="en-US" sz="1800" dirty="0" err="1"/>
              <a:t>должен</a:t>
            </a:r>
            <a:r>
              <a:rPr lang="en-US" sz="1800" dirty="0"/>
              <a:t> </a:t>
            </a:r>
            <a:r>
              <a:rPr lang="en-US" sz="1800" dirty="0" err="1"/>
              <a:t>завершиться</a:t>
            </a:r>
            <a:r>
              <a:rPr lang="en-US" sz="1800" dirty="0"/>
              <a:t> </a:t>
            </a:r>
            <a:r>
              <a:rPr lang="en-US" sz="1800" dirty="0" err="1"/>
              <a:t>перед</a:t>
            </a:r>
            <a:r>
              <a:rPr lang="en-US" sz="1800" dirty="0"/>
              <a:t> </a:t>
            </a:r>
            <a:r>
              <a:rPr lang="en-US" sz="1800" dirty="0" err="1"/>
              <a:t>началом</a:t>
            </a:r>
            <a:r>
              <a:rPr lang="en-US" sz="1800" dirty="0"/>
              <a:t> </a:t>
            </a:r>
            <a:r>
              <a:rPr lang="en-US" sz="1800" dirty="0" err="1"/>
              <a:t>следующего</a:t>
            </a:r>
            <a:r>
              <a:rPr lang="en-US" sz="1800" dirty="0"/>
              <a:t>: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dirty="0" err="1"/>
              <a:t>анализ</a:t>
            </a:r>
            <a:r>
              <a:rPr lang="en-US" sz="1800" dirty="0"/>
              <a:t>,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dirty="0" err="1"/>
              <a:t>проектирование</a:t>
            </a:r>
            <a:r>
              <a:rPr lang="en-US" sz="1800" dirty="0"/>
              <a:t>,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dirty="0" err="1"/>
              <a:t>реализация</a:t>
            </a:r>
            <a:r>
              <a:rPr lang="en-US" sz="1800" dirty="0"/>
              <a:t>,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dirty="0" err="1"/>
              <a:t>тестирование</a:t>
            </a:r>
            <a:r>
              <a:rPr lang="en-US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613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Каскадная / Водопадная модель</a:t>
            </a:r>
            <a:r>
              <a:rPr lang="ru-RU" b="1" dirty="0"/>
              <a:t> </a:t>
            </a:r>
            <a:r>
              <a:rPr lang="ru-RU" dirty="0"/>
              <a:t>/ </a:t>
            </a:r>
            <a:r>
              <a:rPr lang="ru-RU" dirty="0" err="1"/>
              <a:t>Waterfall</a:t>
            </a:r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Полная и согласованная документация на каждом этапе;</a:t>
            </a:r>
          </a:p>
          <a:p>
            <a:r>
              <a:rPr lang="ru-RU" dirty="0"/>
              <a:t>Простота использования;</a:t>
            </a:r>
          </a:p>
          <a:p>
            <a:r>
              <a:rPr lang="ru-RU" dirty="0"/>
              <a:t>Стабильные требования.</a:t>
            </a:r>
          </a:p>
          <a:p>
            <a:r>
              <a:rPr lang="ru-RU" dirty="0"/>
              <a:t>Бюджет и сроки заранее определены</a:t>
            </a:r>
          </a:p>
          <a:p>
            <a:r>
              <a:rPr lang="ru-RU" dirty="0"/>
              <a:t>Задачи, которые ставятся перед командой ясны и не меняются на протяжении всего проекта.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Большое количество документации;</a:t>
            </a:r>
          </a:p>
          <a:p>
            <a:r>
              <a:rPr lang="ru-RU" dirty="0"/>
              <a:t>Не очень гибкая система;</a:t>
            </a:r>
          </a:p>
          <a:p>
            <a:r>
              <a:rPr lang="ru-RU" dirty="0"/>
              <a:t>Нет возможности вернуться на шаг назад.</a:t>
            </a:r>
          </a:p>
          <a:p>
            <a:r>
              <a:rPr lang="ru-RU" dirty="0"/>
              <a:t>В большинстве случаев проблемы выявляются только на этапе тестирования.</a:t>
            </a:r>
          </a:p>
          <a:p>
            <a:r>
              <a:rPr lang="uk-UA" dirty="0"/>
              <a:t>При </a:t>
            </a:r>
            <a:r>
              <a:rPr lang="uk-UA" dirty="0" err="1"/>
              <a:t>необходимости</a:t>
            </a:r>
            <a:r>
              <a:rPr lang="uk-UA" dirty="0"/>
              <a:t> </a:t>
            </a:r>
            <a:r>
              <a:rPr lang="uk-UA" dirty="0" err="1"/>
              <a:t>изменений</a:t>
            </a:r>
            <a:r>
              <a:rPr lang="uk-UA" dirty="0"/>
              <a:t> </a:t>
            </a:r>
            <a:r>
              <a:rPr lang="uk-UA" dirty="0" err="1"/>
              <a:t>могут</a:t>
            </a:r>
            <a:r>
              <a:rPr lang="uk-UA" dirty="0"/>
              <a:t> </a:t>
            </a:r>
            <a:r>
              <a:rPr lang="uk-UA" dirty="0" err="1"/>
              <a:t>потребоваться</a:t>
            </a:r>
            <a:r>
              <a:rPr lang="uk-UA" dirty="0"/>
              <a:t> </a:t>
            </a:r>
            <a:r>
              <a:rPr lang="uk-UA" dirty="0" err="1"/>
              <a:t>дополнительные</a:t>
            </a:r>
            <a:r>
              <a:rPr lang="uk-UA" dirty="0"/>
              <a:t> </a:t>
            </a:r>
            <a:r>
              <a:rPr lang="uk-UA" dirty="0" err="1"/>
              <a:t>средства</a:t>
            </a:r>
            <a:r>
              <a:rPr lang="uk-UA" dirty="0"/>
              <a:t> и </a:t>
            </a:r>
            <a:r>
              <a:rPr lang="uk-UA" dirty="0" err="1"/>
              <a:t>время</a:t>
            </a:r>
            <a:r>
              <a:rPr lang="uk-UA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638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354213"/>
            <a:ext cx="3200400" cy="13083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 sz="3600" dirty="0" err="1"/>
              <a:t>Спиральная</a:t>
            </a:r>
            <a:r>
              <a:rPr lang="en-US" sz="3600" dirty="0"/>
              <a:t> </a:t>
            </a:r>
            <a:r>
              <a:rPr lang="en-US" sz="3600" dirty="0" err="1"/>
              <a:t>модель</a:t>
            </a:r>
            <a:r>
              <a:rPr lang="en-US" sz="3600" dirty="0"/>
              <a:t> / Spiral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764116" y="263079"/>
            <a:ext cx="7427884" cy="6397263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718163"/>
            <a:ext cx="3357418" cy="472881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Разработка</a:t>
            </a:r>
            <a:r>
              <a:rPr lang="en-US" sz="1800" dirty="0"/>
              <a:t> </a:t>
            </a:r>
            <a:r>
              <a:rPr lang="en-US" sz="1800" dirty="0" err="1"/>
              <a:t>представляется</a:t>
            </a:r>
            <a:r>
              <a:rPr lang="en-US" sz="1800" dirty="0"/>
              <a:t> в </a:t>
            </a:r>
            <a:r>
              <a:rPr lang="en-US" sz="1800" dirty="0" err="1"/>
              <a:t>виде</a:t>
            </a:r>
            <a:r>
              <a:rPr lang="en-US" sz="1800" dirty="0"/>
              <a:t> </a:t>
            </a:r>
            <a:r>
              <a:rPr lang="en-US" sz="1800" dirty="0" err="1"/>
              <a:t>спирали</a:t>
            </a:r>
            <a:r>
              <a:rPr lang="en-US" sz="1800" dirty="0"/>
              <a:t>, </a:t>
            </a:r>
            <a:r>
              <a:rPr lang="en-US" sz="1800" dirty="0" err="1"/>
              <a:t>каждый</a:t>
            </a:r>
            <a:r>
              <a:rPr lang="en-US" sz="1800" dirty="0"/>
              <a:t> </a:t>
            </a:r>
            <a:r>
              <a:rPr lang="en-US" sz="1800" dirty="0" err="1"/>
              <a:t>виток</a:t>
            </a:r>
            <a:r>
              <a:rPr lang="en-US" sz="1800" dirty="0"/>
              <a:t> </a:t>
            </a:r>
            <a:r>
              <a:rPr lang="en-US" sz="1800" dirty="0" err="1"/>
              <a:t>которой</a:t>
            </a:r>
            <a:r>
              <a:rPr lang="en-US" sz="1800" dirty="0"/>
              <a:t> – </a:t>
            </a:r>
            <a:r>
              <a:rPr lang="en-US" sz="1800" dirty="0" err="1"/>
              <a:t>итерация</a:t>
            </a:r>
            <a:r>
              <a:rPr lang="en-US" sz="1800" dirty="0"/>
              <a:t>, </a:t>
            </a:r>
            <a:r>
              <a:rPr lang="en-US" sz="1800" dirty="0" err="1"/>
              <a:t>состоящая</a:t>
            </a:r>
            <a:r>
              <a:rPr lang="en-US" sz="1800" dirty="0"/>
              <a:t> </a:t>
            </a:r>
            <a:r>
              <a:rPr lang="en-US" sz="1800" dirty="0" err="1"/>
              <a:t>из</a:t>
            </a:r>
            <a:r>
              <a:rPr lang="en-US" sz="1800" dirty="0"/>
              <a:t> </a:t>
            </a:r>
            <a:r>
              <a:rPr lang="en-US" sz="1800" dirty="0" err="1"/>
              <a:t>четырёх</a:t>
            </a:r>
            <a:r>
              <a:rPr lang="en-US" sz="1800" dirty="0"/>
              <a:t> </a:t>
            </a:r>
            <a:r>
              <a:rPr lang="en-US" sz="1800" dirty="0" err="1"/>
              <a:t>этапов</a:t>
            </a:r>
            <a:r>
              <a:rPr lang="en-US" sz="1800" dirty="0"/>
              <a:t>: </a:t>
            </a:r>
          </a:p>
          <a:p>
            <a:pPr marL="2857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планирование</a:t>
            </a:r>
            <a:r>
              <a:rPr lang="en-US" sz="1800" dirty="0"/>
              <a:t>, </a:t>
            </a:r>
          </a:p>
          <a:p>
            <a:pPr marL="2857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анализ</a:t>
            </a:r>
            <a:r>
              <a:rPr lang="en-US" sz="1800" dirty="0"/>
              <a:t> </a:t>
            </a:r>
            <a:r>
              <a:rPr lang="en-US" sz="1800" dirty="0" err="1"/>
              <a:t>рисков</a:t>
            </a:r>
            <a:r>
              <a:rPr lang="en-US" sz="1800" dirty="0"/>
              <a:t>, </a:t>
            </a:r>
          </a:p>
          <a:p>
            <a:pPr marL="2857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разработка</a:t>
            </a:r>
            <a:r>
              <a:rPr lang="en-US" sz="1800" dirty="0"/>
              <a:t>, </a:t>
            </a:r>
          </a:p>
          <a:p>
            <a:pPr marL="2857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оценивание</a:t>
            </a:r>
            <a:r>
              <a:rPr lang="en-US" sz="1800" dirty="0"/>
              <a:t>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В </a:t>
            </a:r>
            <a:r>
              <a:rPr lang="en-US" sz="1800" dirty="0" err="1"/>
              <a:t>конце</a:t>
            </a:r>
            <a:r>
              <a:rPr lang="en-US" sz="1800" dirty="0"/>
              <a:t> </a:t>
            </a:r>
            <a:r>
              <a:rPr lang="en-US" sz="1800" dirty="0" err="1"/>
              <a:t>каждой</a:t>
            </a:r>
            <a:r>
              <a:rPr lang="en-US" sz="1800" dirty="0"/>
              <a:t> </a:t>
            </a:r>
            <a:r>
              <a:rPr lang="en-US" sz="1800" dirty="0" err="1"/>
              <a:t>итерации</a:t>
            </a:r>
            <a:r>
              <a:rPr lang="en-US" sz="1800" dirty="0"/>
              <a:t> </a:t>
            </a:r>
            <a:r>
              <a:rPr lang="en-US" sz="1800" dirty="0" err="1"/>
              <a:t>решается</a:t>
            </a:r>
            <a:r>
              <a:rPr lang="en-US" sz="1800" dirty="0"/>
              <a:t>, </a:t>
            </a:r>
            <a:r>
              <a:rPr lang="en-US" sz="1800" dirty="0" err="1"/>
              <a:t>стоит</a:t>
            </a:r>
            <a:r>
              <a:rPr lang="en-US" sz="1800" dirty="0"/>
              <a:t> </a:t>
            </a:r>
            <a:r>
              <a:rPr lang="en-US" sz="1800" dirty="0" err="1"/>
              <a:t>ли</a:t>
            </a:r>
            <a:r>
              <a:rPr lang="en-US" sz="1800" dirty="0"/>
              <a:t> </a:t>
            </a:r>
            <a:r>
              <a:rPr lang="en-US" sz="1800" dirty="0" err="1"/>
              <a:t>продолжать</a:t>
            </a:r>
            <a:r>
              <a:rPr lang="en-US" sz="1800" dirty="0"/>
              <a:t> </a:t>
            </a:r>
            <a:r>
              <a:rPr lang="en-US" sz="1800" dirty="0" err="1"/>
              <a:t>проект</a:t>
            </a:r>
            <a:r>
              <a:rPr lang="en-US" sz="1800" dirty="0"/>
              <a:t>. </a:t>
            </a:r>
            <a:r>
              <a:rPr lang="en-US" sz="1800" dirty="0" err="1"/>
              <a:t>Ориентирована</a:t>
            </a:r>
            <a:r>
              <a:rPr lang="en-US" sz="1800" dirty="0"/>
              <a:t> </a:t>
            </a:r>
            <a:r>
              <a:rPr lang="en-US" sz="1800" dirty="0" err="1"/>
              <a:t>на</a:t>
            </a:r>
            <a:r>
              <a:rPr lang="en-US" sz="1800" dirty="0"/>
              <a:t> </a:t>
            </a:r>
            <a:r>
              <a:rPr lang="en-US" sz="1800" dirty="0" err="1"/>
              <a:t>проекты</a:t>
            </a:r>
            <a:r>
              <a:rPr lang="en-US" sz="1800" dirty="0"/>
              <a:t> </a:t>
            </a:r>
            <a:r>
              <a:rPr lang="en-US" sz="1800" dirty="0" err="1"/>
              <a:t>имеющие</a:t>
            </a:r>
            <a:r>
              <a:rPr lang="en-US" sz="1800" dirty="0"/>
              <a:t> </a:t>
            </a:r>
            <a:r>
              <a:rPr lang="en-US" sz="1800" dirty="0" err="1"/>
              <a:t>серьёзные</a:t>
            </a:r>
            <a:r>
              <a:rPr lang="en-US" sz="1800" dirty="0"/>
              <a:t> </a:t>
            </a:r>
            <a:r>
              <a:rPr lang="en-US" sz="1800" dirty="0" err="1"/>
              <a:t>риски</a:t>
            </a:r>
            <a:r>
              <a:rPr lang="en-US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96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Спиральная</a:t>
            </a:r>
            <a:r>
              <a:rPr lang="uk-UA" dirty="0"/>
              <a:t> модель / </a:t>
            </a:r>
            <a:r>
              <a:rPr lang="en-US" dirty="0"/>
              <a:t>Spiral</a:t>
            </a:r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улучшенный анализ рисков;</a:t>
            </a:r>
          </a:p>
          <a:p>
            <a:r>
              <a:rPr lang="ru-RU" dirty="0"/>
              <a:t>хорошая документация процесса разработки;</a:t>
            </a:r>
          </a:p>
          <a:p>
            <a:r>
              <a:rPr lang="ru-RU" dirty="0"/>
              <a:t>гибкость;</a:t>
            </a:r>
          </a:p>
          <a:p>
            <a:r>
              <a:rPr lang="ru-RU" dirty="0"/>
              <a:t>раннее создание рабочих прототипов.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Дорогая в использовании;</a:t>
            </a:r>
          </a:p>
          <a:p>
            <a:r>
              <a:rPr lang="ru-RU" dirty="0"/>
              <a:t>Зависимость от стадии анализа рисков;</a:t>
            </a:r>
          </a:p>
          <a:p>
            <a:r>
              <a:rPr lang="ru-RU" dirty="0"/>
              <a:t>Не подходит для небольших проектов.</a:t>
            </a:r>
          </a:p>
        </p:txBody>
      </p:sp>
    </p:spTree>
    <p:extLst>
      <p:ext uri="{BB962C8B-B14F-4D97-AF65-F5344CB8AC3E}">
        <p14:creationId xmlns:p14="http://schemas.microsoft.com/office/powerpoint/2010/main" val="152905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dirty="0"/>
              <a:t>Гибкая модель / </a:t>
            </a:r>
            <a:r>
              <a:rPr lang="en-US" dirty="0"/>
              <a:t>Agile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проект состоит из итераций. Каждая итерация может включать в себя этап анализа, проектирования, реализации, тестирования.</a:t>
            </a:r>
            <a:r>
              <a:rPr lang="en-US" dirty="0"/>
              <a:t> </a:t>
            </a:r>
            <a:r>
              <a:rPr lang="ru-RU" dirty="0"/>
              <a:t>Ориентирована на проекты, где требования могут меняться по ходу разработки.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2353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Гибкая модель / </a:t>
            </a:r>
            <a:r>
              <a:rPr lang="en-US" dirty="0"/>
              <a:t>Agile</a:t>
            </a:r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913774" y="2500667"/>
            <a:ext cx="5106027" cy="3835478"/>
          </a:xfrm>
        </p:spPr>
        <p:txBody>
          <a:bodyPr>
            <a:noAutofit/>
          </a:bodyPr>
          <a:lstStyle/>
          <a:p>
            <a:pPr lvl="0" fontAlgn="base"/>
            <a:r>
              <a:rPr lang="uk-UA" sz="1800" dirty="0" err="1"/>
              <a:t>Возможность</a:t>
            </a:r>
            <a:r>
              <a:rPr lang="uk-UA" sz="1800" dirty="0"/>
              <a:t> </a:t>
            </a:r>
            <a:r>
              <a:rPr lang="uk-UA" sz="1800" dirty="0" err="1"/>
              <a:t>внесения</a:t>
            </a:r>
            <a:r>
              <a:rPr lang="uk-UA" sz="1800" dirty="0"/>
              <a:t> </a:t>
            </a:r>
            <a:r>
              <a:rPr lang="uk-UA" sz="1800" dirty="0" err="1"/>
              <a:t>изменений</a:t>
            </a:r>
            <a:r>
              <a:rPr lang="uk-UA" sz="1800" dirty="0"/>
              <a:t> на </a:t>
            </a:r>
            <a:r>
              <a:rPr lang="uk-UA" sz="1800" dirty="0" err="1"/>
              <a:t>любом</a:t>
            </a:r>
            <a:r>
              <a:rPr lang="uk-UA" sz="1800" dirty="0"/>
              <a:t> </a:t>
            </a:r>
            <a:r>
              <a:rPr lang="uk-UA" sz="1800" dirty="0" err="1"/>
              <a:t>этапе</a:t>
            </a:r>
            <a:r>
              <a:rPr lang="uk-UA" sz="1800" dirty="0"/>
              <a:t> </a:t>
            </a:r>
            <a:r>
              <a:rPr lang="uk-UA" sz="1800" dirty="0" err="1"/>
              <a:t>цикла</a:t>
            </a:r>
            <a:r>
              <a:rPr lang="uk-UA" sz="1800" dirty="0"/>
              <a:t> </a:t>
            </a:r>
            <a:r>
              <a:rPr lang="uk-UA" sz="1800" dirty="0" err="1"/>
              <a:t>разработки</a:t>
            </a:r>
            <a:r>
              <a:rPr lang="uk-UA" sz="1800" dirty="0"/>
              <a:t> </a:t>
            </a:r>
            <a:r>
              <a:rPr lang="uk-UA" sz="1800" dirty="0" err="1" smtClean="0"/>
              <a:t>продукта</a:t>
            </a:r>
            <a:r>
              <a:rPr lang="uk-UA" sz="1800" dirty="0"/>
              <a:t>;</a:t>
            </a:r>
            <a:endParaRPr lang="uk-UA" sz="1800" dirty="0" smtClean="0"/>
          </a:p>
          <a:p>
            <a:pPr lvl="0" fontAlgn="base"/>
            <a:r>
              <a:rPr lang="uk-UA" sz="1800" dirty="0" err="1" smtClean="0"/>
              <a:t>Клиент</a:t>
            </a:r>
            <a:r>
              <a:rPr lang="uk-UA" sz="1800" dirty="0" smtClean="0"/>
              <a:t> </a:t>
            </a:r>
            <a:r>
              <a:rPr lang="uk-UA" sz="1800" dirty="0"/>
              <a:t>получает рабочий продукт в конце каждогой итерации;</a:t>
            </a:r>
          </a:p>
          <a:p>
            <a:pPr lvl="0" fontAlgn="base"/>
            <a:r>
              <a:rPr lang="uk-UA" sz="1800" dirty="0" err="1" smtClean="0"/>
              <a:t>Снижение</a:t>
            </a:r>
            <a:r>
              <a:rPr lang="uk-UA" sz="1800" dirty="0" smtClean="0"/>
              <a:t> </a:t>
            </a:r>
            <a:r>
              <a:rPr lang="uk-UA" sz="1800" dirty="0" err="1" smtClean="0"/>
              <a:t>рисков</a:t>
            </a:r>
            <a:r>
              <a:rPr lang="uk-UA" sz="1800" dirty="0" smtClean="0"/>
              <a:t> за </a:t>
            </a:r>
            <a:r>
              <a:rPr lang="uk-UA" sz="1800" dirty="0" err="1" smtClean="0"/>
              <a:t>счет</a:t>
            </a:r>
            <a:r>
              <a:rPr lang="uk-UA" sz="1800" dirty="0" smtClean="0"/>
              <a:t> </a:t>
            </a:r>
            <a:r>
              <a:rPr lang="uk-UA" sz="1800" dirty="0" err="1" smtClean="0"/>
              <a:t>гибкого</a:t>
            </a:r>
            <a:r>
              <a:rPr lang="uk-UA" sz="1800" dirty="0" smtClean="0"/>
              <a:t> </a:t>
            </a:r>
            <a:r>
              <a:rPr lang="uk-UA" sz="1800" dirty="0" err="1" smtClean="0"/>
              <a:t>процесса</a:t>
            </a:r>
            <a:r>
              <a:rPr lang="uk-UA" sz="1800" dirty="0" smtClean="0"/>
              <a:t> </a:t>
            </a:r>
            <a:r>
              <a:rPr lang="uk-UA" sz="1800" dirty="0" err="1"/>
              <a:t>корректировок</a:t>
            </a:r>
            <a:r>
              <a:rPr lang="uk-UA" sz="1800" dirty="0"/>
              <a:t> в </a:t>
            </a:r>
            <a:r>
              <a:rPr lang="uk-UA" sz="1800" dirty="0" err="1"/>
              <a:t>любой</a:t>
            </a:r>
            <a:r>
              <a:rPr lang="uk-UA" sz="1800" dirty="0"/>
              <a:t> </a:t>
            </a:r>
            <a:r>
              <a:rPr lang="uk-UA" sz="1800" dirty="0" err="1" smtClean="0"/>
              <a:t>итерации</a:t>
            </a:r>
            <a:r>
              <a:rPr lang="uk-UA" sz="1800" dirty="0" smtClean="0"/>
              <a:t>;</a:t>
            </a:r>
          </a:p>
          <a:p>
            <a:pPr lvl="0" fontAlgn="base"/>
            <a:r>
              <a:rPr lang="uk-UA" sz="1800" dirty="0" err="1" smtClean="0"/>
              <a:t>Высокая</a:t>
            </a:r>
            <a:r>
              <a:rPr lang="uk-UA" sz="1800" dirty="0" smtClean="0"/>
              <a:t> </a:t>
            </a:r>
            <a:r>
              <a:rPr lang="uk-UA" sz="1800" dirty="0" err="1"/>
              <a:t>степень</a:t>
            </a:r>
            <a:r>
              <a:rPr lang="uk-UA" sz="1800" dirty="0"/>
              <a:t> </a:t>
            </a:r>
            <a:r>
              <a:rPr lang="uk-UA" sz="1800" dirty="0" err="1"/>
              <a:t>вовлеченности</a:t>
            </a:r>
            <a:r>
              <a:rPr lang="uk-UA" sz="1800" dirty="0"/>
              <a:t> </a:t>
            </a:r>
            <a:r>
              <a:rPr lang="uk-UA" sz="1800" dirty="0" err="1"/>
              <a:t>всех</a:t>
            </a:r>
            <a:r>
              <a:rPr lang="uk-UA" sz="1800" dirty="0"/>
              <a:t> </a:t>
            </a:r>
            <a:r>
              <a:rPr lang="uk-UA" sz="1800" dirty="0" err="1"/>
              <a:t>членов</a:t>
            </a:r>
            <a:r>
              <a:rPr lang="uk-UA" sz="1800" dirty="0"/>
              <a:t> </a:t>
            </a:r>
            <a:r>
              <a:rPr lang="uk-UA" sz="1800" dirty="0" err="1"/>
              <a:t>команды</a:t>
            </a:r>
            <a:r>
              <a:rPr lang="uk-UA" sz="1800" dirty="0"/>
              <a:t> и </a:t>
            </a:r>
            <a:r>
              <a:rPr lang="uk-UA" sz="1800" dirty="0" err="1"/>
              <a:t>постоянное</a:t>
            </a:r>
            <a:r>
              <a:rPr lang="uk-UA" sz="1800" dirty="0"/>
              <a:t> </a:t>
            </a:r>
            <a:r>
              <a:rPr lang="uk-UA" sz="1800" dirty="0" err="1"/>
              <a:t>взаимодействие</a:t>
            </a:r>
            <a:r>
              <a:rPr lang="uk-UA" sz="1800" dirty="0"/>
              <a:t> с </a:t>
            </a:r>
            <a:r>
              <a:rPr lang="uk-UA" sz="1800" dirty="0" err="1" smtClean="0"/>
              <a:t>заказчиком</a:t>
            </a:r>
            <a:r>
              <a:rPr lang="uk-UA" sz="1800" dirty="0"/>
              <a:t>;</a:t>
            </a:r>
            <a:endParaRPr lang="uk-UA" sz="1800" dirty="0" smtClean="0"/>
          </a:p>
          <a:p>
            <a:pPr lvl="0" fontAlgn="base"/>
            <a:r>
              <a:rPr lang="uk-UA" sz="1800" dirty="0" err="1" smtClean="0"/>
              <a:t>Показателем</a:t>
            </a:r>
            <a:r>
              <a:rPr lang="uk-UA" sz="1800" dirty="0" smtClean="0"/>
              <a:t> </a:t>
            </a:r>
            <a:r>
              <a:rPr lang="uk-UA" sz="1800" dirty="0" err="1"/>
              <a:t>эффективности</a:t>
            </a:r>
            <a:r>
              <a:rPr lang="uk-UA" sz="1800" dirty="0"/>
              <a:t> </a:t>
            </a:r>
            <a:r>
              <a:rPr lang="uk-UA" sz="1800" dirty="0" err="1"/>
              <a:t>является</a:t>
            </a:r>
            <a:r>
              <a:rPr lang="uk-UA" sz="1800" dirty="0"/>
              <a:t> </a:t>
            </a:r>
            <a:r>
              <a:rPr lang="uk-UA" sz="1800" dirty="0" err="1"/>
              <a:t>рабочий</a:t>
            </a:r>
            <a:r>
              <a:rPr lang="uk-UA" sz="1800" dirty="0"/>
              <a:t> </a:t>
            </a:r>
            <a:r>
              <a:rPr lang="uk-UA" sz="1800" dirty="0" smtClean="0"/>
              <a:t>продукт</a:t>
            </a:r>
            <a:endParaRPr lang="uk-UA" sz="18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uk-UA" sz="1800" dirty="0" err="1"/>
              <a:t>Рассчитать</a:t>
            </a:r>
            <a:r>
              <a:rPr lang="uk-UA" sz="1800" dirty="0"/>
              <a:t> </a:t>
            </a:r>
            <a:r>
              <a:rPr lang="uk-UA" sz="1800" dirty="0" err="1"/>
              <a:t>конечные</a:t>
            </a:r>
            <a:r>
              <a:rPr lang="uk-UA" sz="1800" dirty="0"/>
              <a:t> </a:t>
            </a:r>
            <a:r>
              <a:rPr lang="uk-UA" sz="1800" dirty="0" err="1"/>
              <a:t>затраты</a:t>
            </a:r>
            <a:r>
              <a:rPr lang="uk-UA" sz="1800" dirty="0"/>
              <a:t> </a:t>
            </a:r>
            <a:r>
              <a:rPr lang="uk-UA" sz="1800" dirty="0" err="1"/>
              <a:t>практически</a:t>
            </a:r>
            <a:r>
              <a:rPr lang="uk-UA" sz="1800" dirty="0"/>
              <a:t> </a:t>
            </a:r>
            <a:r>
              <a:rPr lang="uk-UA" sz="1800" dirty="0" err="1"/>
              <a:t>невозможно</a:t>
            </a:r>
            <a:r>
              <a:rPr lang="uk-UA" sz="1800" dirty="0"/>
              <a:t> </a:t>
            </a:r>
            <a:endParaRPr lang="uk-UA" sz="1800" dirty="0" smtClean="0"/>
          </a:p>
          <a:p>
            <a:pPr lvl="0" fontAlgn="base"/>
            <a:r>
              <a:rPr lang="uk-UA" sz="1800" dirty="0" err="1" smtClean="0"/>
              <a:t>Agile</a:t>
            </a:r>
            <a:r>
              <a:rPr lang="uk-UA" sz="1800" dirty="0" smtClean="0"/>
              <a:t> </a:t>
            </a:r>
            <a:r>
              <a:rPr lang="uk-UA" sz="1800" dirty="0" err="1"/>
              <a:t>требует</a:t>
            </a:r>
            <a:r>
              <a:rPr lang="uk-UA" sz="1800" dirty="0"/>
              <a:t> </a:t>
            </a:r>
            <a:r>
              <a:rPr lang="uk-UA" sz="1800" dirty="0" err="1"/>
              <a:t>большой</a:t>
            </a:r>
            <a:r>
              <a:rPr lang="uk-UA" sz="1800" dirty="0"/>
              <a:t> </a:t>
            </a:r>
            <a:r>
              <a:rPr lang="uk-UA" sz="1800" dirty="0" err="1"/>
              <a:t>вовлеченности</a:t>
            </a:r>
            <a:r>
              <a:rPr lang="uk-UA" sz="1800" dirty="0"/>
              <a:t> в </a:t>
            </a:r>
            <a:r>
              <a:rPr lang="uk-UA" sz="1800" dirty="0" err="1"/>
              <a:t>процесс</a:t>
            </a:r>
            <a:r>
              <a:rPr lang="uk-UA" sz="1800" dirty="0"/>
              <a:t> и </a:t>
            </a:r>
            <a:r>
              <a:rPr lang="uk-UA" sz="1800" dirty="0" err="1"/>
              <a:t>полному</a:t>
            </a:r>
            <a:r>
              <a:rPr lang="uk-UA" sz="1800" dirty="0"/>
              <a:t> </a:t>
            </a:r>
            <a:r>
              <a:rPr lang="uk-UA" sz="1800" dirty="0" err="1"/>
              <a:t>погружению</a:t>
            </a:r>
            <a:r>
              <a:rPr lang="uk-UA" sz="1800" dirty="0"/>
              <a:t> в </a:t>
            </a:r>
            <a:r>
              <a:rPr lang="uk-UA" sz="1800" dirty="0" err="1" smtClean="0"/>
              <a:t>него</a:t>
            </a:r>
            <a:endParaRPr lang="uk-UA" sz="1800" dirty="0" smtClean="0"/>
          </a:p>
          <a:p>
            <a:pPr lvl="0" fontAlgn="base"/>
            <a:r>
              <a:rPr lang="uk-UA" sz="1800" dirty="0" err="1" smtClean="0"/>
              <a:t>Возможность</a:t>
            </a:r>
            <a:r>
              <a:rPr lang="uk-UA" sz="1800" dirty="0" smtClean="0"/>
              <a:t> </a:t>
            </a:r>
            <a:r>
              <a:rPr lang="uk-UA" sz="1800" dirty="0"/>
              <a:t>частого </a:t>
            </a:r>
            <a:r>
              <a:rPr lang="uk-UA" sz="1800" dirty="0" err="1"/>
              <a:t>внесения</a:t>
            </a:r>
            <a:r>
              <a:rPr lang="uk-UA" sz="1800" dirty="0"/>
              <a:t> правок </a:t>
            </a:r>
            <a:r>
              <a:rPr lang="uk-UA" sz="1800" dirty="0" err="1"/>
              <a:t>может</a:t>
            </a:r>
            <a:r>
              <a:rPr lang="uk-UA" sz="1800" dirty="0"/>
              <a:t> обернуться риском в </a:t>
            </a:r>
            <a:r>
              <a:rPr lang="uk-UA" sz="1800" dirty="0" err="1"/>
              <a:t>бесконечном</a:t>
            </a:r>
            <a:r>
              <a:rPr lang="uk-UA" sz="1800" dirty="0"/>
              <a:t> </a:t>
            </a:r>
            <a:r>
              <a:rPr lang="uk-UA" sz="1800" dirty="0" err="1"/>
              <a:t>совершенствовании</a:t>
            </a:r>
            <a:r>
              <a:rPr lang="uk-UA" sz="1800" dirty="0"/>
              <a:t> </a:t>
            </a:r>
            <a:r>
              <a:rPr lang="uk-UA" sz="1800" dirty="0" err="1"/>
              <a:t>проекта</a:t>
            </a:r>
            <a:r>
              <a:rPr lang="uk-UA" sz="1800" dirty="0"/>
              <a:t>.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9010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Agile-</a:t>
            </a:r>
            <a:r>
              <a:rPr lang="uk-UA" dirty="0"/>
              <a:t>манифест разработки </a:t>
            </a:r>
            <a:r>
              <a:rPr lang="ru-RU" dirty="0"/>
              <a:t>ПО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3400" b="1" dirty="0"/>
              <a:t>Люди и взаимодействие</a:t>
            </a:r>
            <a:r>
              <a:rPr lang="ru-RU" sz="3400" dirty="0"/>
              <a:t> важнее процессов и инструментов</a:t>
            </a:r>
            <a:br>
              <a:rPr lang="ru-RU" sz="3400" dirty="0"/>
            </a:br>
            <a:r>
              <a:rPr lang="ru-RU" sz="3400" b="1" dirty="0"/>
              <a:t>Работающий продукт</a:t>
            </a:r>
            <a:r>
              <a:rPr lang="ru-RU" sz="3400" dirty="0"/>
              <a:t> важнее исчерпывающей документации</a:t>
            </a:r>
            <a:br>
              <a:rPr lang="ru-RU" sz="3400" dirty="0"/>
            </a:br>
            <a:r>
              <a:rPr lang="ru-RU" sz="3400" b="1" dirty="0"/>
              <a:t>Сотрудничество с заказчиком</a:t>
            </a:r>
            <a:r>
              <a:rPr lang="ru-RU" sz="3400" dirty="0"/>
              <a:t> важнее согласования условий контракта</a:t>
            </a:r>
            <a:br>
              <a:rPr lang="ru-RU" sz="3400" dirty="0"/>
            </a:br>
            <a:r>
              <a:rPr lang="ru-RU" sz="3400" b="1" dirty="0"/>
              <a:t>Готовность к изменениям</a:t>
            </a:r>
            <a:r>
              <a:rPr lang="ru-RU" sz="3400" dirty="0"/>
              <a:t> важнее следования первоначальному плану 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  <a:p>
            <a:pPr marL="0" indent="0">
              <a:lnSpc>
                <a:spcPct val="170000"/>
              </a:lnSpc>
              <a:buNone/>
            </a:pPr>
            <a:r>
              <a:rPr lang="ru-RU" sz="2600" dirty="0"/>
              <a:t>То есть, не отрицая важности того, что справа, мы всё-таки больше ценим то, что слева.</a:t>
            </a:r>
            <a:endParaRPr lang="uk-UA" sz="2600" dirty="0"/>
          </a:p>
        </p:txBody>
      </p:sp>
    </p:spTree>
    <p:extLst>
      <p:ext uri="{BB962C8B-B14F-4D97-AF65-F5344CB8AC3E}">
        <p14:creationId xmlns:p14="http://schemas.microsoft.com/office/powerpoint/2010/main" val="106682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в гибкой методологии</a:t>
            </a:r>
            <a:endParaRPr lang="uk-U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955A31-5A7F-4CED-BACB-7BE2C62C8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Scrum ;</a:t>
            </a:r>
          </a:p>
          <a:p>
            <a:r>
              <a:rPr lang="en-US" dirty="0" err="1"/>
              <a:t>SAFe</a:t>
            </a:r>
            <a:r>
              <a:rPr lang="ru-RU" dirty="0"/>
              <a:t> (</a:t>
            </a:r>
            <a:r>
              <a:rPr lang="en-US" dirty="0"/>
              <a:t>Scaled Agile Framework</a:t>
            </a:r>
            <a:r>
              <a:rPr lang="ru-RU" dirty="0"/>
              <a:t>)</a:t>
            </a:r>
            <a:r>
              <a:rPr lang="en-US" dirty="0"/>
              <a:t>;</a:t>
            </a:r>
          </a:p>
          <a:p>
            <a:r>
              <a:rPr lang="en-US" dirty="0"/>
              <a:t>Kanban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Scrumban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XP</a:t>
            </a:r>
            <a:r>
              <a:rPr lang="ru-RU" dirty="0"/>
              <a:t> (</a:t>
            </a:r>
            <a:r>
              <a:rPr lang="en-US" dirty="0" err="1"/>
              <a:t>eXtreme</a:t>
            </a:r>
            <a:r>
              <a:rPr lang="en-US" dirty="0"/>
              <a:t> Programming</a:t>
            </a:r>
            <a:r>
              <a:rPr lang="ru-RU" dirty="0"/>
              <a:t>)</a:t>
            </a:r>
            <a:r>
              <a:rPr lang="en-US" dirty="0"/>
              <a:t>;</a:t>
            </a:r>
          </a:p>
          <a:p>
            <a:r>
              <a:rPr lang="en-US" dirty="0"/>
              <a:t>Rapid application </a:t>
            </a:r>
            <a:r>
              <a:rPr lang="en-US" dirty="0" smtClean="0"/>
              <a:t>development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5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DDEC-4BEE-49FD-B4A8-3192BF0A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Скрам / </a:t>
            </a:r>
            <a:r>
              <a:rPr lang="en-US" dirty="0"/>
              <a:t>Scrum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3D3E4D-0098-429B-BCDF-8390528D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Выберите</a:t>
            </a:r>
            <a:r>
              <a:rPr lang="en-US" dirty="0"/>
              <a:t> </a:t>
            </a:r>
            <a:r>
              <a:rPr lang="ru-RU" b="1" dirty="0"/>
              <a:t>владельца продукта</a:t>
            </a:r>
            <a:r>
              <a:rPr lang="en-US" b="1" dirty="0"/>
              <a:t> </a:t>
            </a:r>
            <a:endParaRPr lang="ru-RU" b="1" dirty="0"/>
          </a:p>
          <a:p>
            <a:pPr lvl="0"/>
            <a:r>
              <a:rPr lang="ru-RU" dirty="0"/>
              <a:t>Соберите</a:t>
            </a:r>
            <a:r>
              <a:rPr lang="en-US" dirty="0"/>
              <a:t> </a:t>
            </a:r>
            <a:r>
              <a:rPr lang="ru-RU" b="1" dirty="0"/>
              <a:t>команду</a:t>
            </a:r>
            <a:r>
              <a:rPr lang="en-US" b="1" dirty="0"/>
              <a:t> </a:t>
            </a:r>
            <a:endParaRPr lang="en-US" dirty="0"/>
          </a:p>
          <a:p>
            <a:pPr lvl="0"/>
            <a:r>
              <a:rPr lang="ru-RU" dirty="0"/>
              <a:t>Найдите</a:t>
            </a:r>
            <a:r>
              <a:rPr lang="en-US" dirty="0"/>
              <a:t> </a:t>
            </a:r>
            <a:r>
              <a:rPr lang="ru-RU" b="1" dirty="0"/>
              <a:t>скрам-мастера</a:t>
            </a:r>
            <a:r>
              <a:rPr lang="en-US" dirty="0"/>
              <a:t> </a:t>
            </a:r>
          </a:p>
          <a:p>
            <a:pPr lvl="0"/>
            <a:r>
              <a:rPr lang="ru-RU" dirty="0"/>
              <a:t>Составьте</a:t>
            </a:r>
            <a:r>
              <a:rPr lang="en-US" b="1" dirty="0"/>
              <a:t> </a:t>
            </a:r>
            <a:r>
              <a:rPr lang="ru-RU" b="1" dirty="0"/>
              <a:t>бэклог продукта</a:t>
            </a:r>
            <a:r>
              <a:rPr lang="en-US" b="1" dirty="0"/>
              <a:t> </a:t>
            </a:r>
            <a:endParaRPr lang="ru-RU" b="1" dirty="0"/>
          </a:p>
          <a:p>
            <a:pPr lvl="0"/>
            <a:r>
              <a:rPr lang="ru-RU" dirty="0"/>
              <a:t>Запланируйте</a:t>
            </a:r>
            <a:r>
              <a:rPr lang="en-US" dirty="0"/>
              <a:t> </a:t>
            </a:r>
            <a:r>
              <a:rPr lang="ru-RU" b="1" dirty="0"/>
              <a:t>спринты</a:t>
            </a:r>
            <a:r>
              <a:rPr lang="en-US" b="1" dirty="0"/>
              <a:t> </a:t>
            </a:r>
            <a:r>
              <a:rPr lang="ru-RU" dirty="0"/>
              <a:t>(итерации)</a:t>
            </a:r>
            <a:r>
              <a:rPr lang="en-US" dirty="0"/>
              <a:t> </a:t>
            </a:r>
            <a:endParaRPr lang="ru-RU" dirty="0"/>
          </a:p>
          <a:p>
            <a:pPr lvl="0"/>
            <a:r>
              <a:rPr lang="ru-RU" dirty="0"/>
              <a:t>Организовывайте</a:t>
            </a:r>
            <a:r>
              <a:rPr lang="en-US" dirty="0"/>
              <a:t> </a:t>
            </a:r>
            <a:r>
              <a:rPr lang="ru-RU" b="1" dirty="0"/>
              <a:t>ежедневные 15-минутные «мит-апы»</a:t>
            </a:r>
            <a:r>
              <a:rPr lang="en-US" dirty="0"/>
              <a:t> </a:t>
            </a:r>
            <a:endParaRPr lang="ru-RU" dirty="0"/>
          </a:p>
          <a:p>
            <a:pPr lvl="0"/>
            <a:r>
              <a:rPr lang="ru-RU" dirty="0"/>
              <a:t>Делайте</a:t>
            </a:r>
            <a:r>
              <a:rPr lang="en-US" dirty="0"/>
              <a:t> </a:t>
            </a:r>
            <a:r>
              <a:rPr lang="ru-RU" b="1" dirty="0"/>
              <a:t>обзоры рабочих частей продукта</a:t>
            </a:r>
            <a:r>
              <a:rPr lang="en-US" b="1" dirty="0"/>
              <a:t> </a:t>
            </a:r>
            <a:endParaRPr lang="ru-RU" dirty="0"/>
          </a:p>
          <a:p>
            <a:r>
              <a:rPr lang="ru-RU" dirty="0"/>
              <a:t>Проводите</a:t>
            </a:r>
            <a:r>
              <a:rPr lang="en-US" dirty="0"/>
              <a:t> </a:t>
            </a:r>
            <a:r>
              <a:rPr lang="ru-RU" b="1" dirty="0"/>
              <a:t>ретроспективу</a:t>
            </a:r>
            <a:r>
              <a:rPr lang="en-US" b="1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50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DDEC-4BEE-49FD-B4A8-3192BF0A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Скрам / </a:t>
            </a:r>
            <a:r>
              <a:rPr lang="en-US" dirty="0"/>
              <a:t>Scrum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E3CBF-0E6D-45D4-B8CA-1DFE5B215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Роли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3D3E4D-0098-429B-BCDF-8390528D25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Скрам-команда</a:t>
            </a:r>
            <a:endParaRPr lang="en-US" dirty="0"/>
          </a:p>
          <a:p>
            <a:pPr lvl="0"/>
            <a:r>
              <a:rPr lang="ru-RU" dirty="0"/>
              <a:t>Скрам-мастер</a:t>
            </a:r>
          </a:p>
          <a:p>
            <a:pPr lvl="0"/>
            <a:r>
              <a:rPr lang="ru-RU" dirty="0"/>
              <a:t>Владелец продукта / </a:t>
            </a:r>
            <a:r>
              <a:rPr lang="en-US" dirty="0"/>
              <a:t>Product Owner</a:t>
            </a:r>
          </a:p>
          <a:p>
            <a:pPr lvl="0"/>
            <a:r>
              <a:rPr lang="ru-RU" dirty="0"/>
              <a:t>Заказчик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7899FA-9744-4BF8-91DF-219F513EB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Церемонии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9889D9-F59E-488D-AF2B-CE4D2ECC81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Планирование</a:t>
            </a:r>
          </a:p>
          <a:p>
            <a:r>
              <a:rPr lang="ru-RU" dirty="0"/>
              <a:t>Ежедневные летучки</a:t>
            </a:r>
          </a:p>
          <a:p>
            <a:r>
              <a:rPr lang="ru-RU" dirty="0"/>
              <a:t>Демо</a:t>
            </a:r>
          </a:p>
          <a:p>
            <a:r>
              <a:rPr lang="ru-RU" dirty="0"/>
              <a:t>Ретроспектива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6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B44945-609A-454D-88CD-0BA6AD5E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</a:t>
            </a:r>
            <a:r>
              <a:rPr lang="ru-RU" dirty="0"/>
              <a:t>–</a:t>
            </a:r>
            <a:r>
              <a:rPr lang="en-US" dirty="0"/>
              <a:t> Scaled Agile Framework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D8830B-D23C-4A2C-A0AB-920ABF52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– это фреймворк для управления компанией в которой требуется координация работы над некоторым проектом или связанными проектами для 5 или более SCRUM командами. Т.е. это некая надстройка над SCRUM позволяющая управлять коллективами из 100 и более человек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7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B44945-609A-454D-88CD-0BA6AD5E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Канбан / </a:t>
            </a:r>
            <a:r>
              <a:rPr lang="en-US" dirty="0"/>
              <a:t>Kanban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D8830B-D23C-4A2C-A0AB-920ABF52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– конвейер задач. Имеет всего 3 правила: визуализация процесса разработки с помощью канбан-доски, ограничение на количество задач на каждом этапе, постоянное измерение производительности команды и улучшения.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7B31F6-1358-46AF-BB68-5785B8EE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Канбан доска / </a:t>
            </a:r>
            <a:r>
              <a:rPr lang="en-US"/>
              <a:t>Kanban board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EDAC108-280D-4F39-A191-D5F07597E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006" y="1855469"/>
            <a:ext cx="8088948" cy="4232847"/>
          </a:xfrm>
        </p:spPr>
      </p:pic>
    </p:spTree>
    <p:extLst>
      <p:ext uri="{BB962C8B-B14F-4D97-AF65-F5344CB8AC3E}">
        <p14:creationId xmlns:p14="http://schemas.microsoft.com/office/powerpoint/2010/main" val="113428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377B-207A-4D0A-A182-43FB79C0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Scrumban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CE432-7E53-4BE1-99FE-CEC85BDB8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– </a:t>
            </a:r>
            <a:r>
              <a:rPr lang="ru-RU" dirty="0"/>
              <a:t>является полноценным Скрамом, внутри которого применяется техника Канбана.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uk-UA" sz="1800" dirty="0"/>
              <a:t>Типичная СкрамБан команда использует полноценный Скрам и доску для визуализации своей работы с явно проставленными ограничениями на работу в прогрессе. 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87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4519-F1A4-456A-89F1-68F1018B4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Autofit/>
          </a:bodyPr>
          <a:lstStyle/>
          <a:p>
            <a:pPr algn="l"/>
            <a:r>
              <a:rPr lang="ru-RU" sz="6600" dirty="0"/>
              <a:t>Команда разработки </a:t>
            </a:r>
            <a:br>
              <a:rPr lang="ru-RU" sz="6600" dirty="0"/>
            </a:br>
            <a:r>
              <a:rPr lang="ru-RU" sz="6600" dirty="0"/>
              <a:t>и роли в ней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E43AE-AFC2-45F9-A932-FC998927C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2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B60953-BDE4-4E8B-9DE9-1EEF442B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Менеджмент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F64CA4-EF5A-41CD-ABE6-48D477EC7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Менеджер проекта </a:t>
            </a:r>
            <a:r>
              <a:rPr lang="en-US" dirty="0"/>
              <a:t>/ Project manager</a:t>
            </a:r>
            <a:endParaRPr lang="ru-RU" dirty="0"/>
          </a:p>
          <a:p>
            <a:r>
              <a:rPr lang="ru-RU" dirty="0"/>
              <a:t>Менеджер аккаунта</a:t>
            </a:r>
            <a:r>
              <a:rPr lang="en-US" dirty="0"/>
              <a:t> / Account manager</a:t>
            </a:r>
            <a:endParaRPr lang="ru-RU" dirty="0"/>
          </a:p>
          <a:p>
            <a:r>
              <a:rPr lang="ru-RU" dirty="0"/>
              <a:t>Менеджер доставки продукта</a:t>
            </a:r>
            <a:r>
              <a:rPr lang="en-US" dirty="0"/>
              <a:t> / Delivery manager</a:t>
            </a:r>
            <a:endParaRPr lang="ru-RU" dirty="0"/>
          </a:p>
          <a:p>
            <a:r>
              <a:rPr lang="ru-RU" dirty="0"/>
              <a:t>Менеджер продукта</a:t>
            </a:r>
            <a:r>
              <a:rPr lang="en-US" dirty="0"/>
              <a:t> / Product manager</a:t>
            </a:r>
          </a:p>
          <a:p>
            <a:r>
              <a:rPr lang="ru-RU" dirty="0"/>
              <a:t>Гланый технический специалист / </a:t>
            </a:r>
            <a:r>
              <a:rPr lang="en-US" dirty="0"/>
              <a:t>Tech Lead</a:t>
            </a:r>
          </a:p>
          <a:p>
            <a:r>
              <a:rPr lang="ru-RU" dirty="0"/>
              <a:t>Лидер команды / </a:t>
            </a:r>
            <a:r>
              <a:rPr lang="en-US" dirty="0"/>
              <a:t>Team Lead</a:t>
            </a:r>
          </a:p>
          <a:p>
            <a:r>
              <a:rPr lang="ru-RU" dirty="0"/>
              <a:t>Скрам</a:t>
            </a:r>
            <a:r>
              <a:rPr lang="en-US" dirty="0"/>
              <a:t>-</a:t>
            </a:r>
            <a:r>
              <a:rPr lang="ru-RU" dirty="0"/>
              <a:t>мастер </a:t>
            </a:r>
            <a:r>
              <a:rPr lang="en-US" dirty="0"/>
              <a:t>/ Scrum-master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1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AA32-76A5-42D6-B5A2-37DD2952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члены команды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0537-6700-4514-AB22-6A3B5115E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Архитектор решения / </a:t>
            </a:r>
            <a:r>
              <a:rPr lang="en-US" dirty="0"/>
              <a:t>Solution architect</a:t>
            </a:r>
          </a:p>
          <a:p>
            <a:r>
              <a:rPr lang="ru-RU" dirty="0"/>
              <a:t>Разработчик серверной части / </a:t>
            </a:r>
            <a:r>
              <a:rPr lang="en-US" dirty="0"/>
              <a:t>Back-end developer</a:t>
            </a:r>
          </a:p>
          <a:p>
            <a:r>
              <a:rPr lang="ru-RU" dirty="0"/>
              <a:t>Разработчик пользовательского интерфейса / </a:t>
            </a:r>
            <a:r>
              <a:rPr lang="en-US" dirty="0"/>
              <a:t>Front-end developer</a:t>
            </a:r>
          </a:p>
          <a:p>
            <a:r>
              <a:rPr lang="ru-RU" dirty="0"/>
              <a:t>Манульный тестировщи / </a:t>
            </a:r>
            <a:r>
              <a:rPr lang="en-US" dirty="0"/>
              <a:t>Manual quality assurance engineer</a:t>
            </a:r>
          </a:p>
          <a:p>
            <a:r>
              <a:rPr lang="ru-RU" dirty="0"/>
              <a:t>Тестировщик-автоматизатор / </a:t>
            </a:r>
            <a:r>
              <a:rPr lang="en-US" dirty="0"/>
              <a:t>Automation quality assurance engineer</a:t>
            </a:r>
          </a:p>
          <a:p>
            <a:r>
              <a:rPr lang="ru-RU" dirty="0"/>
              <a:t>Бизнес аналитик / </a:t>
            </a:r>
            <a:r>
              <a:rPr lang="en-US" dirty="0"/>
              <a:t>Business analyst</a:t>
            </a:r>
          </a:p>
          <a:p>
            <a:r>
              <a:rPr lang="ru-RU" dirty="0"/>
              <a:t>Дизайнер пользовательского опыта и интерфейса / </a:t>
            </a:r>
            <a:r>
              <a:rPr lang="en-US" dirty="0"/>
              <a:t>UI / UX designed</a:t>
            </a:r>
          </a:p>
          <a:p>
            <a:r>
              <a:rPr lang="ru-RU" dirty="0"/>
              <a:t>Инженер разработки и опреаций / </a:t>
            </a:r>
            <a:r>
              <a:rPr lang="en-US" dirty="0"/>
              <a:t>DevOps</a:t>
            </a:r>
          </a:p>
        </p:txBody>
      </p:sp>
    </p:spTree>
    <p:extLst>
      <p:ext uri="{BB962C8B-B14F-4D97-AF65-F5344CB8AC3E}">
        <p14:creationId xmlns:p14="http://schemas.microsoft.com/office/powerpoint/2010/main" val="381391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02C605-DF9A-4962-8E0B-BB5E5BF29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9094740" cy="2204815"/>
          </a:xfrm>
        </p:spPr>
        <p:txBody>
          <a:bodyPr>
            <a:normAutofit/>
          </a:bodyPr>
          <a:lstStyle/>
          <a:p>
            <a:pPr algn="l"/>
            <a:r>
              <a:rPr lang="ru-RU" sz="6000" dirty="0"/>
              <a:t>Особенность БА в сфере </a:t>
            </a:r>
            <a:r>
              <a:rPr lang="ru-RU" sz="6000" dirty="0" smtClean="0"/>
              <a:t>ИТ</a:t>
            </a:r>
            <a:endParaRPr lang="en-US" sz="60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86AC268-F81A-46DE-80D9-7A386D031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r>
              <a:rPr lang="ru-RU" dirty="0"/>
              <a:t>задачи, функции, особенности в разных методологиях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2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12C2E-2CD0-49DB-B4EF-F59630A5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Бизнес-аналитик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D0A015-7E21-4680-AD7B-7C2FAC133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широком смысле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6138FC-4A37-4A15-B89A-117A3EDF57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– специалист, использующий методы бизнес-анализа для исследования потребностей деятельности организаций с целью определения проблем бизнеса и предложения их решения.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8ADAAB-27AD-46CD-AEC3-38F118618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В сфере </a:t>
            </a:r>
            <a:r>
              <a:rPr lang="ru-RU" dirty="0"/>
              <a:t>ИТ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BAE46F-D503-4738-AA2C-237DFAE864E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– исследует проблему заказчика, ищет максимально эффективное решение и оформляет его концепцию в форме требований, на которые в дальнейшем будут ориентироваться разработчики при создании продукта. Он выступает посредником между заказчиком и командой программистов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92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D5AA5D-4E94-4C12-88E6-1EE9C80E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Обязанности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BE82D4-18D6-428A-B116-C4E654B48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Анализ бизнес-потребностей заказчика;</a:t>
            </a:r>
          </a:p>
          <a:p>
            <a:r>
              <a:rPr lang="ru-RU" dirty="0"/>
              <a:t>Составление требований к будущему продукту;</a:t>
            </a:r>
          </a:p>
          <a:p>
            <a:r>
              <a:rPr lang="ru-RU" dirty="0"/>
              <a:t>Анализ требований;</a:t>
            </a:r>
          </a:p>
          <a:p>
            <a:r>
              <a:rPr lang="ru-RU" dirty="0"/>
              <a:t>Анализ проблемных областей и предложения для улучшения;</a:t>
            </a:r>
          </a:p>
          <a:p>
            <a:r>
              <a:rPr lang="ru-RU" dirty="0"/>
              <a:t>Формализация требований;</a:t>
            </a:r>
          </a:p>
          <a:p>
            <a:r>
              <a:rPr lang="ru-RU" dirty="0"/>
              <a:t>Управление требованиями;</a:t>
            </a:r>
          </a:p>
          <a:p>
            <a:r>
              <a:rPr lang="ru-RU" dirty="0"/>
              <a:t>Трансляция требований между разработчиками и клиентом.</a:t>
            </a:r>
          </a:p>
        </p:txBody>
      </p:sp>
    </p:spTree>
    <p:extLst>
      <p:ext uri="{BB962C8B-B14F-4D97-AF65-F5344CB8AC3E}">
        <p14:creationId xmlns:p14="http://schemas.microsoft.com/office/powerpoint/2010/main" val="76780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E203-BAD0-4AA6-A1EE-64BE6235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Качества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B66B-7572-4898-8C1E-20F254E0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аналитическое мышление;</a:t>
            </a:r>
          </a:p>
          <a:p>
            <a:r>
              <a:rPr lang="ru-RU" dirty="0"/>
              <a:t>умение легко разбираться в неизвестной области;</a:t>
            </a:r>
          </a:p>
          <a:p>
            <a:r>
              <a:rPr lang="ru-RU" dirty="0"/>
              <a:t>умение принимать решения и решать проблемы;</a:t>
            </a:r>
          </a:p>
          <a:p>
            <a:r>
              <a:rPr lang="ru-RU" dirty="0"/>
              <a:t>быстрая обучаемость;</a:t>
            </a:r>
          </a:p>
          <a:p>
            <a:r>
              <a:rPr lang="ru-RU" dirty="0"/>
              <a:t>коммуникативные способности;</a:t>
            </a:r>
          </a:p>
          <a:p>
            <a:r>
              <a:rPr lang="ru-RU" dirty="0"/>
              <a:t>внимание к деталям;</a:t>
            </a:r>
          </a:p>
          <a:p>
            <a:r>
              <a:rPr lang="ru-RU" dirty="0"/>
              <a:t>умение четко и ясно формулировать мысли.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88991A-65C7-40B6-BB26-7FD3C3ED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Стандартный рабочий процесс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33A715-D6CA-4128-A6B7-BDE518BB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общение с заказчиком</a:t>
            </a:r>
          </a:p>
          <a:p>
            <a:r>
              <a:rPr lang="ru-RU" dirty="0"/>
              <a:t>общение с командой</a:t>
            </a:r>
          </a:p>
          <a:p>
            <a:r>
              <a:rPr lang="ru-RU" dirty="0"/>
              <a:t>изучение дополнительных материалов</a:t>
            </a:r>
          </a:p>
          <a:p>
            <a:r>
              <a:rPr lang="ru-RU" dirty="0"/>
              <a:t>написание документации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E911C8-EEE7-42A3-ACEE-F4D31B1D6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9842885" cy="2204815"/>
          </a:xfrm>
        </p:spPr>
        <p:txBody>
          <a:bodyPr>
            <a:normAutofit/>
          </a:bodyPr>
          <a:lstStyle/>
          <a:p>
            <a:pPr algn="l"/>
            <a:r>
              <a:rPr lang="ru-RU" sz="6000" dirty="0"/>
              <a:t>Дополнительные источники</a:t>
            </a:r>
            <a:endParaRPr lang="en-US" sz="6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1D331-D9D3-4714-9236-95E49F4B6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>
                <a:solidFill>
                  <a:schemeClr val="tx1">
                    <a:lumMod val="50000"/>
                    <a:lumOff val="50000"/>
                  </a:schemeClr>
                </a:solidFill>
              </a:rPr>
              <a:t>Базовая литература и дополнительные статьи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78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71DBF6-AD23-499D-B182-B45EABA8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C819C-0241-431B-AC70-BA12F92A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КарЛ Вигерс: Разработка требований к программному обеспечению 3-е изд. /</a:t>
            </a:r>
            <a:r>
              <a:rPr lang="en-US" dirty="0"/>
              <a:t>Karl </a:t>
            </a:r>
            <a:r>
              <a:rPr lang="en-US" dirty="0" err="1"/>
              <a:t>Wiegers</a:t>
            </a:r>
            <a:r>
              <a:rPr lang="en-US" dirty="0"/>
              <a:t>: Software Requirements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  <a:p>
            <a:r>
              <a:rPr lang="en-US" dirty="0"/>
              <a:t>IIBA: BABOK – Business Analysis Body of Knowledge v.3</a:t>
            </a:r>
          </a:p>
          <a:p>
            <a:r>
              <a:rPr lang="en-US" dirty="0"/>
              <a:t>IIBA: Agile Extension to the BABOK v.2</a:t>
            </a:r>
            <a:endParaRPr lang="ru-RU" dirty="0"/>
          </a:p>
          <a:p>
            <a:r>
              <a:rPr lang="uk-UA" dirty="0"/>
              <a:t>Методология </a:t>
            </a:r>
            <a:r>
              <a:rPr lang="en-US" dirty="0"/>
              <a:t>Agile (</a:t>
            </a:r>
            <a:r>
              <a:rPr lang="uk-UA" u="sng" dirty="0">
                <a:hlinkClick r:id="rId2"/>
              </a:rPr>
              <a:t>https://worksection.com/blog/agile.html</a:t>
            </a:r>
            <a:r>
              <a:rPr lang="en-US" dirty="0"/>
              <a:t>)</a:t>
            </a:r>
          </a:p>
          <a:p>
            <a:r>
              <a:rPr lang="ru-RU" dirty="0"/>
              <a:t>Блок-схема выбора оптимальной методологии разработки ПО</a:t>
            </a:r>
            <a:r>
              <a:rPr lang="en-US" dirty="0"/>
              <a:t> (</a:t>
            </a:r>
            <a:r>
              <a:rPr lang="uk-UA" u="sng" dirty="0">
                <a:hlinkClick r:id="rId3"/>
              </a:rPr>
              <a:t>https://habr.com/ru/post/297612/</a:t>
            </a:r>
            <a:r>
              <a:rPr lang="en-US" dirty="0"/>
              <a:t>)</a:t>
            </a:r>
          </a:p>
          <a:p>
            <a:r>
              <a:rPr lang="en-US" dirty="0" err="1"/>
              <a:t>SAFe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Scaled Agile Framework (</a:t>
            </a:r>
            <a:r>
              <a:rPr lang="uk-UA" u="sng" dirty="0">
                <a:hlinkClick r:id="rId4"/>
              </a:rPr>
              <a:t>https://habr.com/ru/post/433934/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7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A0FF66-8009-4A0B-B85D-4B9B50F36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6000" dirty="0"/>
              <a:t>Практика</a:t>
            </a:r>
            <a:endParaRPr lang="en-US" sz="6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72730-29FB-45F9-9D31-77E31F7A6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>
                <a:solidFill>
                  <a:schemeClr val="tx1">
                    <a:lumMod val="50000"/>
                    <a:lumOff val="50000"/>
                  </a:schemeClr>
                </a:solidFill>
              </a:rPr>
              <a:t>Командная работа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32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Командная работа над проектом</a:t>
            </a:r>
          </a:p>
          <a:p>
            <a:r>
              <a:rPr lang="ru-RU" dirty="0" smtClean="0"/>
              <a:t>Подготовка артефактов для финального </a:t>
            </a:r>
            <a:r>
              <a:rPr lang="ru-RU" dirty="0" err="1" smtClean="0"/>
              <a:t>демо</a:t>
            </a:r>
            <a:r>
              <a:rPr lang="ru-RU" dirty="0" smtClean="0"/>
              <a:t> в процессе выполнения задач</a:t>
            </a:r>
          </a:p>
          <a:p>
            <a:r>
              <a:rPr lang="ru-RU" dirty="0" smtClean="0"/>
              <a:t>Комментарии ваших решений приветствуются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21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Шкала оценивания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1-00, </a:t>
            </a:r>
            <a:r>
              <a:rPr lang="ru-RU" dirty="0"/>
              <a:t>где:</a:t>
            </a:r>
            <a:endParaRPr lang="en-US" dirty="0"/>
          </a:p>
          <a:p>
            <a:pPr lvl="1"/>
            <a:r>
              <a:rPr lang="ru-RU" dirty="0"/>
              <a:t>1 – ничего не сделано</a:t>
            </a:r>
            <a:endParaRPr lang="en-US" dirty="0"/>
          </a:p>
          <a:p>
            <a:pPr lvl="1"/>
            <a:r>
              <a:rPr lang="ru-RU" dirty="0" smtClean="0"/>
              <a:t>50 </a:t>
            </a:r>
            <a:r>
              <a:rPr lang="ru-RU" dirty="0"/>
              <a:t>– минимально жизнеспособное задание</a:t>
            </a:r>
            <a:endParaRPr lang="en-US" dirty="0"/>
          </a:p>
          <a:p>
            <a:pPr lvl="1"/>
            <a:r>
              <a:rPr lang="ru-RU" dirty="0" smtClean="0"/>
              <a:t>100 </a:t>
            </a:r>
            <a:r>
              <a:rPr lang="ru-RU" dirty="0"/>
              <a:t>– вы меня удивили</a:t>
            </a:r>
            <a:endParaRPr lang="en-US" dirty="0"/>
          </a:p>
          <a:p>
            <a:endParaRPr lang="ru-RU" dirty="0" smtClean="0"/>
          </a:p>
          <a:p>
            <a:r>
              <a:rPr lang="ru-RU" dirty="0"/>
              <a:t>Если вы хотите повысить вашу оценку, вы можете обраться за консультацией / отзывом по вашему заданию и внести </a:t>
            </a:r>
            <a:r>
              <a:rPr lang="ru-RU" dirty="0" smtClean="0"/>
              <a:t>правки (1 итерация).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03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Именование файла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[</a:t>
            </a:r>
            <a:r>
              <a:rPr lang="ru-RU" dirty="0"/>
              <a:t>Фамилия]-[Название артефакта]-[дата добавления: </a:t>
            </a:r>
            <a:r>
              <a:rPr lang="ru-RU" dirty="0" err="1"/>
              <a:t>дд.мм</a:t>
            </a:r>
            <a:r>
              <a:rPr lang="ru-RU" dirty="0"/>
              <a:t>]-[</a:t>
            </a:r>
            <a:r>
              <a:rPr lang="ru-RU" dirty="0" err="1"/>
              <a:t>edited</a:t>
            </a:r>
            <a:r>
              <a:rPr lang="ru-RU" dirty="0"/>
              <a:t>(если файл с правками)]</a:t>
            </a:r>
            <a:endParaRPr lang="en-US" dirty="0"/>
          </a:p>
          <a:p>
            <a:pPr lvl="1"/>
            <a:r>
              <a:rPr lang="ru-RU" dirty="0"/>
              <a:t>Пример:</a:t>
            </a:r>
            <a:endParaRPr lang="en-US" dirty="0"/>
          </a:p>
          <a:p>
            <a:pPr lvl="1"/>
            <a:r>
              <a:rPr lang="ru-RU" dirty="0"/>
              <a:t>Изначальный файл: Иванов-RACI-15.06.dox</a:t>
            </a:r>
            <a:endParaRPr lang="en-US" dirty="0"/>
          </a:p>
          <a:p>
            <a:pPr lvl="1"/>
            <a:r>
              <a:rPr lang="ru-RU" dirty="0"/>
              <a:t>Вторая версия со внесенными изменениями: Иванов-RACI-17.06-edited.dox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84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Работа над </a:t>
            </a:r>
            <a:r>
              <a:rPr lang="ru-RU" dirty="0" smtClean="0"/>
              <a:t>проектом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Вы </a:t>
            </a:r>
            <a:r>
              <a:rPr lang="ru-RU" dirty="0"/>
              <a:t>получите краткую вводную информацию о вашем проекте и его участниках, на основе данной информации вы будете выполнять ваши задания, связанные с проектом.</a:t>
            </a:r>
            <a:endParaRPr lang="en-US" dirty="0"/>
          </a:p>
          <a:p>
            <a:r>
              <a:rPr lang="ru-RU" dirty="0"/>
              <a:t>Вводной информации будет недостаточно для полноценной работы с проектом, поэтому я ожидаю, что вы будете активно выявлять требования.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429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Демо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Финальное занятие – презентация вашего проекта (</a:t>
            </a:r>
            <a:r>
              <a:rPr lang="ru-RU" dirty="0" err="1"/>
              <a:t>Демо</a:t>
            </a:r>
            <a:r>
              <a:rPr lang="ru-RU" dirty="0"/>
              <a:t>). Далее описаны требования к презентации, все артефакты, указанные ниже, будут изучаться в ходе лекций. </a:t>
            </a:r>
            <a:endParaRPr lang="en-US" dirty="0"/>
          </a:p>
          <a:p>
            <a:r>
              <a:rPr lang="ru-RU" dirty="0"/>
              <a:t>ДЕМО</a:t>
            </a:r>
            <a:r>
              <a:rPr lang="ru-RU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/>
              <a:t>Описание </a:t>
            </a:r>
            <a:r>
              <a:rPr lang="ru-RU" dirty="0"/>
              <a:t>проекта (в чем его суть, какие проблемы он </a:t>
            </a:r>
            <a:r>
              <a:rPr lang="ru-RU" dirty="0" smtClean="0"/>
              <a:t>решает)</a:t>
            </a:r>
            <a:r>
              <a:rPr lang="en-US" dirty="0" smtClean="0"/>
              <a:t>;</a:t>
            </a:r>
            <a:endParaRPr lang="ru-RU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/>
              <a:t>Краткое </a:t>
            </a:r>
            <a:r>
              <a:rPr lang="ru-RU" dirty="0"/>
              <a:t>описание заказчика (кто, откуда, какова его роль относительно проекта, в чем его интерес, есть ли другие заинтересованные лица, какие </a:t>
            </a:r>
            <a:r>
              <a:rPr lang="ru-RU" dirty="0" smtClean="0"/>
              <a:t>именно)</a:t>
            </a:r>
            <a:r>
              <a:rPr lang="en-US" dirty="0" smtClean="0"/>
              <a:t>;</a:t>
            </a:r>
            <a:endParaRPr lang="ru-RU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/>
              <a:t>Демонстрация </a:t>
            </a:r>
            <a:r>
              <a:rPr lang="ru-RU" dirty="0" err="1"/>
              <a:t>Features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 и рассказ об основных функциях, которые выполняют пользователи на вашем </a:t>
            </a:r>
            <a:r>
              <a:rPr lang="ru-RU" dirty="0" smtClean="0"/>
              <a:t>сайте/приложении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51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ыборы не нужны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853" y="0"/>
            <a:ext cx="9610258" cy="632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07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Аспект</Template>
  <TotalTime>68</TotalTime>
  <Words>1379</Words>
  <Application>Microsoft Office PowerPoint</Application>
  <PresentationFormat>Широкоэкранный</PresentationFormat>
  <Paragraphs>231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Wingdings 2</vt:lpstr>
      <vt:lpstr>HDOfficeLightV0</vt:lpstr>
      <vt:lpstr>Ретро</vt:lpstr>
      <vt:lpstr>Введение</vt:lpstr>
      <vt:lpstr>Введение</vt:lpstr>
      <vt:lpstr>Особенности рабочего процесса в сфере ИТ</vt:lpstr>
      <vt:lpstr>Чем отличается сфера ИТ</vt:lpstr>
      <vt:lpstr>Аутстаффинг / Outstaffing</vt:lpstr>
      <vt:lpstr>Аутстаффинг / Outstaffing</vt:lpstr>
      <vt:lpstr>Аутсорсинг / Outsourcing</vt:lpstr>
      <vt:lpstr>Аутсорсинг / Outsourcing</vt:lpstr>
      <vt:lpstr>Продуктовая компания / Product company</vt:lpstr>
      <vt:lpstr>Продуктовая компания / Product company</vt:lpstr>
      <vt:lpstr>Консалтинг / Consulting</vt:lpstr>
      <vt:lpstr>Методологии разработки программного обеспечения</vt:lpstr>
      <vt:lpstr>Программное обеспечение</vt:lpstr>
      <vt:lpstr>Методологии разработки ПО</vt:lpstr>
      <vt:lpstr>Каскадная / Водопадная модель / Waterfall</vt:lpstr>
      <vt:lpstr>Каскадная / Водопадная модель / Waterfall</vt:lpstr>
      <vt:lpstr>Спиральная модель / Spiral</vt:lpstr>
      <vt:lpstr>Спиральная модель / Spiral</vt:lpstr>
      <vt:lpstr>Гибкая модель / Agile</vt:lpstr>
      <vt:lpstr>Гибкая модель / Agile</vt:lpstr>
      <vt:lpstr>Agile-манифест разработки ПО</vt:lpstr>
      <vt:lpstr>Подходы в гибкой методологии</vt:lpstr>
      <vt:lpstr>Скрам / Scrum</vt:lpstr>
      <vt:lpstr>Скрам / Scrum</vt:lpstr>
      <vt:lpstr>SAFe – Scaled Agile Framework</vt:lpstr>
      <vt:lpstr>Канбан / Kanban</vt:lpstr>
      <vt:lpstr>Канбан доска / Kanban board</vt:lpstr>
      <vt:lpstr>Scrumban</vt:lpstr>
      <vt:lpstr>Команда разработки  и роли в ней</vt:lpstr>
      <vt:lpstr>Менеджмент</vt:lpstr>
      <vt:lpstr>Другие члены команды</vt:lpstr>
      <vt:lpstr>Особенность БА в сфере ИТ</vt:lpstr>
      <vt:lpstr>Бизнес-аналитик</vt:lpstr>
      <vt:lpstr>Обязанности</vt:lpstr>
      <vt:lpstr>Качества</vt:lpstr>
      <vt:lpstr>Стандартный рабочий процесс</vt:lpstr>
      <vt:lpstr>Дополнительные источники</vt:lpstr>
      <vt:lpstr>Презентация PowerPoint</vt:lpstr>
      <vt:lpstr>Практика</vt:lpstr>
      <vt:lpstr>Задания</vt:lpstr>
      <vt:lpstr>Шкала оценивания</vt:lpstr>
      <vt:lpstr>Именование файла</vt:lpstr>
      <vt:lpstr>Работа над проектом</vt:lpstr>
      <vt:lpstr>Демо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</dc:title>
  <dc:creator>Olesia Korobko</dc:creator>
  <cp:lastModifiedBy>Alesia</cp:lastModifiedBy>
  <cp:revision>11</cp:revision>
  <dcterms:created xsi:type="dcterms:W3CDTF">2019-07-08T17:35:39Z</dcterms:created>
  <dcterms:modified xsi:type="dcterms:W3CDTF">2020-06-12T13:29:26Z</dcterms:modified>
</cp:coreProperties>
</file>